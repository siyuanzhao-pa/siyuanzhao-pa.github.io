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7" r:id="rId3"/>
    <p:sldId id="268" r:id="rId4"/>
    <p:sldId id="257" r:id="rId5"/>
    <p:sldId id="269" r:id="rId6"/>
    <p:sldId id="270" r:id="rId7"/>
    <p:sldId id="271"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8"/>
    <p:restoredTop sz="90449"/>
  </p:normalViewPr>
  <p:slideViewPr>
    <p:cSldViewPr snapToGrid="0">
      <p:cViewPr varScale="1">
        <p:scale>
          <a:sx n="123" d="100"/>
          <a:sy n="123" d="100"/>
        </p:scale>
        <p:origin x="7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FC2761-774B-F042-9BD3-0C52A688F4FB}" type="datetimeFigureOut">
              <a:rPr kumimoji="1" lang="zh-CN" altLang="en-US" smtClean="0"/>
              <a:t>2025/9/5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092E27-0BA6-464B-8F92-818B943024AB}" type="slidenum">
              <a:rPr kumimoji="1" lang="zh-CN" altLang="en-US" smtClean="0"/>
              <a:t>‹#›</a:t>
            </a:fld>
            <a:endParaRPr kumimoji="1" lang="zh-CN" altLang="en-US"/>
          </a:p>
        </p:txBody>
      </p:sp>
    </p:spTree>
    <p:extLst>
      <p:ext uri="{BB962C8B-B14F-4D97-AF65-F5344CB8AC3E}">
        <p14:creationId xmlns:p14="http://schemas.microsoft.com/office/powerpoint/2010/main" val="59391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Today we re going to talk about</a:t>
            </a:r>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1</a:t>
            </a:fld>
            <a:endParaRPr kumimoji="1" lang="zh-CN" altLang="en-US"/>
          </a:p>
        </p:txBody>
      </p:sp>
    </p:spTree>
    <p:extLst>
      <p:ext uri="{BB962C8B-B14F-4D97-AF65-F5344CB8AC3E}">
        <p14:creationId xmlns:p14="http://schemas.microsoft.com/office/powerpoint/2010/main" val="970865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So that we can easily get your point</a:t>
            </a:r>
          </a:p>
          <a:p>
            <a:endParaRPr kumimoji="1" lang="en-US" altLang="zh-CN" dirty="0"/>
          </a:p>
          <a:p>
            <a:r>
              <a:rPr kumimoji="1" lang="en-US" altLang="zh-CN" dirty="0"/>
              <a:t>You can also act like this: review &amp; introduction, raising questions, leaving time for discussion, leading the session of challenges &amp; answers</a:t>
            </a:r>
          </a:p>
          <a:p>
            <a:r>
              <a:rPr kumimoji="1" lang="en-US" altLang="zh-CN" dirty="0"/>
              <a:t>You can summarize the textbook, if you find it useful</a:t>
            </a:r>
          </a:p>
          <a:p>
            <a:endParaRPr kumimoji="1" lang="en-US" altLang="zh-CN" dirty="0"/>
          </a:p>
          <a:p>
            <a:r>
              <a:rPr kumimoji="1" lang="en-US" altLang="zh-CN" dirty="0"/>
              <a:t>G-&gt;S,  S-&gt;G</a:t>
            </a:r>
          </a:p>
          <a:p>
            <a:endParaRPr kumimoji="1" lang="en-US" altLang="zh-CN" dirty="0"/>
          </a:p>
          <a:p>
            <a:r>
              <a:rPr kumimoji="1" lang="en-US" altLang="zh-CN" dirty="0"/>
              <a:t>So if you remember we sent out some pieces of cards last week, please take it to each class, and use it as your name tag!</a:t>
            </a:r>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2</a:t>
            </a:fld>
            <a:endParaRPr kumimoji="1" lang="zh-CN" altLang="en-US"/>
          </a:p>
        </p:txBody>
      </p:sp>
    </p:spTree>
    <p:extLst>
      <p:ext uri="{BB962C8B-B14F-4D97-AF65-F5344CB8AC3E}">
        <p14:creationId xmlns:p14="http://schemas.microsoft.com/office/powerpoint/2010/main" val="3986311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Traditional / modern; after world war II, </a:t>
            </a:r>
            <a:r>
              <a:rPr lang="en-US" altLang="zh-CN" b="1" dirty="0"/>
              <a:t>The devastation of the war, </a:t>
            </a:r>
            <a:r>
              <a:rPr lang="en-US" altLang="zh-CN" dirty="0"/>
              <a:t>combined with the experiences of economic depression in the 1930s, convinced many governments and citizens that a more just and inclusive social order was necessary to ensure </a:t>
            </a:r>
            <a:r>
              <a:rPr lang="en-US" altLang="zh-CN" b="1" dirty="0"/>
              <a:t>stability and prosperity</a:t>
            </a:r>
            <a:r>
              <a:rPr lang="en-US" altLang="zh-CN" dirty="0"/>
              <a:t>.</a:t>
            </a:r>
          </a:p>
          <a:p>
            <a:endParaRPr kumimoji="1" lang="en-US" altLang="zh-CN" dirty="0"/>
          </a:p>
          <a:p>
            <a:r>
              <a:rPr kumimoji="1" lang="en-US" altLang="zh-CN" dirty="0"/>
              <a:t>When</a:t>
            </a:r>
            <a:r>
              <a:rPr kumimoji="1" lang="zh-CN" altLang="en-US" dirty="0"/>
              <a:t> </a:t>
            </a:r>
            <a:r>
              <a:rPr kumimoji="1" lang="en-US" altLang="zh-CN" dirty="0"/>
              <a:t>presenting your ideas, speak loud and slowly, if you like, and </a:t>
            </a:r>
            <a:r>
              <a:rPr kumimoji="1" lang="en-US" altLang="zh-CN" b="1" dirty="0"/>
              <a:t>try not to lower your voice at the end of a sentence</a:t>
            </a:r>
            <a:r>
              <a:rPr kumimoji="1" lang="en-US" altLang="zh-CN" dirty="0"/>
              <a:t>, since it will be more convenient for me to get your points.</a:t>
            </a:r>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3</a:t>
            </a:fld>
            <a:endParaRPr kumimoji="1" lang="zh-CN" altLang="en-US"/>
          </a:p>
        </p:txBody>
      </p:sp>
    </p:spTree>
    <p:extLst>
      <p:ext uri="{BB962C8B-B14F-4D97-AF65-F5344CB8AC3E}">
        <p14:creationId xmlns:p14="http://schemas.microsoft.com/office/powerpoint/2010/main" val="2320871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John Stuart Mill, On liberty</a:t>
            </a:r>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4</a:t>
            </a:fld>
            <a:endParaRPr kumimoji="1" lang="zh-CN" altLang="en-US"/>
          </a:p>
        </p:txBody>
      </p:sp>
    </p:spTree>
    <p:extLst>
      <p:ext uri="{BB962C8B-B14F-4D97-AF65-F5344CB8AC3E}">
        <p14:creationId xmlns:p14="http://schemas.microsoft.com/office/powerpoint/2010/main" val="251675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画图，四象限</a:t>
            </a:r>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5</a:t>
            </a:fld>
            <a:endParaRPr kumimoji="1" lang="zh-CN" altLang="en-US"/>
          </a:p>
        </p:txBody>
      </p:sp>
    </p:spTree>
    <p:extLst>
      <p:ext uri="{BB962C8B-B14F-4D97-AF65-F5344CB8AC3E}">
        <p14:creationId xmlns:p14="http://schemas.microsoft.com/office/powerpoint/2010/main" val="3060258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No clear standards for the achievement of substantive democracy</a:t>
            </a:r>
          </a:p>
          <a:p>
            <a:endParaRPr kumimoji="1" lang="en-US" altLang="zh-CN" dirty="0"/>
          </a:p>
          <a:p>
            <a:r>
              <a:rPr kumimoji="1" lang="zh-CN" altLang="en-US" dirty="0"/>
              <a:t>这页可以用作最后的</a:t>
            </a:r>
            <a:r>
              <a:rPr kumimoji="1" lang="en-US" altLang="zh-CN"/>
              <a:t>ITA</a:t>
            </a:r>
            <a:r>
              <a:rPr kumimoji="1" lang="zh-CN" altLang="en-US"/>
              <a:t>考试！</a:t>
            </a:r>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6</a:t>
            </a:fld>
            <a:endParaRPr kumimoji="1" lang="zh-CN" altLang="en-US"/>
          </a:p>
        </p:txBody>
      </p:sp>
    </p:spTree>
    <p:extLst>
      <p:ext uri="{BB962C8B-B14F-4D97-AF65-F5344CB8AC3E}">
        <p14:creationId xmlns:p14="http://schemas.microsoft.com/office/powerpoint/2010/main" val="2031433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Which side/argument is more convincing / persuasive?</a:t>
            </a:r>
          </a:p>
          <a:p>
            <a:r>
              <a:rPr lang="en-US" altLang="zh-CN" dirty="0"/>
              <a:t>Communication, decision-making, monitoring, and enforcing agreements among members</a:t>
            </a:r>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7</a:t>
            </a:fld>
            <a:endParaRPr kumimoji="1" lang="zh-CN" altLang="en-US"/>
          </a:p>
        </p:txBody>
      </p:sp>
    </p:spTree>
    <p:extLst>
      <p:ext uri="{BB962C8B-B14F-4D97-AF65-F5344CB8AC3E}">
        <p14:creationId xmlns:p14="http://schemas.microsoft.com/office/powerpoint/2010/main" val="3355179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E9CAC4-5603-9540-4746-DF7D478F111C}"/>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B3E1C22-AA04-379D-70C6-A670FBE5C3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442DF2C8-367E-2D45-DF75-FE56AEE427B5}"/>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96EAD1C0-22F7-2B75-E5B6-416C33DEB9B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00D5D4F-5543-EF94-7D9E-26E2EB42014E}"/>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254588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83152-C981-6237-7465-0F9D4C52A92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2E0A163B-9301-5E7F-A6C9-6D50534B07CE}"/>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07EFE64-6FB4-1927-0FA3-40A1ED4055FA}"/>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B2C80ED6-E235-BE41-6C84-57A9517261C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1D644E8-37BB-F946-0182-7EFE141D75BF}"/>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18791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850F04-C3CD-2F64-01B3-3226F98B90C2}"/>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D1D39D8-BB09-E9E1-AE46-BD0402C3C7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B97D90E-E49A-C653-33E4-3399376B1FD5}"/>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82CBD9D7-4579-F439-2979-C756072B3C2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217746B-C90D-95F8-97AA-3FFEA76812E3}"/>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307041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304D9-3BF5-05E6-96B1-4655A1D5D0B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2D08483-110C-D43D-A3FD-2BB20209E417}"/>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A4C839D-DA8C-28CB-E5BA-B4723E5B08B8}"/>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DFE45B9-76B7-AB04-8094-C8CE369E1FC5}"/>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6" name="页脚占位符 5">
            <a:extLst>
              <a:ext uri="{FF2B5EF4-FFF2-40B4-BE49-F238E27FC236}">
                <a16:creationId xmlns:a16="http://schemas.microsoft.com/office/drawing/2014/main" id="{D4AE34B5-B673-FBFE-4EFF-91DAE128E81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F9DB086-FF5A-FE0C-D4BB-2ED5948A4B9D}"/>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594046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83DD5-6BE7-B60B-3830-1C91637238F3}"/>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58B3FFE-61EA-239B-F19E-01B3295484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A309DF50-77E9-6A8A-B7FD-52C3A0A2AA2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0CBEA94-5C16-949F-958E-F32A629BA2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E3CCEDE-D71C-351E-8E59-1DC6C8EEE59F}"/>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6AD051A4-8FC0-4958-27ED-3FD5D613C09D}"/>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8" name="页脚占位符 7">
            <a:extLst>
              <a:ext uri="{FF2B5EF4-FFF2-40B4-BE49-F238E27FC236}">
                <a16:creationId xmlns:a16="http://schemas.microsoft.com/office/drawing/2014/main" id="{8CB8DCF7-45C3-EA2A-1701-202A609F6A3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4C826FD-6CBB-9310-BCE6-0AFD91F0D78C}"/>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294661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7DEE7-0D18-A3AB-6312-227BEE98C67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8787988-EB72-BBF2-97A0-18FCAEDE436C}"/>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4" name="页脚占位符 3">
            <a:extLst>
              <a:ext uri="{FF2B5EF4-FFF2-40B4-BE49-F238E27FC236}">
                <a16:creationId xmlns:a16="http://schemas.microsoft.com/office/drawing/2014/main" id="{F71DEEEE-9CED-3233-301C-D61D4952DE6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1FAB2A8-6D82-8150-1ACA-546DA505F5D0}"/>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395394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45F89BB-2D98-C933-488B-E600CB0651F0}"/>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3" name="页脚占位符 2">
            <a:extLst>
              <a:ext uri="{FF2B5EF4-FFF2-40B4-BE49-F238E27FC236}">
                <a16:creationId xmlns:a16="http://schemas.microsoft.com/office/drawing/2014/main" id="{427A268E-C4F6-B77D-1351-5DE83C0A386A}"/>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EF8E4A0-1ACD-7A8E-7C68-98F88D65DBE2}"/>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483184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FC987B-49C3-BFCA-7CA6-9ADDA1558D3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0330DC1-52A9-D64F-9566-03B17EB210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77648F5-B097-B233-8517-D224C24051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DE39B80-C04B-2C82-D564-BE82DA1191AE}"/>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6" name="页脚占位符 5">
            <a:extLst>
              <a:ext uri="{FF2B5EF4-FFF2-40B4-BE49-F238E27FC236}">
                <a16:creationId xmlns:a16="http://schemas.microsoft.com/office/drawing/2014/main" id="{DAE4910C-3003-45C9-57B8-FCF2A71F597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B572AEE-EF5E-7D71-EEBA-B8379AA66BFA}"/>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051915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1A6230-C7A5-86BA-5615-904D96A6BC1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C8371D64-943D-9794-C679-047246E73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4449E2F-39C8-500F-46E0-0C78B0397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3EA0B88-6CC1-DD08-915A-A518D5E2FECC}"/>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6" name="页脚占位符 5">
            <a:extLst>
              <a:ext uri="{FF2B5EF4-FFF2-40B4-BE49-F238E27FC236}">
                <a16:creationId xmlns:a16="http://schemas.microsoft.com/office/drawing/2014/main" id="{E51EC198-B676-0D20-89AE-543DC463373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BC72265-ADC9-100E-D5B9-3493AC71CEBB}"/>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665346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269B29-53BC-8508-9E8C-83082E837C4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6C1E39E-2C6E-E37C-2D42-EA3A825182C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B32F3AD-94BB-4CB2-C858-7F07E36DE0C5}"/>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45B73678-DBC5-35FE-7720-4954170E715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C3E6E86-AEF4-9E51-11FF-DBEEDF93F677}"/>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09316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3943D8-D242-3E2F-C24F-4E005E76AE4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629DC73-6886-F0DB-9DA5-9ED96CE8253F}"/>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22B799C-9E0E-429F-C629-2A18626668DB}"/>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8794BFC4-5811-57DC-FF5C-4868DB2AC9C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24A7796-940B-415F-C832-E381105EE3EB}"/>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449128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0E35921-9950-2FB0-6355-6B06F016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DD1B157-D31D-54B9-7D6A-F6D4AD6AC9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33F31D3-1A38-6B87-4306-66D57169E8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FBC11102-B856-C277-A8F6-8D6AF8F933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9D88C62-D975-E146-FD0A-E318C54052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232235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8E6EF4-2BC6-E096-750F-ECCBB9D42F48}"/>
              </a:ext>
            </a:extLst>
          </p:cNvPr>
          <p:cNvSpPr>
            <a:spLocks noGrp="1"/>
          </p:cNvSpPr>
          <p:nvPr>
            <p:ph type="ctrTitle"/>
          </p:nvPr>
        </p:nvSpPr>
        <p:spPr>
          <a:xfrm>
            <a:off x="1524000" y="903888"/>
            <a:ext cx="9144000" cy="1439425"/>
          </a:xfrm>
        </p:spPr>
        <p:txBody>
          <a:bodyPr>
            <a:normAutofit fontScale="90000"/>
          </a:bodyPr>
          <a:lstStyle/>
          <a:p>
            <a:r>
              <a:rPr kumimoji="1" lang="en-US" altLang="zh-CN" sz="5400" b="1" dirty="0">
                <a:latin typeface="Century Gothic" panose="020B0502020202020204" pitchFamily="34" charset="0"/>
              </a:rPr>
              <a:t>2. Political Values &amp; Democracy</a:t>
            </a:r>
            <a:endParaRPr kumimoji="1" lang="zh-CN" altLang="en-US" sz="5400" dirty="0">
              <a:latin typeface="Century Gothic" panose="020B0502020202020204" pitchFamily="34" charset="0"/>
            </a:endParaRPr>
          </a:p>
        </p:txBody>
      </p:sp>
      <p:sp>
        <p:nvSpPr>
          <p:cNvPr id="3" name="副标题 2">
            <a:extLst>
              <a:ext uri="{FF2B5EF4-FFF2-40B4-BE49-F238E27FC236}">
                <a16:creationId xmlns:a16="http://schemas.microsoft.com/office/drawing/2014/main" id="{BD47D000-FF03-80F2-FC6B-25D1B58BDF12}"/>
              </a:ext>
            </a:extLst>
          </p:cNvPr>
          <p:cNvSpPr>
            <a:spLocks noGrp="1"/>
          </p:cNvSpPr>
          <p:nvPr>
            <p:ph type="subTitle" idx="1"/>
          </p:nvPr>
        </p:nvSpPr>
        <p:spPr>
          <a:xfrm>
            <a:off x="1524000" y="3428998"/>
            <a:ext cx="9144000" cy="2982311"/>
          </a:xfrm>
        </p:spPr>
        <p:txBody>
          <a:bodyPr>
            <a:normAutofit lnSpcReduction="10000"/>
          </a:bodyPr>
          <a:lstStyle/>
          <a:p>
            <a:r>
              <a:rPr kumimoji="1" lang="en-US" altLang="zh-CN" b="1" dirty="0">
                <a:latin typeface="Century Gothic" panose="020B0502020202020204" pitchFamily="34" charset="0"/>
              </a:rPr>
              <a:t>Breakout Sessions</a:t>
            </a:r>
          </a:p>
          <a:p>
            <a:r>
              <a:rPr kumimoji="1" lang="en-US" altLang="zh-CN" b="1" dirty="0">
                <a:latin typeface="Century Gothic" panose="020B0502020202020204" pitchFamily="34" charset="0"/>
              </a:rPr>
              <a:t>POLS 1101</a:t>
            </a:r>
          </a:p>
          <a:p>
            <a:r>
              <a:rPr kumimoji="1" lang="en-US" altLang="zh-CN" b="1" dirty="0">
                <a:latin typeface="Century Gothic" panose="020B0502020202020204" pitchFamily="34" charset="0"/>
              </a:rPr>
              <a:t>12:40pm-1:30pm</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Park</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Hall</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145</a:t>
            </a:r>
            <a:r>
              <a:rPr kumimoji="1" lang="zh-CN" altLang="en-US" b="1" dirty="0">
                <a:latin typeface="Century Gothic" panose="020B0502020202020204" pitchFamily="34" charset="0"/>
              </a:rPr>
              <a:t> </a:t>
            </a:r>
            <a:endParaRPr kumimoji="1" lang="en-US" altLang="zh-CN" b="1" dirty="0">
              <a:latin typeface="Century Gothic" panose="020B0502020202020204" pitchFamily="34" charset="0"/>
            </a:endParaRPr>
          </a:p>
          <a:p>
            <a:r>
              <a:rPr kumimoji="1" lang="en-US" altLang="zh-CN" b="1" dirty="0">
                <a:latin typeface="Century Gothic" panose="020B0502020202020204" pitchFamily="34" charset="0"/>
              </a:rPr>
              <a:t>&amp;</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1:50pm-2:40pm Leconte Hall 135</a:t>
            </a:r>
          </a:p>
          <a:p>
            <a:endParaRPr kumimoji="1" lang="en-US" altLang="zh-CN" b="1" dirty="0">
              <a:latin typeface="Century Gothic" panose="020B0502020202020204" pitchFamily="34" charset="0"/>
            </a:endParaRPr>
          </a:p>
          <a:p>
            <a:r>
              <a:rPr kumimoji="1" lang="en-US" altLang="zh-CN" b="1" dirty="0">
                <a:latin typeface="Century Gothic" panose="020B0502020202020204" pitchFamily="34" charset="0"/>
              </a:rPr>
              <a:t>SIYUAN (Siri) ZHAO</a:t>
            </a:r>
          </a:p>
          <a:p>
            <a:r>
              <a:rPr kumimoji="1" lang="en-US" altLang="zh-CN" b="1" dirty="0" err="1">
                <a:latin typeface="Century Gothic" panose="020B0502020202020204" pitchFamily="34" charset="0"/>
              </a:rPr>
              <a:t>Siri.Zhao@uga.edu</a:t>
            </a:r>
            <a:endParaRPr kumimoji="1" lang="zh-CN" altLang="en-US" b="1" dirty="0">
              <a:latin typeface="Century Gothic" panose="020B0502020202020204" pitchFamily="34" charset="0"/>
            </a:endParaRPr>
          </a:p>
        </p:txBody>
      </p:sp>
    </p:spTree>
    <p:extLst>
      <p:ext uri="{BB962C8B-B14F-4D97-AF65-F5344CB8AC3E}">
        <p14:creationId xmlns:p14="http://schemas.microsoft.com/office/powerpoint/2010/main" val="339674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0C3F89-E425-EF87-6224-959808E82A99}"/>
              </a:ext>
            </a:extLst>
          </p:cNvPr>
          <p:cNvSpPr>
            <a:spLocks noGrp="1"/>
          </p:cNvSpPr>
          <p:nvPr>
            <p:ph type="title"/>
          </p:nvPr>
        </p:nvSpPr>
        <p:spPr>
          <a:xfrm>
            <a:off x="838200" y="18255"/>
            <a:ext cx="10515600" cy="1325563"/>
          </a:xfrm>
        </p:spPr>
        <p:txBody>
          <a:bodyPr/>
          <a:lstStyle/>
          <a:p>
            <a:r>
              <a:rPr kumimoji="1" lang="en-US" altLang="zh-CN" b="1" dirty="0">
                <a:latin typeface="Century Gothic" panose="020B0502020202020204" pitchFamily="34" charset="0"/>
              </a:rPr>
              <a:t>More</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Details about Group Discussion</a:t>
            </a:r>
            <a:endParaRPr kumimoji="1" lang="zh-CN" altLang="en-US" dirty="0"/>
          </a:p>
        </p:txBody>
      </p:sp>
      <p:sp>
        <p:nvSpPr>
          <p:cNvPr id="3" name="内容占位符 2">
            <a:extLst>
              <a:ext uri="{FF2B5EF4-FFF2-40B4-BE49-F238E27FC236}">
                <a16:creationId xmlns:a16="http://schemas.microsoft.com/office/drawing/2014/main" id="{5DCA6E41-AC41-64AB-4BF7-231382A39B7C}"/>
              </a:ext>
            </a:extLst>
          </p:cNvPr>
          <p:cNvSpPr>
            <a:spLocks noGrp="1"/>
          </p:cNvSpPr>
          <p:nvPr>
            <p:ph idx="1"/>
          </p:nvPr>
        </p:nvSpPr>
        <p:spPr>
          <a:xfrm>
            <a:off x="838198" y="1343817"/>
            <a:ext cx="11059511" cy="5309231"/>
          </a:xfrm>
        </p:spPr>
        <p:txBody>
          <a:bodyPr>
            <a:normAutofit fontScale="92500" lnSpcReduction="10000"/>
          </a:bodyPr>
          <a:lstStyle/>
          <a:p>
            <a:pPr>
              <a:lnSpc>
                <a:spcPct val="100000"/>
              </a:lnSpc>
            </a:pPr>
            <a:r>
              <a:rPr kumimoji="1" lang="en-US" altLang="zh-CN" sz="2400" dirty="0">
                <a:latin typeface="Century Gothic" panose="020B0502020202020204" pitchFamily="34" charset="0"/>
              </a:rPr>
              <a:t>Each</a:t>
            </a:r>
            <a:r>
              <a:rPr kumimoji="1" lang="zh-CN" altLang="en-US" sz="2400" dirty="0">
                <a:latin typeface="Century Gothic" panose="020B0502020202020204" pitchFamily="34" charset="0"/>
              </a:rPr>
              <a:t> </a:t>
            </a:r>
            <a:r>
              <a:rPr kumimoji="1" lang="en-US" altLang="zh-CN" sz="2400" dirty="0">
                <a:latin typeface="Century Gothic" panose="020B0502020202020204" pitchFamily="34" charset="0"/>
              </a:rPr>
              <a:t>group discussion leader</a:t>
            </a:r>
            <a:r>
              <a:rPr kumimoji="1" lang="zh-CN" altLang="en-US" sz="2400" dirty="0">
                <a:latin typeface="Century Gothic" panose="020B0502020202020204" pitchFamily="34" charset="0"/>
              </a:rPr>
              <a:t> </a:t>
            </a:r>
            <a:r>
              <a:rPr kumimoji="1" lang="en-US" altLang="zh-CN" sz="2400" b="1" dirty="0">
                <a:latin typeface="Century Gothic" panose="020B0502020202020204" pitchFamily="34" charset="0"/>
              </a:rPr>
              <a:t>should prepare slides </a:t>
            </a:r>
            <a:r>
              <a:rPr kumimoji="1" lang="en-US" altLang="zh-CN" sz="2400" dirty="0">
                <a:latin typeface="Century Gothic" panose="020B0502020202020204" pitchFamily="34" charset="0"/>
              </a:rPr>
              <a:t>for their presentation (PowerPoint, Keynote, LaTeX… in any form you like)</a:t>
            </a:r>
          </a:p>
          <a:p>
            <a:pPr>
              <a:lnSpc>
                <a:spcPct val="100000"/>
              </a:lnSpc>
            </a:pPr>
            <a:r>
              <a:rPr kumimoji="1" lang="en-US" altLang="zh-CN" sz="2400" dirty="0">
                <a:latin typeface="Century Gothic" panose="020B0502020202020204" pitchFamily="34" charset="0"/>
              </a:rPr>
              <a:t>The presentation </a:t>
            </a:r>
            <a:r>
              <a:rPr kumimoji="1" lang="en-US" altLang="zh-CN" sz="2400" b="1" dirty="0">
                <a:latin typeface="Century Gothic" panose="020B0502020202020204" pitchFamily="34" charset="0"/>
              </a:rPr>
              <a:t>should cover at least 1 supplemental reading material </a:t>
            </a:r>
            <a:r>
              <a:rPr kumimoji="1" lang="en-US" altLang="zh-CN" sz="2400" dirty="0">
                <a:latin typeface="Century Gothic" panose="020B0502020202020204" pitchFamily="34" charset="0"/>
              </a:rPr>
              <a:t>assigned that week, based on what you’ve learned in class and the textbook</a:t>
            </a:r>
          </a:p>
          <a:p>
            <a:pPr lvl="1">
              <a:lnSpc>
                <a:spcPct val="100000"/>
              </a:lnSpc>
            </a:pPr>
            <a:r>
              <a:rPr kumimoji="1" lang="en-US" altLang="zh-CN" sz="2000" dirty="0">
                <a:latin typeface="Century Gothic" panose="020B0502020202020204" pitchFamily="34" charset="0"/>
              </a:rPr>
              <a:t>If we have more than 1 topic for your presenting week, you can choose </a:t>
            </a:r>
            <a:r>
              <a:rPr kumimoji="1" lang="en-US" altLang="zh-CN" sz="2000" b="1" dirty="0">
                <a:latin typeface="Century Gothic" panose="020B0502020202020204" pitchFamily="34" charset="0"/>
              </a:rPr>
              <a:t>one of them</a:t>
            </a:r>
            <a:r>
              <a:rPr kumimoji="1" lang="en-US" altLang="zh-CN" sz="2000" dirty="0">
                <a:latin typeface="Century Gothic" panose="020B0502020202020204" pitchFamily="34" charset="0"/>
              </a:rPr>
              <a:t> (or both of them, if you like) as the focus of your presentation</a:t>
            </a:r>
          </a:p>
          <a:p>
            <a:pPr lvl="1">
              <a:lnSpc>
                <a:spcPct val="100000"/>
              </a:lnSpc>
            </a:pPr>
            <a:r>
              <a:rPr kumimoji="1" lang="en-US" altLang="zh-CN" sz="2000" b="1" dirty="0">
                <a:latin typeface="Century Gothic" panose="020B0502020202020204" pitchFamily="34" charset="0"/>
              </a:rPr>
              <a:t>No need to go over the textbook</a:t>
            </a:r>
            <a:r>
              <a:rPr kumimoji="1" lang="en-US" altLang="zh-CN" sz="2000" dirty="0">
                <a:latin typeface="Century Gothic" panose="020B0502020202020204" pitchFamily="34" charset="0"/>
              </a:rPr>
              <a:t> (especially those parts we’ve learned in class), while you can refer to what you find useful to organize your presentation</a:t>
            </a:r>
          </a:p>
          <a:p>
            <a:pPr>
              <a:lnSpc>
                <a:spcPct val="100000"/>
              </a:lnSpc>
            </a:pPr>
            <a:r>
              <a:rPr kumimoji="1" lang="en-US" altLang="zh-CN" sz="2400" dirty="0">
                <a:latin typeface="Century Gothic" panose="020B0502020202020204" pitchFamily="34" charset="0"/>
              </a:rPr>
              <a:t>Questions you prepare for in-class discussion can be put on your slides (not required, while </a:t>
            </a:r>
            <a:r>
              <a:rPr kumimoji="1" lang="en-US" altLang="zh-CN" sz="2400" b="1" dirty="0">
                <a:latin typeface="Century Gothic" panose="020B0502020202020204" pitchFamily="34" charset="0"/>
              </a:rPr>
              <a:t>raising questions per se is REQUIRED</a:t>
            </a:r>
            <a:r>
              <a:rPr kumimoji="1" lang="en-US" altLang="zh-CN" sz="2400" dirty="0">
                <a:latin typeface="Century Gothic" panose="020B0502020202020204" pitchFamily="34" charset="0"/>
              </a:rPr>
              <a:t>)</a:t>
            </a:r>
          </a:p>
          <a:p>
            <a:pPr>
              <a:lnSpc>
                <a:spcPct val="100000"/>
              </a:lnSpc>
            </a:pPr>
            <a:r>
              <a:rPr kumimoji="1" lang="en-US" altLang="zh-CN" sz="2400" b="1" dirty="0">
                <a:latin typeface="Century Gothic" panose="020B0502020202020204" pitchFamily="34" charset="0"/>
              </a:rPr>
              <a:t>A clear focus and logically organized materials </a:t>
            </a:r>
            <a:r>
              <a:rPr kumimoji="1" lang="en-US" altLang="zh-CN" sz="2400" dirty="0">
                <a:latin typeface="Century Gothic" panose="020B0502020202020204" pitchFamily="34" charset="0"/>
              </a:rPr>
              <a:t>are highly encouraged, but you can also only summarize or review the materials one by one.</a:t>
            </a:r>
          </a:p>
          <a:p>
            <a:pPr>
              <a:lnSpc>
                <a:spcPct val="100000"/>
              </a:lnSpc>
            </a:pPr>
            <a:r>
              <a:rPr kumimoji="1" lang="en-US" altLang="zh-CN" sz="2400" b="1" dirty="0">
                <a:latin typeface="Century Gothic" panose="020B0502020202020204" pitchFamily="34" charset="0"/>
              </a:rPr>
              <a:t>Members in the same large group may gather when taking seats</a:t>
            </a:r>
            <a:r>
              <a:rPr kumimoji="1" lang="en-US" altLang="zh-CN" sz="2400" dirty="0">
                <a:latin typeface="Century Gothic" panose="020B0502020202020204" pitchFamily="34" charset="0"/>
              </a:rPr>
              <a:t>, so it’ll be more convenient for in-class discussion. For any reasons connected to discussion, you can leave your seat (be mindful of others around you)!</a:t>
            </a:r>
          </a:p>
          <a:p>
            <a:endParaRPr kumimoji="1" lang="zh-CN" altLang="en-US" sz="2400" dirty="0">
              <a:latin typeface="Century Gothic" panose="020B0502020202020204" pitchFamily="34" charset="0"/>
            </a:endParaRPr>
          </a:p>
        </p:txBody>
      </p:sp>
    </p:spTree>
    <p:extLst>
      <p:ext uri="{BB962C8B-B14F-4D97-AF65-F5344CB8AC3E}">
        <p14:creationId xmlns:p14="http://schemas.microsoft.com/office/powerpoint/2010/main" val="1415102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FDFA0-E308-F5F0-97D5-2F770A2755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315019D-1247-5AE6-9513-F9D8229F824C}"/>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Major</a:t>
            </a:r>
            <a:r>
              <a:rPr kumimoji="1" lang="zh-CN" altLang="en-US" sz="4000" b="1" dirty="0">
                <a:latin typeface="Century Gothic" panose="020B0502020202020204" pitchFamily="34" charset="0"/>
              </a:rPr>
              <a:t> </a:t>
            </a:r>
            <a:r>
              <a:rPr kumimoji="1" lang="en-US" altLang="zh-CN" sz="4000" b="1" dirty="0">
                <a:latin typeface="Century Gothic" panose="020B0502020202020204" pitchFamily="34" charset="0"/>
              </a:rPr>
              <a:t>Purposes of the Government</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8E86DE02-46C9-7A4F-3619-1732F216D384}"/>
              </a:ext>
            </a:extLst>
          </p:cNvPr>
          <p:cNvSpPr>
            <a:spLocks noGrp="1"/>
          </p:cNvSpPr>
          <p:nvPr>
            <p:ph idx="1"/>
          </p:nvPr>
        </p:nvSpPr>
        <p:spPr>
          <a:xfrm>
            <a:off x="838200" y="1585555"/>
            <a:ext cx="10515600" cy="4899328"/>
          </a:xfrm>
        </p:spPr>
        <p:txBody>
          <a:bodyPr>
            <a:normAutofit/>
          </a:bodyPr>
          <a:lstStyle/>
          <a:p>
            <a:pPr>
              <a:lnSpc>
                <a:spcPct val="100000"/>
              </a:lnSpc>
            </a:pPr>
            <a:r>
              <a:rPr kumimoji="1" lang="en-US" altLang="zh-CN" sz="2600" dirty="0">
                <a:latin typeface="Century Gothic" panose="020B0502020202020204" pitchFamily="34" charset="0"/>
              </a:rPr>
              <a:t>Maintaining order</a:t>
            </a:r>
          </a:p>
          <a:p>
            <a:pPr>
              <a:lnSpc>
                <a:spcPct val="100000"/>
              </a:lnSpc>
            </a:pPr>
            <a:r>
              <a:rPr kumimoji="1" lang="en-US" altLang="zh-CN" sz="2600" dirty="0">
                <a:latin typeface="Century Gothic" panose="020B0502020202020204" pitchFamily="34" charset="0"/>
              </a:rPr>
              <a:t>Providing public goods</a:t>
            </a:r>
          </a:p>
          <a:p>
            <a:pPr>
              <a:lnSpc>
                <a:spcPct val="100000"/>
              </a:lnSpc>
            </a:pPr>
            <a:r>
              <a:rPr kumimoji="1" lang="en-US" altLang="zh-CN" sz="2600" dirty="0">
                <a:latin typeface="Century Gothic" panose="020B0502020202020204" pitchFamily="34" charset="0"/>
              </a:rPr>
              <a:t>(Promoting equality)</a:t>
            </a:r>
          </a:p>
          <a:p>
            <a:pPr>
              <a:lnSpc>
                <a:spcPct val="100000"/>
              </a:lnSpc>
            </a:pPr>
            <a:endParaRPr kumimoji="1" lang="en-US" altLang="zh-CN" sz="2600" dirty="0">
              <a:latin typeface="Century Gothic" panose="020B0502020202020204" pitchFamily="34" charset="0"/>
            </a:endParaRPr>
          </a:p>
          <a:p>
            <a:r>
              <a:rPr lang="en-US" altLang="zh-CN" sz="2400" dirty="0">
                <a:latin typeface="Century Gothic" panose="020B0502020202020204" pitchFamily="34" charset="0"/>
              </a:rPr>
              <a:t>Government chooses the proper mix of freedom, order, and equality in its policymaking.</a:t>
            </a:r>
          </a:p>
          <a:p>
            <a:r>
              <a:rPr lang="en-US" altLang="zh-CN" sz="2400" dirty="0">
                <a:latin typeface="Century Gothic" panose="020B0502020202020204" pitchFamily="34" charset="0"/>
              </a:rPr>
              <a:t>In all of the three purposes, </a:t>
            </a:r>
            <a:r>
              <a:rPr lang="en-US" altLang="zh-CN" sz="2400" b="1" dirty="0">
                <a:solidFill>
                  <a:srgbClr val="FF0000"/>
                </a:solidFill>
                <a:latin typeface="Century Gothic" panose="020B0502020202020204" pitchFamily="34" charset="0"/>
              </a:rPr>
              <a:t>which do you think is the least controversial / most important? Why? What would your life be without the purpose you chose?</a:t>
            </a:r>
          </a:p>
          <a:p>
            <a:pPr lvl="1"/>
            <a:r>
              <a:rPr lang="en-US" altLang="zh-CN" sz="2000" dirty="0">
                <a:latin typeface="Century Gothic" panose="020B0502020202020204" pitchFamily="34" charset="0"/>
              </a:rPr>
              <a:t>For Hobbes, it is probably maintaining order.</a:t>
            </a:r>
          </a:p>
          <a:p>
            <a:pPr lvl="1"/>
            <a:r>
              <a:rPr lang="en-US" altLang="zh-CN" sz="2000" dirty="0">
                <a:latin typeface="Century Gothic" panose="020B0502020202020204" pitchFamily="34" charset="0"/>
              </a:rPr>
              <a:t>For the author of the textbook, it is providing public goods.</a:t>
            </a:r>
          </a:p>
        </p:txBody>
      </p:sp>
    </p:spTree>
    <p:extLst>
      <p:ext uri="{BB962C8B-B14F-4D97-AF65-F5344CB8AC3E}">
        <p14:creationId xmlns:p14="http://schemas.microsoft.com/office/powerpoint/2010/main" val="323810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1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1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25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25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25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25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778BB4-4865-3E7B-0D4E-C002FE68D6EB}"/>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Freedom, Order, and Equality </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C1E27992-FA10-911D-8961-FB5AE68C2E5D}"/>
              </a:ext>
            </a:extLst>
          </p:cNvPr>
          <p:cNvSpPr>
            <a:spLocks noGrp="1"/>
          </p:cNvSpPr>
          <p:nvPr>
            <p:ph idx="1"/>
          </p:nvPr>
        </p:nvSpPr>
        <p:spPr>
          <a:xfrm>
            <a:off x="838200" y="1343817"/>
            <a:ext cx="10515600" cy="5316755"/>
          </a:xfrm>
        </p:spPr>
        <p:txBody>
          <a:bodyPr>
            <a:normAutofit/>
          </a:bodyPr>
          <a:lstStyle/>
          <a:p>
            <a:pPr>
              <a:lnSpc>
                <a:spcPct val="100000"/>
              </a:lnSpc>
            </a:pPr>
            <a:r>
              <a:rPr kumimoji="1" lang="en-US" altLang="zh-CN" sz="2600" dirty="0">
                <a:latin typeface="Century Gothic" panose="020B0502020202020204" pitchFamily="34" charset="0"/>
              </a:rPr>
              <a:t>Freedom &amp; Order</a:t>
            </a:r>
          </a:p>
          <a:p>
            <a:pPr lvl="1">
              <a:lnSpc>
                <a:spcPct val="100000"/>
              </a:lnSpc>
            </a:pPr>
            <a:r>
              <a:rPr kumimoji="1" lang="en-US" altLang="zh-CN" sz="2200" dirty="0">
                <a:latin typeface="Century Gothic" panose="020B0502020202020204" pitchFamily="34" charset="0"/>
              </a:rPr>
              <a:t>Freedom of: Absence of constraints</a:t>
            </a:r>
          </a:p>
          <a:p>
            <a:pPr lvl="1">
              <a:lnSpc>
                <a:spcPct val="100000"/>
              </a:lnSpc>
            </a:pPr>
            <a:r>
              <a:rPr kumimoji="1" lang="en-US" altLang="zh-CN" sz="2200" dirty="0">
                <a:latin typeface="Century Gothic" panose="020B0502020202020204" pitchFamily="34" charset="0"/>
              </a:rPr>
              <a:t>Freedom from: Immunity from fear and want</a:t>
            </a:r>
          </a:p>
          <a:p>
            <a:pPr lvl="1">
              <a:lnSpc>
                <a:spcPct val="100000"/>
              </a:lnSpc>
            </a:pPr>
            <a:r>
              <a:rPr kumimoji="1" lang="en-US" altLang="zh-CN" sz="2200" dirty="0">
                <a:latin typeface="Century Gothic" panose="020B0502020202020204" pitchFamily="34" charset="0"/>
              </a:rPr>
              <a:t>(Freedom to do something)</a:t>
            </a:r>
          </a:p>
          <a:p>
            <a:pPr lvl="2">
              <a:lnSpc>
                <a:spcPct val="100000"/>
              </a:lnSpc>
            </a:pPr>
            <a:r>
              <a:rPr kumimoji="1" lang="en-US" altLang="zh-CN" dirty="0">
                <a:latin typeface="Century Gothic" panose="020B0502020202020204" pitchFamily="34" charset="0"/>
              </a:rPr>
              <a:t>For “freedom to do”, there’s assumed to be an inner tendency of “what should be done” (Certain rank of value, certain kind of “order”)</a:t>
            </a:r>
          </a:p>
          <a:p>
            <a:pPr lvl="2">
              <a:lnSpc>
                <a:spcPct val="100000"/>
              </a:lnSpc>
            </a:pPr>
            <a:r>
              <a:rPr kumimoji="1" lang="en-US" altLang="zh-CN" b="1" dirty="0">
                <a:solidFill>
                  <a:srgbClr val="FF0000"/>
                </a:solidFill>
                <a:latin typeface="Century Gothic" panose="020B0502020202020204" pitchFamily="34" charset="0"/>
              </a:rPr>
              <a:t>Should freedom have any kind of prerequisites?</a:t>
            </a:r>
          </a:p>
          <a:p>
            <a:pPr>
              <a:lnSpc>
                <a:spcPct val="100000"/>
              </a:lnSpc>
            </a:pPr>
            <a:r>
              <a:rPr kumimoji="1" lang="en-US" altLang="zh-CN" sz="2600" dirty="0">
                <a:latin typeface="Century Gothic" panose="020B0502020202020204" pitchFamily="34" charset="0"/>
              </a:rPr>
              <a:t>Freedom &amp; Equality</a:t>
            </a:r>
          </a:p>
          <a:p>
            <a:pPr lvl="1">
              <a:lnSpc>
                <a:spcPct val="100000"/>
              </a:lnSpc>
            </a:pPr>
            <a:r>
              <a:rPr kumimoji="1" lang="en-US" altLang="zh-CN" sz="2200" dirty="0">
                <a:latin typeface="Century Gothic" panose="020B0502020202020204" pitchFamily="34" charset="0"/>
              </a:rPr>
              <a:t>Political equality &amp; Social equality</a:t>
            </a:r>
          </a:p>
          <a:p>
            <a:pPr lvl="1">
              <a:lnSpc>
                <a:spcPct val="100000"/>
              </a:lnSpc>
            </a:pPr>
            <a:r>
              <a:rPr kumimoji="1" lang="en-US" altLang="zh-CN" sz="2200" dirty="0">
                <a:latin typeface="Century Gothic" panose="020B0502020202020204" pitchFamily="34" charset="0"/>
              </a:rPr>
              <a:t>Equality of opportunity &amp; Equality of outcome</a:t>
            </a:r>
          </a:p>
          <a:p>
            <a:pPr lvl="1">
              <a:lnSpc>
                <a:spcPct val="100000"/>
              </a:lnSpc>
            </a:pPr>
            <a:r>
              <a:rPr kumimoji="1" lang="en-US" altLang="zh-CN" sz="2200" b="1" dirty="0">
                <a:solidFill>
                  <a:srgbClr val="FF0000"/>
                </a:solidFill>
                <a:latin typeface="Century Gothic" panose="020B0502020202020204" pitchFamily="34" charset="0"/>
              </a:rPr>
              <a:t>What is the boundary when using state power to promote equality?</a:t>
            </a:r>
            <a:r>
              <a:rPr kumimoji="1" lang="zh-CN" altLang="en-US" sz="2200" b="1" dirty="0">
                <a:solidFill>
                  <a:srgbClr val="FF0000"/>
                </a:solidFill>
                <a:latin typeface="Century Gothic" panose="020B0502020202020204" pitchFamily="34" charset="0"/>
              </a:rPr>
              <a:t> </a:t>
            </a:r>
            <a:r>
              <a:rPr kumimoji="1" lang="en-US" altLang="zh-CN" sz="2200" b="1" dirty="0">
                <a:solidFill>
                  <a:srgbClr val="FF0000"/>
                </a:solidFill>
                <a:latin typeface="Century Gothic" panose="020B0502020202020204" pitchFamily="34" charset="0"/>
              </a:rPr>
              <a:t>Or, how much do you think equality is important?</a:t>
            </a:r>
          </a:p>
          <a:p>
            <a:pPr>
              <a:lnSpc>
                <a:spcPct val="100000"/>
              </a:lnSpc>
            </a:pPr>
            <a:r>
              <a:rPr kumimoji="1" lang="en-US" altLang="zh-CN" sz="2600" b="1" dirty="0">
                <a:latin typeface="Century Gothic" panose="020B0502020202020204" pitchFamily="34" charset="0"/>
              </a:rPr>
              <a:t>NOTE: the political, economic, social &amp; cultural perspectives</a:t>
            </a:r>
          </a:p>
          <a:p>
            <a:pPr lvl="1">
              <a:lnSpc>
                <a:spcPct val="100000"/>
              </a:lnSpc>
            </a:pPr>
            <a:endParaRPr kumimoji="1" lang="en-US" altLang="zh-CN" sz="2200" dirty="0">
              <a:latin typeface="Century Gothic" panose="020B0502020202020204" pitchFamily="34" charset="0"/>
            </a:endParaRPr>
          </a:p>
        </p:txBody>
      </p:sp>
    </p:spTree>
    <p:extLst>
      <p:ext uri="{BB962C8B-B14F-4D97-AF65-F5344CB8AC3E}">
        <p14:creationId xmlns:p14="http://schemas.microsoft.com/office/powerpoint/2010/main" val="396183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25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25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25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25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25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25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25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25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25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25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9E965-1EC2-75B0-A138-BE54EB21F4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04E5495-3DAE-73D0-54C9-226B8CD9BAEE}"/>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Ideologies</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6CCE3BBD-CC59-43AC-483F-5B2DB4E5E97C}"/>
              </a:ext>
            </a:extLst>
          </p:cNvPr>
          <p:cNvSpPr>
            <a:spLocks noGrp="1"/>
          </p:cNvSpPr>
          <p:nvPr>
            <p:ph idx="1"/>
          </p:nvPr>
        </p:nvSpPr>
        <p:spPr>
          <a:xfrm>
            <a:off x="838200" y="1343818"/>
            <a:ext cx="10618076" cy="5120044"/>
          </a:xfrm>
        </p:spPr>
        <p:txBody>
          <a:bodyPr>
            <a:normAutofit fontScale="92500" lnSpcReduction="10000"/>
          </a:bodyPr>
          <a:lstStyle/>
          <a:p>
            <a:pPr>
              <a:lnSpc>
                <a:spcPct val="100000"/>
              </a:lnSpc>
            </a:pPr>
            <a:r>
              <a:rPr kumimoji="1" lang="en-US" altLang="zh-CN" sz="2400" b="1" dirty="0">
                <a:latin typeface="Century Gothic" panose="020B0502020202020204" pitchFamily="34" charset="0"/>
              </a:rPr>
              <a:t>Always be careful when trying to put an ideological hat on one’s head! </a:t>
            </a:r>
            <a:r>
              <a:rPr kumimoji="1" lang="en-US" altLang="zh-CN" sz="2400" dirty="0">
                <a:latin typeface="Century Gothic" panose="020B0502020202020204" pitchFamily="34" charset="0"/>
              </a:rPr>
              <a:t>– Ideologies can be confusing and misleading.</a:t>
            </a:r>
          </a:p>
          <a:p>
            <a:pPr lvl="1">
              <a:lnSpc>
                <a:spcPct val="100000"/>
              </a:lnSpc>
            </a:pPr>
            <a:r>
              <a:rPr kumimoji="1" lang="en-US" altLang="zh-CN" sz="2200" dirty="0">
                <a:latin typeface="Century Gothic" panose="020B0502020202020204" pitchFamily="34" charset="0"/>
              </a:rPr>
              <a:t>Seemingly contradictory stances of the liberal and the conservative</a:t>
            </a:r>
          </a:p>
          <a:p>
            <a:pPr lvl="1">
              <a:lnSpc>
                <a:spcPct val="100000"/>
              </a:lnSpc>
            </a:pPr>
            <a:r>
              <a:rPr kumimoji="1" lang="en-US" altLang="zh-CN" sz="2200" b="1" dirty="0">
                <a:solidFill>
                  <a:srgbClr val="FF0000"/>
                </a:solidFill>
                <a:latin typeface="Century Gothic" panose="020B0502020202020204" pitchFamily="34" charset="0"/>
              </a:rPr>
              <a:t>Do you think the socio-economic differences can be a satisfying description of the liberal &amp; conservative division?</a:t>
            </a:r>
          </a:p>
          <a:p>
            <a:pPr>
              <a:lnSpc>
                <a:spcPct val="100000"/>
              </a:lnSpc>
            </a:pPr>
            <a:r>
              <a:rPr kumimoji="1" lang="en-US" altLang="zh-CN" sz="2400" b="1" dirty="0">
                <a:latin typeface="Century Gothic" panose="020B0502020202020204" pitchFamily="34" charset="0"/>
              </a:rPr>
              <a:t>Always try to figure out what an individual thinks about a specific issue.</a:t>
            </a:r>
            <a:r>
              <a:rPr kumimoji="1" lang="en-US" altLang="zh-CN" sz="2400" dirty="0">
                <a:latin typeface="Century Gothic" panose="020B0502020202020204" pitchFamily="34" charset="0"/>
              </a:rPr>
              <a:t> – e.g. Those all insisted that they were “liberalists”</a:t>
            </a:r>
          </a:p>
          <a:p>
            <a:pPr lvl="1">
              <a:lnSpc>
                <a:spcPct val="100000"/>
              </a:lnSpc>
            </a:pPr>
            <a:r>
              <a:rPr kumimoji="1" lang="en-US" altLang="zh-CN" sz="2000" dirty="0">
                <a:latin typeface="Century Gothic" panose="020B0502020202020204" pitchFamily="34" charset="0"/>
              </a:rPr>
              <a:t>For the </a:t>
            </a:r>
            <a:r>
              <a:rPr kumimoji="1" lang="en-US" altLang="zh-CN" sz="2000" i="1" dirty="0">
                <a:latin typeface="Century Gothic" panose="020B0502020202020204" pitchFamily="34" charset="0"/>
              </a:rPr>
              <a:t>Civil Rights Act </a:t>
            </a:r>
            <a:r>
              <a:rPr kumimoji="1" lang="en-US" altLang="zh-CN" sz="2000" dirty="0">
                <a:latin typeface="Century Gothic" panose="020B0502020202020204" pitchFamily="34" charset="0"/>
              </a:rPr>
              <a:t>of 1964</a:t>
            </a:r>
          </a:p>
          <a:p>
            <a:pPr lvl="1">
              <a:lnSpc>
                <a:spcPct val="100000"/>
              </a:lnSpc>
            </a:pPr>
            <a:r>
              <a:rPr kumimoji="1" lang="en-US" altLang="zh-CN" sz="2000" b="1" dirty="0">
                <a:latin typeface="Century Gothic" panose="020B0502020202020204" pitchFamily="34" charset="0"/>
              </a:rPr>
              <a:t>-A: </a:t>
            </a:r>
            <a:r>
              <a:rPr kumimoji="1" lang="en-US" altLang="zh-CN" sz="2000" dirty="0">
                <a:latin typeface="Century Gothic" panose="020B0502020202020204" pitchFamily="34" charset="0"/>
              </a:rPr>
              <a:t>We should not only stay alert of the state power but also threats from the private sector. As private enterprises were prohibited from not providing service in terms of race, sex, …, the CRA was a great success!</a:t>
            </a:r>
          </a:p>
          <a:p>
            <a:pPr marL="457200" lvl="1" indent="0">
              <a:lnSpc>
                <a:spcPct val="100000"/>
              </a:lnSpc>
              <a:buNone/>
            </a:pPr>
            <a:r>
              <a:rPr kumimoji="1" lang="en-US" altLang="zh-CN" sz="2000" dirty="0">
                <a:latin typeface="Century Gothic" panose="020B0502020202020204" pitchFamily="34" charset="0"/>
              </a:rPr>
              <a:t>   </a:t>
            </a:r>
            <a:r>
              <a:rPr kumimoji="1" lang="en-US" altLang="zh-CN" sz="2000" b="1" dirty="0">
                <a:latin typeface="Century Gothic" panose="020B0502020202020204" pitchFamily="34" charset="0"/>
              </a:rPr>
              <a:t>-B: </a:t>
            </a:r>
            <a:r>
              <a:rPr kumimoji="1" lang="en-US" altLang="zh-CN" sz="2000" dirty="0">
                <a:latin typeface="Century Gothic" panose="020B0502020202020204" pitchFamily="34" charset="0"/>
              </a:rPr>
              <a:t>We have deprived a group of their freedom (choosing whether to provide service or not) and given it to another group, ridiculously using the state power! (Recall: it’s much more likely to be “libertarianism”)</a:t>
            </a:r>
          </a:p>
          <a:p>
            <a:pPr marL="457200" lvl="1" indent="0">
              <a:lnSpc>
                <a:spcPct val="100000"/>
              </a:lnSpc>
              <a:buNone/>
            </a:pPr>
            <a:r>
              <a:rPr kumimoji="1" lang="en-US" altLang="zh-CN" sz="2000" b="1" dirty="0">
                <a:latin typeface="Century Gothic" panose="020B0502020202020204" pitchFamily="34" charset="0"/>
              </a:rPr>
              <a:t>   -A: </a:t>
            </a:r>
            <a:r>
              <a:rPr kumimoji="1" lang="en-US" altLang="zh-CN" sz="2000" dirty="0">
                <a:latin typeface="Century Gothic" panose="020B0502020202020204" pitchFamily="34" charset="0"/>
              </a:rPr>
              <a:t>It’s reasonable since a lack of state capacity will also be a threat to freedom.</a:t>
            </a:r>
          </a:p>
          <a:p>
            <a:pPr marL="457200" lvl="1" indent="0">
              <a:lnSpc>
                <a:spcPct val="100000"/>
              </a:lnSpc>
              <a:buNone/>
            </a:pPr>
            <a:r>
              <a:rPr kumimoji="1" lang="en-US" altLang="zh-CN" sz="2000" b="1" dirty="0">
                <a:solidFill>
                  <a:srgbClr val="FF0000"/>
                </a:solidFill>
                <a:latin typeface="Century Gothic" panose="020B0502020202020204" pitchFamily="34" charset="0"/>
              </a:rPr>
              <a:t>   -B: ……? </a:t>
            </a:r>
          </a:p>
          <a:p>
            <a:pPr marL="457200" lvl="1" indent="0">
              <a:lnSpc>
                <a:spcPct val="100000"/>
              </a:lnSpc>
              <a:buNone/>
            </a:pPr>
            <a:endParaRPr kumimoji="1" lang="en-US" altLang="zh-CN" sz="2000" dirty="0">
              <a:latin typeface="Century Gothic" panose="020B0502020202020204" pitchFamily="34" charset="0"/>
            </a:endParaRPr>
          </a:p>
        </p:txBody>
      </p:sp>
    </p:spTree>
    <p:extLst>
      <p:ext uri="{BB962C8B-B14F-4D97-AF65-F5344CB8AC3E}">
        <p14:creationId xmlns:p14="http://schemas.microsoft.com/office/powerpoint/2010/main" val="4048367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B8F11-E91B-20AA-5453-F5EEF3FB01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4884913-AD23-3C6B-3CAA-E2B452A6B38A}"/>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Democracy</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EB20428F-9651-1ED8-AF2B-1EDCE5FF7B6D}"/>
              </a:ext>
            </a:extLst>
          </p:cNvPr>
          <p:cNvSpPr>
            <a:spLocks noGrp="1"/>
          </p:cNvSpPr>
          <p:nvPr>
            <p:ph idx="1"/>
          </p:nvPr>
        </p:nvSpPr>
        <p:spPr>
          <a:xfrm>
            <a:off x="838200" y="1343818"/>
            <a:ext cx="10618076" cy="5120044"/>
          </a:xfrm>
        </p:spPr>
        <p:txBody>
          <a:bodyPr>
            <a:normAutofit/>
          </a:bodyPr>
          <a:lstStyle/>
          <a:p>
            <a:pPr>
              <a:lnSpc>
                <a:spcPct val="100000"/>
              </a:lnSpc>
            </a:pPr>
            <a:r>
              <a:rPr kumimoji="1" lang="en-US" altLang="zh-CN" sz="2200" dirty="0">
                <a:latin typeface="Century Gothic" panose="020B0502020202020204" pitchFamily="34" charset="0"/>
              </a:rPr>
              <a:t>Procedural democracy: a form of government (how decisions are made)</a:t>
            </a:r>
          </a:p>
          <a:p>
            <a:pPr lvl="1">
              <a:lnSpc>
                <a:spcPct val="100000"/>
              </a:lnSpc>
            </a:pPr>
            <a:r>
              <a:rPr kumimoji="1" lang="en-US" altLang="zh-CN" sz="1800" dirty="0">
                <a:latin typeface="Century Gothic" panose="020B0502020202020204" pitchFamily="34" charset="0"/>
              </a:rPr>
              <a:t>Universal participation, </a:t>
            </a:r>
            <a:r>
              <a:rPr kumimoji="1" lang="en-US" altLang="zh-CN" sz="1800" b="1" dirty="0">
                <a:latin typeface="Century Gothic" panose="020B0502020202020204" pitchFamily="34" charset="0"/>
              </a:rPr>
              <a:t>Political equality</a:t>
            </a:r>
            <a:r>
              <a:rPr kumimoji="1" lang="en-US" altLang="zh-CN" sz="1800" dirty="0">
                <a:latin typeface="Century Gothic" panose="020B0502020202020204" pitchFamily="34" charset="0"/>
              </a:rPr>
              <a:t>, Majority rule, (Responsiveness)</a:t>
            </a:r>
          </a:p>
          <a:p>
            <a:pPr>
              <a:lnSpc>
                <a:spcPct val="100000"/>
              </a:lnSpc>
            </a:pPr>
            <a:r>
              <a:rPr kumimoji="1" lang="en-US" altLang="zh-CN" sz="2200" dirty="0">
                <a:latin typeface="Century Gothic" panose="020B0502020202020204" pitchFamily="34" charset="0"/>
              </a:rPr>
              <a:t>Substantive democracy: what the government does (substance of policies)</a:t>
            </a:r>
          </a:p>
          <a:p>
            <a:pPr lvl="1">
              <a:lnSpc>
                <a:spcPct val="100000"/>
              </a:lnSpc>
            </a:pPr>
            <a:r>
              <a:rPr kumimoji="1" lang="en-US" altLang="zh-CN" sz="1800" dirty="0">
                <a:latin typeface="Century Gothic" panose="020B0502020202020204" pitchFamily="34" charset="0"/>
              </a:rPr>
              <a:t>Guaranteeing civil liberties &amp; civil rights</a:t>
            </a:r>
          </a:p>
          <a:p>
            <a:pPr>
              <a:lnSpc>
                <a:spcPct val="100000"/>
              </a:lnSpc>
            </a:pPr>
            <a:endParaRPr kumimoji="1" lang="en-US" altLang="zh-CN" sz="2200" dirty="0">
              <a:latin typeface="Century Gothic" panose="020B0502020202020204" pitchFamily="34" charset="0"/>
            </a:endParaRPr>
          </a:p>
          <a:p>
            <a:pPr>
              <a:lnSpc>
                <a:spcPct val="100000"/>
              </a:lnSpc>
            </a:pPr>
            <a:r>
              <a:rPr kumimoji="1" lang="en-US" altLang="zh-CN" sz="2200" dirty="0">
                <a:latin typeface="Century Gothic" panose="020B0502020202020204" pitchFamily="34" charset="0"/>
              </a:rPr>
              <a:t>Tension: “Tyranny of the majority” by Tocqueville, </a:t>
            </a:r>
            <a:r>
              <a:rPr kumimoji="1" lang="en-US" altLang="zh-CN" sz="2200" i="1" dirty="0">
                <a:latin typeface="Century Gothic" panose="020B0502020202020204" pitchFamily="34" charset="0"/>
              </a:rPr>
              <a:t>Democracy in America</a:t>
            </a:r>
          </a:p>
          <a:p>
            <a:pPr lvl="1">
              <a:lnSpc>
                <a:spcPct val="100000"/>
              </a:lnSpc>
            </a:pPr>
            <a:r>
              <a:rPr kumimoji="1" lang="en-US" altLang="zh-CN" sz="1800" dirty="0">
                <a:latin typeface="Century Gothic" panose="020B0502020202020204" pitchFamily="34" charset="0"/>
              </a:rPr>
              <a:t>Unlike a king’s tyranny, this tyranny arises from public opinion and collective pressure.</a:t>
            </a:r>
          </a:p>
          <a:p>
            <a:pPr>
              <a:lnSpc>
                <a:spcPct val="100000"/>
              </a:lnSpc>
            </a:pPr>
            <a:r>
              <a:rPr kumimoji="1" lang="en-US" altLang="zh-CN" sz="2200" b="1" dirty="0">
                <a:solidFill>
                  <a:srgbClr val="FF0000"/>
                </a:solidFill>
                <a:latin typeface="Century Gothic" panose="020B0502020202020204" pitchFamily="34" charset="0"/>
              </a:rPr>
              <a:t>Values and Challenges of the substantive democracy?</a:t>
            </a:r>
          </a:p>
          <a:p>
            <a:pPr lvl="1">
              <a:lnSpc>
                <a:spcPct val="100000"/>
              </a:lnSpc>
            </a:pPr>
            <a:r>
              <a:rPr kumimoji="1" lang="en-US" altLang="zh-CN" sz="1800" dirty="0">
                <a:latin typeface="Century Gothic" panose="020B0502020202020204" pitchFamily="34" charset="0"/>
              </a:rPr>
              <a:t>A protection of the minorities</a:t>
            </a:r>
          </a:p>
          <a:p>
            <a:pPr lvl="1">
              <a:lnSpc>
                <a:spcPct val="100000"/>
              </a:lnSpc>
            </a:pPr>
            <a:r>
              <a:rPr kumimoji="1" lang="en-US" altLang="zh-CN" sz="1800" dirty="0">
                <a:latin typeface="Century Gothic" panose="020B0502020202020204" pitchFamily="34" charset="0"/>
              </a:rPr>
              <a:t>……</a:t>
            </a:r>
          </a:p>
        </p:txBody>
      </p:sp>
    </p:spTree>
    <p:extLst>
      <p:ext uri="{BB962C8B-B14F-4D97-AF65-F5344CB8AC3E}">
        <p14:creationId xmlns:p14="http://schemas.microsoft.com/office/powerpoint/2010/main" val="939498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90816-8BA6-A83D-E9A5-5FA373434C7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3966729-64B2-C295-4E83-7F687B02BE7E}"/>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Procedural Democracy</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44EB13D4-82B2-F05D-5FBE-C4C73346E944}"/>
              </a:ext>
            </a:extLst>
          </p:cNvPr>
          <p:cNvSpPr>
            <a:spLocks noGrp="1"/>
          </p:cNvSpPr>
          <p:nvPr>
            <p:ph idx="1"/>
          </p:nvPr>
        </p:nvSpPr>
        <p:spPr>
          <a:xfrm>
            <a:off x="838200" y="1343817"/>
            <a:ext cx="10618076" cy="5624542"/>
          </a:xfrm>
        </p:spPr>
        <p:txBody>
          <a:bodyPr>
            <a:normAutofit fontScale="92500" lnSpcReduction="10000"/>
          </a:bodyPr>
          <a:lstStyle/>
          <a:p>
            <a:pPr>
              <a:lnSpc>
                <a:spcPct val="100000"/>
              </a:lnSpc>
            </a:pPr>
            <a:r>
              <a:rPr kumimoji="1" lang="en-US" altLang="zh-CN" sz="2200" dirty="0">
                <a:latin typeface="Century Gothic" panose="020B0502020202020204" pitchFamily="34" charset="0"/>
              </a:rPr>
              <a:t>Majoritarian Model: government by the majority of the people</a:t>
            </a:r>
          </a:p>
          <a:p>
            <a:pPr lvl="1">
              <a:lnSpc>
                <a:spcPct val="100000"/>
              </a:lnSpc>
            </a:pPr>
            <a:r>
              <a:rPr kumimoji="1" lang="en-US" altLang="zh-CN" sz="2000" dirty="0">
                <a:latin typeface="Century Gothic" panose="020B0502020202020204" pitchFamily="34" charset="0"/>
              </a:rPr>
              <a:t>Elections, Political Parties, Centralized government</a:t>
            </a:r>
          </a:p>
          <a:p>
            <a:pPr>
              <a:lnSpc>
                <a:spcPct val="100000"/>
              </a:lnSpc>
            </a:pPr>
            <a:r>
              <a:rPr kumimoji="1" lang="en-US" altLang="zh-CN" sz="2200" dirty="0">
                <a:latin typeface="Century Gothic" panose="020B0502020202020204" pitchFamily="34" charset="0"/>
              </a:rPr>
              <a:t>Pluralist Model: government by competing interest groups</a:t>
            </a:r>
          </a:p>
          <a:p>
            <a:pPr lvl="1">
              <a:lnSpc>
                <a:spcPct val="100000"/>
              </a:lnSpc>
            </a:pPr>
            <a:r>
              <a:rPr kumimoji="1" lang="en-US" altLang="zh-CN" sz="2000" dirty="0">
                <a:latin typeface="Century Gothic" panose="020B0502020202020204" pitchFamily="34" charset="0"/>
              </a:rPr>
              <a:t>Competition (in lobbying), Decentralized government, Allow minorities to rule</a:t>
            </a:r>
          </a:p>
          <a:p>
            <a:pPr lvl="1">
              <a:lnSpc>
                <a:spcPct val="100000"/>
              </a:lnSpc>
            </a:pPr>
            <a:endParaRPr kumimoji="1" lang="en-US" altLang="zh-CN" sz="2000" dirty="0">
              <a:latin typeface="Century Gothic" panose="020B0502020202020204" pitchFamily="34" charset="0"/>
            </a:endParaRPr>
          </a:p>
          <a:p>
            <a:pPr>
              <a:lnSpc>
                <a:spcPct val="100000"/>
              </a:lnSpc>
            </a:pPr>
            <a:r>
              <a:rPr kumimoji="1" lang="en-US" altLang="zh-CN" sz="2200" b="1" dirty="0">
                <a:latin typeface="Century Gothic" panose="020B0502020202020204" pitchFamily="34" charset="0"/>
              </a:rPr>
              <a:t>Can majoritarian democracy be effective in reality?</a:t>
            </a:r>
          </a:p>
          <a:p>
            <a:pPr lvl="1">
              <a:lnSpc>
                <a:spcPct val="100000"/>
              </a:lnSpc>
            </a:pPr>
            <a:r>
              <a:rPr kumimoji="1" lang="en-US" altLang="zh-CN" sz="2000" dirty="0">
                <a:latin typeface="Century Gothic" panose="020B0502020202020204" pitchFamily="34" charset="0"/>
              </a:rPr>
              <a:t>Critics: Individuals are not knowledgeable enough for MD to work.</a:t>
            </a:r>
          </a:p>
          <a:p>
            <a:pPr lvl="1">
              <a:lnSpc>
                <a:spcPct val="100000"/>
              </a:lnSpc>
            </a:pPr>
            <a:r>
              <a:rPr kumimoji="1" lang="en-US" altLang="zh-CN" sz="2000" dirty="0">
                <a:latin typeface="Century Gothic" panose="020B0502020202020204" pitchFamily="34" charset="0"/>
              </a:rPr>
              <a:t>Defenders: The people, as a whole, are stable and intelligent enough.</a:t>
            </a:r>
          </a:p>
          <a:p>
            <a:pPr lvl="2">
              <a:lnSpc>
                <a:spcPct val="100000"/>
              </a:lnSpc>
            </a:pPr>
            <a:r>
              <a:rPr kumimoji="1" lang="en-US" altLang="zh-CN" sz="1600" b="1" dirty="0">
                <a:latin typeface="Century Gothic" panose="020B0502020202020204" pitchFamily="34" charset="0"/>
              </a:rPr>
              <a:t>A potential challenge: “Sore loser effect”</a:t>
            </a:r>
          </a:p>
          <a:p>
            <a:pPr>
              <a:lnSpc>
                <a:spcPct val="100000"/>
              </a:lnSpc>
            </a:pPr>
            <a:r>
              <a:rPr kumimoji="1" lang="en-US" altLang="zh-CN" sz="2200" b="1" dirty="0">
                <a:latin typeface="Century Gothic" panose="020B0502020202020204" pitchFamily="34" charset="0"/>
              </a:rPr>
              <a:t>In pluralistic democracy, why can the minorities always win</a:t>
            </a:r>
            <a:r>
              <a:rPr kumimoji="1" lang="en-US" altLang="zh-CN" sz="2200" dirty="0">
                <a:latin typeface="Century Gothic" panose="020B0502020202020204" pitchFamily="34" charset="0"/>
              </a:rPr>
              <a:t>?</a:t>
            </a:r>
          </a:p>
          <a:p>
            <a:pPr lvl="1">
              <a:lnSpc>
                <a:spcPct val="100000"/>
              </a:lnSpc>
            </a:pPr>
            <a:r>
              <a:rPr kumimoji="1" lang="en-US" altLang="zh-CN" sz="2000" dirty="0">
                <a:latin typeface="Century Gothic" panose="020B0502020202020204" pitchFamily="34" charset="0"/>
              </a:rPr>
              <a:t>ANS 1: They are always the most powerful and wealthy ones.</a:t>
            </a:r>
          </a:p>
          <a:p>
            <a:pPr lvl="1">
              <a:lnSpc>
                <a:spcPct val="100000"/>
              </a:lnSpc>
            </a:pPr>
            <a:r>
              <a:rPr kumimoji="1" lang="en-US" altLang="zh-CN" sz="2000" b="1" dirty="0">
                <a:solidFill>
                  <a:srgbClr val="FF0000"/>
                </a:solidFill>
                <a:latin typeface="Century Gothic" panose="020B0502020202020204" pitchFamily="34" charset="0"/>
              </a:rPr>
              <a:t>ANS 2: ……?</a:t>
            </a:r>
          </a:p>
          <a:p>
            <a:pPr>
              <a:lnSpc>
                <a:spcPct val="100000"/>
              </a:lnSpc>
            </a:pPr>
            <a:endParaRPr kumimoji="1" lang="en-US" altLang="zh-CN" sz="2400" b="1" dirty="0">
              <a:latin typeface="Century Gothic" panose="020B0502020202020204" pitchFamily="34" charset="0"/>
            </a:endParaRPr>
          </a:p>
          <a:p>
            <a:pPr>
              <a:lnSpc>
                <a:spcPct val="100000"/>
              </a:lnSpc>
            </a:pPr>
            <a:r>
              <a:rPr kumimoji="1" lang="en-US" altLang="zh-CN" sz="2200" b="1" dirty="0">
                <a:latin typeface="Century Gothic" panose="020B0502020202020204" pitchFamily="34" charset="0"/>
              </a:rPr>
              <a:t>REMEMBER: </a:t>
            </a:r>
            <a:r>
              <a:rPr kumimoji="1" lang="en-US" altLang="zh-CN" sz="2200" dirty="0">
                <a:latin typeface="Century Gothic" panose="020B0502020202020204" pitchFamily="34" charset="0"/>
              </a:rPr>
              <a:t>They are both ideal models. Real democracy is some kind of mix-up of them (See American government).</a:t>
            </a:r>
            <a:endParaRPr kumimoji="1" lang="en-US" altLang="zh-CN" sz="2200" b="1" dirty="0">
              <a:latin typeface="Century Gothic" panose="020B0502020202020204" pitchFamily="34" charset="0"/>
            </a:endParaRPr>
          </a:p>
        </p:txBody>
      </p:sp>
    </p:spTree>
    <p:extLst>
      <p:ext uri="{BB962C8B-B14F-4D97-AF65-F5344CB8AC3E}">
        <p14:creationId xmlns:p14="http://schemas.microsoft.com/office/powerpoint/2010/main" val="3461004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F266-461F-DFC0-F19B-F4DD64CD0B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E3B36D4-3E60-4CD4-ECC1-CDF306405FE9}"/>
              </a:ext>
            </a:extLst>
          </p:cNvPr>
          <p:cNvSpPr>
            <a:spLocks noGrp="1"/>
          </p:cNvSpPr>
          <p:nvPr>
            <p:ph type="title"/>
          </p:nvPr>
        </p:nvSpPr>
        <p:spPr>
          <a:xfrm>
            <a:off x="838200" y="0"/>
            <a:ext cx="10515600" cy="1325563"/>
          </a:xfrm>
        </p:spPr>
        <p:txBody>
          <a:bodyPr>
            <a:normAutofit/>
          </a:bodyPr>
          <a:lstStyle/>
          <a:p>
            <a:r>
              <a:rPr kumimoji="1" lang="en-US" altLang="zh-CN" sz="4000" b="1" dirty="0">
                <a:latin typeface="Century Gothic" panose="020B0502020202020204" pitchFamily="34" charset="0"/>
              </a:rPr>
              <a:t>Next week…</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FD0DFA93-F961-8DB9-6735-5EC134B68962}"/>
              </a:ext>
            </a:extLst>
          </p:cNvPr>
          <p:cNvSpPr>
            <a:spLocks noGrp="1"/>
          </p:cNvSpPr>
          <p:nvPr>
            <p:ph idx="1"/>
          </p:nvPr>
        </p:nvSpPr>
        <p:spPr>
          <a:xfrm>
            <a:off x="838200" y="1606577"/>
            <a:ext cx="10515600" cy="4351338"/>
          </a:xfrm>
        </p:spPr>
        <p:txBody>
          <a:bodyPr/>
          <a:lstStyle/>
          <a:p>
            <a:r>
              <a:rPr kumimoji="1" lang="en-US" altLang="zh-CN" dirty="0">
                <a:latin typeface="Century Gothic" panose="020B0502020202020204" pitchFamily="34" charset="0"/>
              </a:rPr>
              <a:t>We’ll have group discussion leaders!</a:t>
            </a:r>
          </a:p>
          <a:p>
            <a:pPr lvl="1"/>
            <a:r>
              <a:rPr kumimoji="1" lang="en-US" altLang="zh-CN" dirty="0">
                <a:latin typeface="Century Gothic" panose="020B0502020202020204" pitchFamily="34" charset="0"/>
              </a:rPr>
              <a:t>I’ll send the final assignment of group leaders via email before this Saturday noon.</a:t>
            </a:r>
          </a:p>
          <a:p>
            <a:r>
              <a:rPr kumimoji="1" lang="en-US" altLang="zh-CN" dirty="0">
                <a:latin typeface="Century Gothic" panose="020B0502020202020204" pitchFamily="34" charset="0"/>
              </a:rPr>
              <a:t>Read materials on </a:t>
            </a:r>
            <a:r>
              <a:rPr kumimoji="1" lang="en-US" altLang="zh-CN" b="1" dirty="0">
                <a:latin typeface="Century Gothic" panose="020B0502020202020204" pitchFamily="34" charset="0"/>
              </a:rPr>
              <a:t>Constitutional Foundations </a:t>
            </a:r>
            <a:r>
              <a:rPr kumimoji="1" lang="en-US" altLang="zh-CN" dirty="0">
                <a:latin typeface="Century Gothic" panose="020B0502020202020204" pitchFamily="34" charset="0"/>
              </a:rPr>
              <a:t>before class, and that will be helpful to participate in peer discussions.</a:t>
            </a:r>
          </a:p>
          <a:p>
            <a:endParaRPr kumimoji="1" lang="en-US" altLang="zh-CN" dirty="0">
              <a:latin typeface="Century Gothic" panose="020B0502020202020204" pitchFamily="34" charset="0"/>
            </a:endParaRPr>
          </a:p>
          <a:p>
            <a:r>
              <a:rPr kumimoji="1" lang="en-US" altLang="zh-CN" dirty="0">
                <a:latin typeface="Century Gothic" panose="020B0502020202020204" pitchFamily="34" charset="0"/>
              </a:rPr>
              <a:t>ENJOY YOUR WEEKEND!</a:t>
            </a:r>
          </a:p>
          <a:p>
            <a:endParaRPr kumimoji="1" lang="zh-CN" altLang="en-US" dirty="0">
              <a:latin typeface="Century Gothic" panose="020B0502020202020204" pitchFamily="34" charset="0"/>
            </a:endParaRPr>
          </a:p>
        </p:txBody>
      </p:sp>
    </p:spTree>
    <p:extLst>
      <p:ext uri="{BB962C8B-B14F-4D97-AF65-F5344CB8AC3E}">
        <p14:creationId xmlns:p14="http://schemas.microsoft.com/office/powerpoint/2010/main" val="50742297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2691</TotalTime>
  <Words>1138</Words>
  <Application>Microsoft Macintosh PowerPoint</Application>
  <PresentationFormat>宽屏</PresentationFormat>
  <Paragraphs>105</Paragraphs>
  <Slides>8</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等线</vt:lpstr>
      <vt:lpstr>等线 Light</vt:lpstr>
      <vt:lpstr>Arial</vt:lpstr>
      <vt:lpstr>Century Gothic</vt:lpstr>
      <vt:lpstr>Office 主题​​</vt:lpstr>
      <vt:lpstr>2. Political Values &amp; Democracy</vt:lpstr>
      <vt:lpstr>More Details about Group Discussion</vt:lpstr>
      <vt:lpstr>Major Purposes of the Government</vt:lpstr>
      <vt:lpstr>Freedom, Order, and Equality </vt:lpstr>
      <vt:lpstr>Ideologies</vt:lpstr>
      <vt:lpstr>Democracy</vt:lpstr>
      <vt:lpstr>Procedural Democracy</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 Zhao</dc:creator>
  <cp:lastModifiedBy>sy Zhao</cp:lastModifiedBy>
  <cp:revision>28</cp:revision>
  <dcterms:created xsi:type="dcterms:W3CDTF">2025-08-13T18:40:43Z</dcterms:created>
  <dcterms:modified xsi:type="dcterms:W3CDTF">2025-09-06T02:03:11Z</dcterms:modified>
</cp:coreProperties>
</file>