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8" r:id="rId4"/>
    <p:sldId id="273" r:id="rId5"/>
    <p:sldId id="277" r:id="rId6"/>
    <p:sldId id="279" r:id="rId7"/>
    <p:sldId id="281" r:id="rId8"/>
    <p:sldId id="280" r:id="rId9"/>
    <p:sldId id="282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4"/>
    <p:restoredTop sz="84563"/>
  </p:normalViewPr>
  <p:slideViewPr>
    <p:cSldViewPr snapToGrid="0">
      <p:cViewPr varScale="1">
        <p:scale>
          <a:sx n="87" d="100"/>
          <a:sy n="87" d="100"/>
        </p:scale>
        <p:origin x="21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C2761-774B-F042-9BD3-0C52A688F4FB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92E27-0BA6-464B-8F92-818B943024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Today we re going to talk about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08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600" dirty="0"/>
              <a:t>有没有新成员进入？</a:t>
            </a:r>
            <a:r>
              <a:rPr kumimoji="1" lang="en-US" altLang="zh-CN" sz="1600" dirty="0"/>
              <a:t>Civil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rights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march</a:t>
            </a:r>
          </a:p>
          <a:p>
            <a:r>
              <a:rPr kumimoji="1" lang="zh-CN" altLang="en-US" sz="1600" dirty="0"/>
              <a:t>答案会随政治语境而变化：学生会</a:t>
            </a:r>
            <a:r>
              <a:rPr kumimoji="1" lang="en-US" altLang="zh-CN" sz="1600" dirty="0"/>
              <a:t>(</a:t>
            </a:r>
            <a:r>
              <a:rPr kumimoji="1" lang="zh-CN" altLang="en-US" sz="1600" dirty="0"/>
              <a:t>美国，中国</a:t>
            </a:r>
            <a:r>
              <a:rPr kumimoji="1" lang="en-US" altLang="zh-CN" sz="1600" dirty="0"/>
              <a:t>)</a:t>
            </a:r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675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4015E-7C30-95E0-50B7-2BC75A19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407B06-328E-B4C4-79CE-77515F6CC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FE706A-9F42-8BFA-6CCD-149A2B826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3F599-BBF3-CD7F-FE75-BFACA0AD0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658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28DC-9620-41E7-B96A-CA01E6CF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E0AF89-89D5-489D-07AC-4CE0A44A5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A5A20E-CEA6-2270-1030-48B82B136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600" dirty="0"/>
              <a:t>Share some of your experiences of “conventional participation”!</a:t>
            </a:r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36ADAA-E146-684B-A076-081810DA2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038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E40A-A8F4-FDE3-3612-62CC209BD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DE4750-D1A4-38C5-F498-193DD6811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7A7F0E-14E6-3716-BCB6-AC1F579F7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34AB4D-6D58-DCD7-3730-62CA58F68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1743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1A6B8-DBF6-653D-C021-92E45F9EF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8E699A-0AB5-0E24-FB9E-11CCB72AA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DE4121-0450-A5C5-FE37-F8DF080DE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600" dirty="0"/>
              <a:t>3 minutes to read this material</a:t>
            </a:r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EFAA9D-F0D6-A583-9C73-B64E11A44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027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FFF0C-E046-FC09-B575-4E8782BE5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8690951-1659-06DA-88FB-83CAA1B2F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E0815F-B503-2DBA-1506-8E16581AC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A15BCA-B771-E21C-7A04-E57226DC4D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9968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740F9-EB97-B6EE-CA26-7ABF9EDCF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615E34-B955-0914-269C-9A62FB44E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3A7C70-79A8-9969-385E-85D147E42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600" dirty="0"/>
              <a:t>Raise your hands -&gt; share ideas</a:t>
            </a:r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1ED464-C0B3-1E50-957F-C67F1B2F96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2383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6766C-DFE1-9530-EA5F-FA7488C0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CF6105-D7DE-F3BF-120E-9C91B5FB2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886E11-C649-04B3-31D0-BA93734F3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C212E6-2373-1A00-BE70-E3C4F347D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3531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9CAC4-5603-9540-4746-DF7D478F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3E1C22-AA04-379D-70C6-A670FBE5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DF2C8-367E-2D45-DF75-FE56AEE4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AD1C0-22F7-2B75-E5B6-416C33DE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D5D4F-5543-EF94-7D9E-26E2EB42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58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83152-C981-6237-7465-0F9D4C52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A163B-9301-5E7F-A6C9-6D50534B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EFE64-6FB4-1927-0FA3-40A1ED4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80ED6-E235-BE41-6C84-57A95172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644E8-37BB-F946-0182-7EFE141D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9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50F04-C3CD-2F64-01B3-3226F98B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1D39D8-BB09-E9E1-AE46-BD0402C3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7D90E-E49A-C653-33E4-3399376B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BD9D7-4579-F439-2979-C756072B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7746B-C90D-95F8-97AA-3FFEA768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704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304D9-3BF5-05E6-96B1-4655A1D5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08483-110C-D43D-A3FD-2BB20209E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C839D-DA8C-28CB-E5BA-B4723E5B0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E45B9-76B7-AB04-8094-C8CE369E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E34B5-B673-FBFE-4EFF-91DAE128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9DB086-FF5A-FE0C-D4BB-2ED5948A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404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83DD5-6BE7-B60B-3830-1C916372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B3FFE-61EA-239B-F19E-01B329548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09DF50-77E9-6A8A-B7FD-52C3A0A2A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CBEA94-5C16-949F-958E-F32A629BA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3CCEDE-D71C-351E-8E59-1DC6C8EEE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D051A4-8FC0-4958-27ED-3FD5D613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B8DCF7-45C3-EA2A-1701-202A609F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C826FD-6CBB-9310-BCE6-0AFD91F0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6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7DEE7-0D18-A3AB-6312-227BEE98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787988-EB72-BBF2-97A0-18FCAEDE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1DEEEE-9CED-3233-301C-D61D4952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FAB2A8-6D82-8150-1ACA-546DA505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539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5F89BB-2D98-C933-488B-E600CB06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7A268E-C4F6-B77D-1351-5DE83C0A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F8E4A0-1ACD-7A8E-7C68-98F88D65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8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C987B-49C3-BFCA-7CA6-9ADDA15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30DC1-52A9-D64F-9566-03B17EB21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7648F5-B097-B233-8517-D224C2405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E39B80-C04B-2C82-D564-BE82DA11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4910C-3003-45C9-57B8-FCF2A71F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572AEE-EF5E-7D71-EEBA-B8379AA6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91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A6230-C7A5-86BA-5615-904D96A6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371D64-943D-9794-C679-047246E73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449E2F-39C8-500F-46E0-0C78B039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A0B88-6CC1-DD08-915A-A518D5E2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EC198-B676-0D20-89AE-543DC463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72265-ADC9-100E-D5B9-3493AC71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34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69B29-53BC-8508-9E8C-83082E83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1E39E-2C6E-E37C-2D42-EA3A82518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2F3AD-94BB-4CB2-C858-7F07E36D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73678-DBC5-35FE-7720-4954170E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E6E86-AEF4-9E51-11FF-DBEEDF93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316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3943D8-D242-3E2F-C24F-4E005E76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29DC73-6886-F0DB-9DA5-9ED96CE82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B799C-9E0E-429F-C629-2A186266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4BFC4-5811-57DC-FF5C-4868DB2A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A7796-940B-415F-C832-E381105E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12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E35921-9950-2FB0-6355-6B06F016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1B157-D31D-54B9-7D6A-F6D4AD6AC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F31D3-1A38-6B87-4306-66D57169E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FA171-DF96-1B41-A089-FAB6FE9A340F}" type="datetimeFigureOut">
              <a:rPr kumimoji="1" lang="zh-CN" altLang="en-US" smtClean="0"/>
              <a:t>2025/11/12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11102-B856-C277-A8F6-8D6AF8F93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88C62-D975-E146-FD0A-E318C5405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23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E6EF4-2BC6-E096-750F-ECCBB9D42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3606" y="639193"/>
            <a:ext cx="9444788" cy="15986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5000" b="1" dirty="0">
                <a:latin typeface="Century Gothic" panose="020B0502020202020204" pitchFamily="34" charset="0"/>
              </a:rPr>
              <a:t>14. Participation &amp; Voting</a:t>
            </a:r>
            <a:endParaRPr kumimoji="1" lang="zh-CN" altLang="en-US" sz="5000" dirty="0">
              <a:latin typeface="Century Gothic" panose="020B0502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47D000-FF03-80F2-FC6B-25D1B58BD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998"/>
            <a:ext cx="9144000" cy="2982311"/>
          </a:xfrm>
        </p:spPr>
        <p:txBody>
          <a:bodyPr>
            <a:normAutofit lnSpcReduction="10000"/>
          </a:bodyPr>
          <a:lstStyle/>
          <a:p>
            <a:r>
              <a:rPr kumimoji="1" lang="en-US" altLang="zh-CN" b="1" dirty="0">
                <a:latin typeface="Century Gothic" panose="020B0502020202020204" pitchFamily="34" charset="0"/>
              </a:rPr>
              <a:t>Breakout Sessions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POLS 1101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12:40pm-1:30pm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Park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Hall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145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&amp;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1:50pm-2:40pm Leconte Hall 135</a:t>
            </a:r>
          </a:p>
          <a:p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SIYUAN (Siri) ZHAO</a:t>
            </a:r>
          </a:p>
          <a:p>
            <a:r>
              <a:rPr kumimoji="1" lang="en-US" altLang="zh-CN" b="1" dirty="0" err="1">
                <a:latin typeface="Century Gothic" panose="020B0502020202020204" pitchFamily="34" charset="0"/>
              </a:rPr>
              <a:t>Siri.Zhao@uga.edu</a:t>
            </a:r>
            <a:endParaRPr kumimoji="1" lang="zh-CN" alt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78BB4-4865-3E7B-0D4E-C002FE68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Political Participation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27992-FA10-911D-8961-FB5AE68C2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990006" cy="551583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Elections don’t guarantee democracy -&gt; We need </a:t>
            </a:r>
            <a:r>
              <a:rPr lang="en-US" altLang="zh-CN" sz="2200" b="1" dirty="0">
                <a:latin typeface="Century Gothic" panose="020B0502020202020204" pitchFamily="34" charset="0"/>
              </a:rPr>
              <a:t>regular, competitive </a:t>
            </a:r>
            <a:r>
              <a:rPr lang="en-US" altLang="zh-CN" sz="2200" dirty="0">
                <a:latin typeface="Century Gothic" panose="020B0502020202020204" pitchFamily="34" charset="0"/>
              </a:rPr>
              <a:t>ones</a:t>
            </a:r>
          </a:p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Beyond elections, people need channels to influence politics.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Conventional participation</a:t>
            </a:r>
            <a:endParaRPr lang="en-US" altLang="zh-CN" sz="20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Unconventional participation </a:t>
            </a:r>
            <a:r>
              <a:rPr lang="en-US" altLang="zh-CN" sz="2000" dirty="0">
                <a:latin typeface="Century Gothic" panose="020B0502020202020204" pitchFamily="34" charset="0"/>
              </a:rPr>
              <a:t>(political “resistance” / contentious politics)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10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Is there clear distinction between “conventional” and “unconventional” participation?</a:t>
            </a:r>
            <a:r>
              <a:rPr lang="zh-CN" altLang="en-US" sz="2000" b="1" dirty="0">
                <a:latin typeface="Century Gothic" panose="020B0502020202020204" pitchFamily="34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What matters more in judging, intent</a:t>
            </a:r>
            <a:r>
              <a:rPr lang="en-US" altLang="zh-CN" sz="2000" dirty="0">
                <a:solidFill>
                  <a:srgbClr val="FF0000"/>
                </a:solidFill>
                <a:latin typeface="Century Gothic" panose="020B0502020202020204" pitchFamily="34" charset="0"/>
              </a:rPr>
              <a:t> (to change policy vs. to overthrow authority) matter or </a:t>
            </a: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method</a:t>
            </a:r>
            <a:r>
              <a:rPr lang="en-US" altLang="zh-CN" sz="2000" dirty="0">
                <a:solidFill>
                  <a:srgbClr val="FF0000"/>
                </a:solidFill>
                <a:latin typeface="Century Gothic" panose="020B0502020202020204" pitchFamily="34" charset="0"/>
              </a:rPr>
              <a:t> (legal vs. illegal)?</a:t>
            </a:r>
            <a:endParaRPr lang="en-US" altLang="zh-CN" sz="20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onstantia" panose="02030602050306030303" pitchFamily="18" charset="0"/>
              </a:rPr>
              <a:t>Teachers’ strike for higher salaries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onstantia" panose="02030602050306030303" pitchFamily="18" charset="0"/>
              </a:rPr>
              <a:t>Online petition against a new surveillance law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onstantia" panose="02030602050306030303" pitchFamily="18" charset="0"/>
              </a:rPr>
              <a:t>Civil rights march with government permit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onstantia" panose="02030602050306030303" pitchFamily="18" charset="0"/>
              </a:rPr>
              <a:t>Farmers block highways to protest low crop prices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onstantia" panose="02030602050306030303" pitchFamily="18" charset="0"/>
              </a:rPr>
              <a:t>A student organization hosts a campus debate on voting reform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onstantia" panose="02030602050306030303" pitchFamily="18" charset="0"/>
              </a:rPr>
              <a:t>Environmental NGO sues the government for failing to meet emission targets</a:t>
            </a:r>
          </a:p>
          <a:p>
            <a:pPr lvl="2">
              <a:lnSpc>
                <a:spcPct val="100000"/>
              </a:lnSpc>
            </a:pPr>
            <a:r>
              <a:rPr lang="en-US" altLang="zh-CN" dirty="0">
                <a:latin typeface="Constantia" panose="02030602050306030303" pitchFamily="18" charset="0"/>
              </a:rPr>
              <a:t>Voters boycott an election to protest corruption</a:t>
            </a:r>
          </a:p>
        </p:txBody>
      </p:sp>
    </p:spTree>
    <p:extLst>
      <p:ext uri="{BB962C8B-B14F-4D97-AF65-F5344CB8AC3E}">
        <p14:creationId xmlns:p14="http://schemas.microsoft.com/office/powerpoint/2010/main" val="3961837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86F16-9FF2-0C95-D10C-7464FE9C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E344E-C485-BD9A-0D2F-144EA77D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Unconventional Participation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4BEA0A-7F6B-738C-2DB6-849C854CE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878519" cy="553243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Key feature: (the intent) against the established order/norms/institutions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Some other characteristics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Collective action involving “new” agents (e.g. the Selma Marches)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kumimoji="1" lang="en-US" altLang="zh-CN" sz="2000" dirty="0">
                <a:latin typeface="Constantia" panose="02030602050306030303" pitchFamily="18" charset="0"/>
              </a:rPr>
              <a:t>-&gt; </a:t>
            </a:r>
            <a:r>
              <a:rPr kumimoji="1" lang="en-US" altLang="zh-CN" sz="2000" b="1" dirty="0">
                <a:latin typeface="Constantia" panose="02030602050306030303" pitchFamily="18" charset="0"/>
              </a:rPr>
              <a:t>Direct action</a:t>
            </a:r>
            <a:r>
              <a:rPr kumimoji="1" lang="en-US" altLang="zh-CN" sz="2000" dirty="0">
                <a:latin typeface="Constantia" panose="02030602050306030303" pitchFamily="18" charset="0"/>
              </a:rPr>
              <a:t>: unconventional participation that involves </a:t>
            </a:r>
            <a:r>
              <a:rPr kumimoji="1" lang="en-US" altLang="zh-CN" sz="2000" b="1" dirty="0">
                <a:latin typeface="Constantia" panose="02030602050306030303" pitchFamily="18" charset="0"/>
              </a:rPr>
              <a:t>assembling crowds </a:t>
            </a:r>
            <a:r>
              <a:rPr kumimoji="1" lang="en-US" altLang="zh-CN" sz="2000" dirty="0">
                <a:latin typeface="Constantia" panose="02030602050306030303" pitchFamily="18" charset="0"/>
              </a:rPr>
              <a:t>to confront businesses and local governments to demand a hearing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Unconventional / ”illegal” methods (varied, contextualized definitions)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Depending on some political opportunity structures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Always having emotional and symbolic slogans / claims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kumimoji="1" lang="en-US" altLang="zh-CN" sz="2000" dirty="0">
                <a:latin typeface="Constantia" panose="02030602050306030303" pitchFamily="18" charset="0"/>
              </a:rPr>
              <a:t>-&gt; People using unconventional behavior often have a strong </a:t>
            </a:r>
            <a:r>
              <a:rPr kumimoji="1" lang="en-US" altLang="zh-CN" sz="2000" b="1" dirty="0">
                <a:latin typeface="Constantia" panose="02030602050306030303" pitchFamily="18" charset="0"/>
              </a:rPr>
              <a:t>group consciousness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Can lead to social change, or damage (depending on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state capacity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and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government responsiveness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Should governments tolerate disruptive but nonviolent actions (e.g. sit-ins)?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When, if ever, is violent political participation justified?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Freedom, Order, and Equality</a:t>
            </a: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586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828F-98B4-0444-DF92-C3D4A45A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7DF19-AE2F-E17B-5060-D172DE00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0"/>
            <a:ext cx="10808368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Conventional Participation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4461B-7676-BF5C-15AD-6B279E37D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484" y="1199439"/>
            <a:ext cx="11353799" cy="5914283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The objective of democratic institutions is </a:t>
            </a:r>
            <a:r>
              <a:rPr lang="en-US" altLang="zh-CN" sz="2200" b="1" dirty="0">
                <a:latin typeface="Century Gothic" panose="020B0502020202020204" pitchFamily="34" charset="0"/>
              </a:rPr>
              <a:t>to make political participation conventional. </a:t>
            </a:r>
            <a:endParaRPr lang="en-US" altLang="zh-CN" sz="2200" dirty="0">
              <a:latin typeface="Century Gothic" panose="020B0502020202020204" pitchFamily="34" charset="0"/>
            </a:endParaRP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For particular benefits </a:t>
            </a:r>
            <a:r>
              <a:rPr lang="en-US" altLang="zh-CN" sz="2000" dirty="0">
                <a:latin typeface="Century Gothic" panose="020B0502020202020204" pitchFamily="34" charset="0"/>
              </a:rPr>
              <a:t>(supported by rationalism and pluralism): ask for services from the local government; contributing money to a candidate’s campaign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For broad policy objectives </a:t>
            </a:r>
            <a:r>
              <a:rPr lang="en-US" altLang="zh-CN" sz="2000" dirty="0">
                <a:latin typeface="Century Gothic" panose="020B0502020202020204" pitchFamily="34" charset="0"/>
              </a:rPr>
              <a:t>(not directly related to individuals)</a:t>
            </a:r>
          </a:p>
          <a:p>
            <a:pPr lvl="2">
              <a:lnSpc>
                <a:spcPct val="105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Often related to elections, but not</a:t>
            </a:r>
            <a:r>
              <a:rPr lang="zh-CN" altLang="en-US" sz="1800" dirty="0">
                <a:latin typeface="Century Gothic" panose="020B0502020202020204" pitchFamily="34" charset="0"/>
              </a:rPr>
              <a:t> </a:t>
            </a:r>
            <a:r>
              <a:rPr lang="en-US" altLang="zh-CN" sz="1800" dirty="0">
                <a:latin typeface="Century Gothic" panose="020B0502020202020204" pitchFamily="34" charset="0"/>
              </a:rPr>
              <a:t>restricted in elections!</a:t>
            </a:r>
          </a:p>
          <a:p>
            <a:pPr lvl="2">
              <a:lnSpc>
                <a:spcPct val="105000"/>
              </a:lnSpc>
            </a:pPr>
            <a:endParaRPr lang="en-US" altLang="zh-CN" sz="1800" dirty="0">
              <a:latin typeface="Century Gothic" panose="020B0502020202020204" pitchFamily="34" charset="0"/>
            </a:endParaRPr>
          </a:p>
          <a:p>
            <a:pPr lvl="2">
              <a:lnSpc>
                <a:spcPct val="105000"/>
              </a:lnSpc>
            </a:pPr>
            <a:endParaRPr lang="en-US" altLang="zh-CN" sz="1800" dirty="0">
              <a:latin typeface="Century Gothic" panose="020B0502020202020204" pitchFamily="34" charset="0"/>
            </a:endParaRPr>
          </a:p>
          <a:p>
            <a:pPr lvl="2">
              <a:lnSpc>
                <a:spcPct val="105000"/>
              </a:lnSpc>
            </a:pPr>
            <a:endParaRPr lang="en-US" altLang="zh-CN" sz="1800" dirty="0">
              <a:latin typeface="Century Gothic" panose="020B0502020202020204" pitchFamily="34" charset="0"/>
            </a:endParaRPr>
          </a:p>
          <a:p>
            <a:pPr lvl="2">
              <a:lnSpc>
                <a:spcPct val="105000"/>
              </a:lnSpc>
            </a:pPr>
            <a:endParaRPr lang="en-US" altLang="zh-CN" sz="1800" dirty="0">
              <a:latin typeface="Century Gothic" panose="020B0502020202020204" pitchFamily="34" charset="0"/>
            </a:endParaRPr>
          </a:p>
          <a:p>
            <a:pPr marL="914400" lvl="2" indent="0">
              <a:lnSpc>
                <a:spcPct val="105000"/>
              </a:lnSpc>
              <a:buNone/>
            </a:pPr>
            <a:endParaRPr lang="en-US" altLang="zh-CN" sz="1800" dirty="0">
              <a:latin typeface="Century Gothic" panose="020B0502020202020204" pitchFamily="34" charset="0"/>
            </a:endParaRPr>
          </a:p>
          <a:p>
            <a:pPr marL="914400" lvl="2" indent="0">
              <a:lnSpc>
                <a:spcPct val="105000"/>
              </a:lnSpc>
              <a:buNone/>
            </a:pPr>
            <a:endParaRPr lang="en-US" altLang="zh-CN" sz="1800" dirty="0">
              <a:latin typeface="Century Gothic" panose="020B0502020202020204" pitchFamily="34" charset="0"/>
            </a:endParaRPr>
          </a:p>
          <a:p>
            <a:pPr marL="914400" lvl="2" indent="0">
              <a:lnSpc>
                <a:spcPct val="105000"/>
              </a:lnSpc>
              <a:buNone/>
            </a:pPr>
            <a:endParaRPr lang="en-US" altLang="zh-CN" sz="1800" dirty="0">
              <a:latin typeface="Century Gothic" panose="020B0502020202020204" pitchFamily="34" charset="0"/>
            </a:endParaRPr>
          </a:p>
          <a:p>
            <a:pPr lvl="2">
              <a:lnSpc>
                <a:spcPct val="105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Legislative process: </a:t>
            </a:r>
            <a:r>
              <a:rPr lang="en-US" altLang="zh-CN" sz="1800" b="1" dirty="0">
                <a:latin typeface="Century Gothic" panose="020B0502020202020204" pitchFamily="34" charset="0"/>
              </a:rPr>
              <a:t>congressional hearing</a:t>
            </a:r>
          </a:p>
          <a:p>
            <a:pPr lvl="2">
              <a:lnSpc>
                <a:spcPct val="105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Judicial process: </a:t>
            </a:r>
            <a:r>
              <a:rPr lang="en-US" altLang="zh-CN" sz="1800" b="1" dirty="0">
                <a:latin typeface="Century Gothic" panose="020B0502020202020204" pitchFamily="34" charset="0"/>
              </a:rPr>
              <a:t>class action suit </a:t>
            </a:r>
            <a:r>
              <a:rPr lang="en-US" altLang="zh-CN" sz="1800" dirty="0">
                <a:latin typeface="Century Gothic" panose="020B0502020202020204" pitchFamily="34" charset="0"/>
              </a:rPr>
              <a:t>(a legal action brought by a person or group on behalf of a number of people in similar circumstances)</a:t>
            </a: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zh-CN" sz="24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zh-CN" sz="2200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  <p:pic>
        <p:nvPicPr>
          <p:cNvPr id="7" name="图片 6" descr="徽标, 公司名称&#10;&#10;AI 生成的内容可能不正确。">
            <a:extLst>
              <a:ext uri="{FF2B5EF4-FFF2-40B4-BE49-F238E27FC236}">
                <a16:creationId xmlns:a16="http://schemas.microsoft.com/office/drawing/2014/main" id="{15992342-B64D-4AAD-D930-5AB79FCF1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246" b="17459"/>
          <a:stretch>
            <a:fillRect/>
          </a:stretch>
        </p:blipFill>
        <p:spPr>
          <a:xfrm>
            <a:off x="3130010" y="3429000"/>
            <a:ext cx="5409556" cy="249905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FE37531-79A3-8CF7-8E8D-73E6E8D6752F}"/>
              </a:ext>
            </a:extLst>
          </p:cNvPr>
          <p:cNvSpPr txBox="1"/>
          <p:nvPr/>
        </p:nvSpPr>
        <p:spPr>
          <a:xfrm>
            <a:off x="1305147" y="3984621"/>
            <a:ext cx="1714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0000"/>
                </a:solidFill>
                <a:latin typeface="Constantia" panose="02030602050306030303" pitchFamily="18" charset="0"/>
              </a:rPr>
              <a:t>Public</a:t>
            </a:r>
            <a:br>
              <a:rPr lang="en-US" altLang="zh-CN" b="1" dirty="0">
                <a:solidFill>
                  <a:srgbClr val="FF0000"/>
                </a:solidFill>
                <a:latin typeface="Constantia" panose="02030602050306030303" pitchFamily="18" charset="0"/>
              </a:rPr>
            </a:br>
            <a:r>
              <a:rPr lang="en-US" altLang="zh-CN" b="1" dirty="0">
                <a:solidFill>
                  <a:srgbClr val="FF0000"/>
                </a:solidFill>
                <a:latin typeface="Constantia" panose="02030602050306030303" pitchFamily="18" charset="0"/>
              </a:rPr>
              <a:t>Service</a:t>
            </a:r>
            <a:br>
              <a:rPr lang="en-US" altLang="zh-CN" b="1" dirty="0">
                <a:solidFill>
                  <a:srgbClr val="FF0000"/>
                </a:solidFill>
                <a:latin typeface="Constantia" panose="02030602050306030303" pitchFamily="18" charset="0"/>
              </a:rPr>
            </a:br>
            <a:r>
              <a:rPr lang="en-US" altLang="zh-CN" b="1" dirty="0">
                <a:solidFill>
                  <a:srgbClr val="FF0000"/>
                </a:solidFill>
                <a:latin typeface="Constantia" panose="02030602050306030303" pitchFamily="18" charset="0"/>
              </a:rPr>
              <a:t>Motivation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3B2890-7546-6525-721B-DF9D6032822B}"/>
              </a:ext>
            </a:extLst>
          </p:cNvPr>
          <p:cNvSpPr txBox="1"/>
          <p:nvPr/>
        </p:nvSpPr>
        <p:spPr>
          <a:xfrm>
            <a:off x="8649930" y="3984621"/>
            <a:ext cx="1714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US" altLang="zh-CN" b="1" dirty="0">
                <a:solidFill>
                  <a:srgbClr val="FF0000"/>
                </a:solidFill>
                <a:latin typeface="Constantia" panose="02030602050306030303" pitchFamily="18" charset="0"/>
              </a:rPr>
            </a:br>
            <a:r>
              <a:rPr lang="en-US" altLang="zh-CN" b="1" dirty="0">
                <a:solidFill>
                  <a:srgbClr val="FF0000"/>
                </a:solidFill>
                <a:latin typeface="Constantia" panose="02030602050306030303" pitchFamily="18" charset="0"/>
              </a:rPr>
              <a:t>Resources</a:t>
            </a:r>
            <a:br>
              <a:rPr lang="en-US" altLang="zh-CN" b="1" dirty="0">
                <a:solidFill>
                  <a:srgbClr val="FF0000"/>
                </a:solidFill>
                <a:latin typeface="Constantia" panose="02030602050306030303" pitchFamily="18" charset="0"/>
              </a:rPr>
            </a:b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340C3D0-B994-162C-EC1F-1B976028B6FA}"/>
              </a:ext>
            </a:extLst>
          </p:cNvPr>
          <p:cNvSpPr txBox="1"/>
          <p:nvPr/>
        </p:nvSpPr>
        <p:spPr>
          <a:xfrm>
            <a:off x="8536581" y="276554"/>
            <a:ext cx="36524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dirty="0">
                <a:solidFill>
                  <a:srgbClr val="FF0000"/>
                </a:solidFill>
                <a:latin typeface="Constantia" panose="02030602050306030303" pitchFamily="18" charset="0"/>
              </a:rPr>
              <a:t>Share some of your experiences of “conventional participation”!</a:t>
            </a:r>
            <a:endParaRPr kumimoji="1" lang="zh-CN" altLang="en-US" sz="1800" b="1" dirty="0">
              <a:solidFill>
                <a:srgbClr val="FF0000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7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A159-6E09-DF20-2CF9-5B674EF4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04DB59-FBA6-E571-4BCA-B4175B80B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85" y="1325563"/>
            <a:ext cx="11509429" cy="5291805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Key concepts: </a:t>
            </a:r>
            <a:r>
              <a:rPr lang="en-US" altLang="zh-CN" sz="2200" dirty="0">
                <a:latin typeface="Century Gothic" panose="020B0502020202020204" pitchFamily="34" charset="0"/>
              </a:rPr>
              <a:t>suffrage / franchise (right to vote), voter turnout (actual voting rate)</a:t>
            </a: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Expansion of suffrage – </a:t>
            </a: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Equality (Elections serve most the ideal of equality.)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Blacks: </a:t>
            </a:r>
            <a:r>
              <a:rPr lang="en-US" altLang="zh-CN" sz="2000" i="1" dirty="0">
                <a:latin typeface="Century Gothic" panose="020B0502020202020204" pitchFamily="34" charset="0"/>
              </a:rPr>
              <a:t>Smith v. Allwright (1944) </a:t>
            </a:r>
            <a:r>
              <a:rPr lang="en-US" altLang="zh-CN" sz="2000" dirty="0">
                <a:latin typeface="Century Gothic" panose="020B0502020202020204" pitchFamily="34" charset="0"/>
              </a:rPr>
              <a:t>-&gt; </a:t>
            </a:r>
            <a:r>
              <a:rPr lang="en-US" altLang="zh-CN" sz="2000" b="1" dirty="0">
                <a:latin typeface="Century Gothic" panose="020B0502020202020204" pitchFamily="34" charset="0"/>
              </a:rPr>
              <a:t>the Voting Rights Act of 1965 </a:t>
            </a:r>
            <a:r>
              <a:rPr lang="en-US" altLang="zh-CN" sz="2000" dirty="0">
                <a:latin typeface="Century Gothic" panose="020B0502020202020204" pitchFamily="34" charset="0"/>
              </a:rPr>
              <a:t>-&gt; </a:t>
            </a:r>
            <a:r>
              <a:rPr lang="en-US" altLang="zh-CN" sz="2000" i="1" dirty="0">
                <a:latin typeface="Century Gothic" panose="020B0502020202020204" pitchFamily="34" charset="0"/>
              </a:rPr>
              <a:t>Harper v. Virginia State Board of Elections (1966)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Women: </a:t>
            </a:r>
            <a:r>
              <a:rPr lang="en-US" altLang="zh-CN" sz="2000" dirty="0">
                <a:latin typeface="Century Gothic" panose="020B0502020202020204" pitchFamily="34" charset="0"/>
              </a:rPr>
              <a:t>Wyoming (1869) -&gt; Equal Rights Party -&gt;</a:t>
            </a:r>
            <a:r>
              <a:rPr lang="en-US" altLang="zh-CN" sz="2000" b="1" dirty="0">
                <a:latin typeface="Century Gothic" panose="020B0502020202020204" pitchFamily="34" charset="0"/>
              </a:rPr>
              <a:t> the 19</a:t>
            </a:r>
            <a:r>
              <a:rPr lang="en-US" altLang="zh-CN" sz="2000" b="1" baseline="30000" dirty="0">
                <a:latin typeface="Century Gothic" panose="020B0502020202020204" pitchFamily="34" charset="0"/>
              </a:rPr>
              <a:t>th</a:t>
            </a:r>
            <a:r>
              <a:rPr lang="en-US" altLang="zh-CN" sz="2000" b="1" dirty="0">
                <a:latin typeface="Century Gothic" panose="020B0502020202020204" pitchFamily="34" charset="0"/>
              </a:rPr>
              <a:t> Amendment (1919)</a:t>
            </a:r>
          </a:p>
          <a:p>
            <a:pPr lvl="1">
              <a:lnSpc>
                <a:spcPct val="105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The 26</a:t>
            </a:r>
            <a:r>
              <a:rPr lang="en-US" altLang="zh-CN" sz="2000" b="1" baseline="30000" dirty="0">
                <a:latin typeface="Century Gothic" panose="020B0502020202020204" pitchFamily="34" charset="0"/>
              </a:rPr>
              <a:t>th</a:t>
            </a:r>
            <a:r>
              <a:rPr lang="en-US" altLang="zh-CN" sz="2000" b="1" dirty="0">
                <a:latin typeface="Century Gothic" panose="020B0502020202020204" pitchFamily="34" charset="0"/>
              </a:rPr>
              <a:t> Amendment (1920)</a:t>
            </a:r>
            <a:r>
              <a:rPr lang="en-US" altLang="zh-CN" sz="2000" dirty="0">
                <a:latin typeface="Century Gothic" panose="020B0502020202020204" pitchFamily="34" charset="0"/>
              </a:rPr>
              <a:t>: lowering the voting age to eighteen</a:t>
            </a: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Voting on policies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Dating back to</a:t>
            </a:r>
            <a:r>
              <a:rPr lang="en-US" altLang="zh-CN" sz="2000" b="1" dirty="0">
                <a:latin typeface="Century Gothic" panose="020B0502020202020204" pitchFamily="34" charset="0"/>
              </a:rPr>
              <a:t> progressivism </a:t>
            </a:r>
          </a:p>
          <a:p>
            <a:pPr lvl="1">
              <a:lnSpc>
                <a:spcPct val="105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How? Initiative; referendum</a:t>
            </a:r>
          </a:p>
          <a:p>
            <a:pPr>
              <a:lnSpc>
                <a:spcPct val="105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Voting for (in the state and local level, even ALL kinds of) candidates</a:t>
            </a:r>
          </a:p>
          <a:p>
            <a:pPr lvl="1">
              <a:lnSpc>
                <a:spcPct val="105000"/>
              </a:lnSpc>
            </a:pPr>
            <a:r>
              <a:rPr lang="en-US" altLang="zh-CN" sz="1800" b="1" dirty="0">
                <a:latin typeface="Century Gothic" panose="020B0502020202020204" pitchFamily="34" charset="0"/>
              </a:rPr>
              <a:t>Ideal assumptions: </a:t>
            </a:r>
            <a:r>
              <a:rPr lang="en-US" altLang="zh-CN" sz="1800" dirty="0">
                <a:latin typeface="Century Gothic" panose="020B0502020202020204" pitchFamily="34" charset="0"/>
              </a:rPr>
              <a:t>1)</a:t>
            </a:r>
            <a:r>
              <a:rPr lang="zh-CN" altLang="en-US" sz="1800" dirty="0">
                <a:latin typeface="Century Gothic" panose="020B0502020202020204" pitchFamily="34" charset="0"/>
              </a:rPr>
              <a:t> </a:t>
            </a:r>
            <a:r>
              <a:rPr lang="en-US" altLang="zh-CN" sz="1800" dirty="0">
                <a:latin typeface="Century Gothic" panose="020B0502020202020204" pitchFamily="34" charset="0"/>
              </a:rPr>
              <a:t>Voters know what politicians are doing in office and participate actively;</a:t>
            </a:r>
          </a:p>
          <a:p>
            <a:pPr marL="457200" lvl="1" indent="0">
              <a:lnSpc>
                <a:spcPct val="105000"/>
              </a:lnSpc>
              <a:buNone/>
            </a:pPr>
            <a:r>
              <a:rPr lang="en-US" altLang="zh-CN" sz="1800" dirty="0">
                <a:latin typeface="Century Gothic" panose="020B0502020202020204" pitchFamily="34" charset="0"/>
              </a:rPr>
              <a:t>2) They can choose the “best” candidate, reelect the qualified incumbent and kick out bad ones;</a:t>
            </a:r>
          </a:p>
          <a:p>
            <a:pPr marL="457200" lvl="1" indent="0">
              <a:lnSpc>
                <a:spcPct val="105000"/>
              </a:lnSpc>
              <a:buNone/>
            </a:pPr>
            <a:r>
              <a:rPr lang="en-US" altLang="zh-CN" sz="1800" dirty="0">
                <a:latin typeface="Century Gothic" panose="020B0502020202020204" pitchFamily="34" charset="0"/>
              </a:rPr>
              <a:t>3) Officeholders are motivated to respond to public opinion by the threat of electoral defeat.</a:t>
            </a:r>
          </a:p>
          <a:p>
            <a:pPr lvl="1">
              <a:lnSpc>
                <a:spcPct val="105000"/>
              </a:lnSpc>
            </a:pPr>
            <a:endParaRPr lang="en-US" altLang="zh-CN" sz="2000" b="1" dirty="0">
              <a:latin typeface="Century Gothic" panose="020B0502020202020204" pitchFamily="34" charset="0"/>
            </a:endParaRPr>
          </a:p>
          <a:p>
            <a:pPr lvl="1">
              <a:lnSpc>
                <a:spcPct val="105000"/>
              </a:lnSpc>
            </a:pPr>
            <a:endParaRPr lang="en-US" altLang="zh-CN" sz="2000" b="1" dirty="0">
              <a:latin typeface="Century Gothic" panose="020B0502020202020204" pitchFamily="34" charset="0"/>
            </a:endParaRPr>
          </a:p>
          <a:p>
            <a:pPr lvl="1">
              <a:lnSpc>
                <a:spcPct val="105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5000"/>
              </a:lnSpc>
            </a:pPr>
            <a:endParaRPr kumimoji="1" lang="en-US" altLang="zh-CN" sz="1600" b="1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18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753FB3A-F8D3-064D-442A-DC7D8012FA2B}"/>
              </a:ext>
            </a:extLst>
          </p:cNvPr>
          <p:cNvSpPr txBox="1">
            <a:spLocks/>
          </p:cNvSpPr>
          <p:nvPr/>
        </p:nvSpPr>
        <p:spPr>
          <a:xfrm>
            <a:off x="341285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Participation</a:t>
            </a:r>
            <a:r>
              <a:rPr kumimoji="1" lang="zh-CN" altLang="en-US" sz="36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3600" b="1" dirty="0">
                <a:latin typeface="Century Gothic" panose="020B0502020202020204" pitchFamily="34" charset="0"/>
              </a:rPr>
              <a:t>through Voting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128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1F15A-64B3-74D3-FC96-229420363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D1291-A19F-A4B0-FAD8-06F006603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98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3400" b="1" dirty="0">
                <a:latin typeface="Century Gothic" panose="020B0502020202020204" pitchFamily="34" charset="0"/>
              </a:rPr>
              <a:t>Did shark attacks eat into Woodrow Wilson’s votes in 1916?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EE7AE9-F01B-1565-F613-DC5ABB349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041"/>
            <a:ext cx="11033502" cy="5532437"/>
          </a:xfrm>
        </p:spPr>
        <p:txBody>
          <a:bodyPr>
            <a:normAutofit/>
          </a:bodyPr>
          <a:lstStyle/>
          <a:p>
            <a:r>
              <a:rPr lang="en-US" altLang="zh-CN" sz="2200" b="1" dirty="0">
                <a:latin typeface="Constantia" panose="02030602050306030303" pitchFamily="18" charset="0"/>
              </a:rPr>
              <a:t>Achen and Bartels: </a:t>
            </a:r>
            <a:r>
              <a:rPr lang="en-US" altLang="zh-CN" sz="2200" dirty="0">
                <a:latin typeface="Constantia" panose="02030602050306030303" pitchFamily="18" charset="0"/>
              </a:rPr>
              <a:t>President Woodrow Wilson lost votes in affected counties because citizens irrationally punished him for “natural” events beyond his control — a phenomenon they called the “shark attack effect.”</a:t>
            </a:r>
          </a:p>
          <a:p>
            <a:pPr lvl="1"/>
            <a:r>
              <a:rPr lang="en-US" altLang="zh-CN" sz="2000" dirty="0">
                <a:latin typeface="Constantia" panose="02030602050306030303" pitchFamily="18" charset="0"/>
              </a:rPr>
              <a:t>This challenges </a:t>
            </a:r>
            <a:r>
              <a:rPr lang="en-US" altLang="zh-CN" sz="2000" b="1" dirty="0">
                <a:latin typeface="Constantia" panose="02030602050306030303" pitchFamily="18" charset="0"/>
              </a:rPr>
              <a:t>the rational assumption of retrospective voting</a:t>
            </a:r>
            <a:r>
              <a:rPr lang="en-US" altLang="zh-CN" sz="2000" dirty="0">
                <a:latin typeface="Constantia" panose="02030602050306030303" pitchFamily="18" charset="0"/>
              </a:rPr>
              <a:t>.</a:t>
            </a:r>
          </a:p>
          <a:p>
            <a:pPr lvl="1"/>
            <a:r>
              <a:rPr lang="en-US" altLang="zh-CN" sz="2000" dirty="0">
                <a:latin typeface="Constantia" panose="02030602050306030303" pitchFamily="18" charset="0"/>
              </a:rPr>
              <a:t>Elections may reflect emotional attributions rather than actual performance.</a:t>
            </a:r>
          </a:p>
          <a:p>
            <a:r>
              <a:rPr lang="en-US" altLang="zh-CN" sz="2200" b="1" dirty="0">
                <a:latin typeface="Constantia" panose="02030602050306030303" pitchFamily="18" charset="0"/>
              </a:rPr>
              <a:t>Fowler and Hall: </a:t>
            </a:r>
            <a:r>
              <a:rPr lang="en-US" altLang="zh-CN" sz="2200" dirty="0">
                <a:latin typeface="Constantia" panose="02030602050306030303" pitchFamily="18" charset="0"/>
              </a:rPr>
              <a:t>The supposed effect was statistically insignificant and far smaller than claimed.</a:t>
            </a:r>
            <a:r>
              <a:rPr lang="en-US" altLang="zh-CN" sz="2400" dirty="0"/>
              <a:t> </a:t>
            </a:r>
            <a:r>
              <a:rPr lang="en-US" altLang="zh-CN" sz="2200" dirty="0">
                <a:latin typeface="Constantia" panose="02030602050306030303" pitchFamily="18" charset="0"/>
              </a:rPr>
              <a:t>The original study overstated voter irrationality.</a:t>
            </a:r>
          </a:p>
          <a:p>
            <a:pPr lvl="1"/>
            <a:r>
              <a:rPr lang="en-US" altLang="zh-CN" sz="2000" dirty="0">
                <a:latin typeface="Constantia" panose="02030602050306030303" pitchFamily="18" charset="0"/>
              </a:rPr>
              <a:t>Even if individual voters behave irrationally, aggregate voting patterns can remain rational.</a:t>
            </a:r>
          </a:p>
          <a:p>
            <a:pPr marL="457200" lvl="1" indent="0"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onstantia" panose="02030602050306030303" pitchFamily="18" charset="0"/>
              </a:rPr>
              <a:t>-&gt; Do you agree with this idea?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Key question: </a:t>
            </a: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Are voters rational, and do elections truly function as</a:t>
            </a:r>
            <a:r>
              <a:rPr lang="zh-CN" altLang="en-US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effective mechanisms of accountability?</a:t>
            </a:r>
            <a:endParaRPr kumimoji="1" lang="en-US" altLang="zh-CN" sz="22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We have known that unconventional participation can be depicted as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emotional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, while the most conventional form – voting, can also involve personal feelings.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In cases like this, does voting still represent meaningful participation, or merely symbolic expression?</a:t>
            </a:r>
            <a:endParaRPr kumimoji="1" lang="en-US" altLang="zh-CN" sz="20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360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806B1-FFB0-D8EC-9449-7896E9733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EE0FB-530C-9318-DFA5-D9928D83D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Political Participation and Democracy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2DE856-BD69-4F23-AFD3-0AA0BE3DD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878519" cy="553243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Majoritarianism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Favoring conventional, institutionalized behavior, primarily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voting in elections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b="1" dirty="0">
                <a:latin typeface="Century Gothic" panose="020B0502020202020204" pitchFamily="34" charset="0"/>
              </a:rPr>
              <a:t>How elections contribute to democracy? (p.198)</a:t>
            </a:r>
          </a:p>
          <a:p>
            <a:pPr marL="1257300" lvl="2" indent="-342900">
              <a:lnSpc>
                <a:spcPct val="100000"/>
              </a:lnSpc>
              <a:buAutoNum type="arabicParenR"/>
            </a:pPr>
            <a:r>
              <a:rPr kumimoji="1" lang="en-US" altLang="zh-CN" sz="1800" dirty="0">
                <a:latin typeface="Century Gothic" panose="020B0502020202020204" pitchFamily="34" charset="0"/>
              </a:rPr>
              <a:t>Allowing citizens to choose among candidates or issues;</a:t>
            </a:r>
          </a:p>
          <a:p>
            <a:pPr marL="1257300" lvl="2" indent="-342900">
              <a:lnSpc>
                <a:spcPct val="100000"/>
              </a:lnSpc>
              <a:buAutoNum type="arabicParenR"/>
            </a:pPr>
            <a:r>
              <a:rPr kumimoji="1" lang="en-US" altLang="zh-CN" sz="1800" dirty="0">
                <a:latin typeface="Century Gothic" panose="020B0502020202020204" pitchFamily="34" charset="0"/>
              </a:rPr>
              <a:t>Socializing political activity, turning citizen claims into routine public function;</a:t>
            </a:r>
          </a:p>
          <a:p>
            <a:pPr marL="1257300" lvl="2" indent="-342900">
              <a:lnSpc>
                <a:spcPct val="100000"/>
              </a:lnSpc>
              <a:buAutoNum type="arabicParenR"/>
            </a:pPr>
            <a:r>
              <a:rPr kumimoji="1" lang="en-US" altLang="zh-CN" sz="1800" dirty="0">
                <a:latin typeface="Century Gothic" panose="020B0502020202020204" pitchFamily="34" charset="0"/>
              </a:rPr>
              <a:t>Institutionalizing access to political power;</a:t>
            </a:r>
          </a:p>
          <a:p>
            <a:pPr marL="1257300" lvl="2" indent="-342900">
              <a:lnSpc>
                <a:spcPct val="100000"/>
              </a:lnSpc>
              <a:buAutoNum type="arabicParenR"/>
            </a:pPr>
            <a:r>
              <a:rPr kumimoji="1" lang="en-US" altLang="zh-CN" sz="1800" dirty="0">
                <a:latin typeface="Century Gothic" panose="020B0502020202020204" pitchFamily="34" charset="0"/>
              </a:rPr>
              <a:t>Bolstering the state’s power and authority.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Stressing </a:t>
            </a:r>
            <a:r>
              <a:rPr kumimoji="1"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equality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 in political participation, collective decisions formalized through elections; having little place for motivated, resourceful individuals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Narrowing the scope of participation by defining which are</a:t>
            </a:r>
            <a:r>
              <a:rPr kumimoji="1"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orderly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/ acceptable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Pluralism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Decentralization &amp; complexity allows many points of access (</a:t>
            </a:r>
            <a:r>
              <a:rPr kumimoji="1"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freedom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) and accommodates various forms of conventional participation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in addition to voting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Offering citizens the opportunity to be treated as individuals when dealing with the government, to influence policymaking, and to fulfill their social potential</a:t>
            </a:r>
          </a:p>
        </p:txBody>
      </p:sp>
    </p:spTree>
    <p:extLst>
      <p:ext uri="{BB962C8B-B14F-4D97-AF65-F5344CB8AC3E}">
        <p14:creationId xmlns:p14="http://schemas.microsoft.com/office/powerpoint/2010/main" val="2292601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75486-0EAE-31D0-B5D4-686E4B17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48C36-A3E7-C5C9-3FB3-2AF696B66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Explaining Political Participation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34AFC7-C7A9-8941-5FB5-9E322AFE3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239" y="1325563"/>
            <a:ext cx="11033502" cy="51637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The standard socio-economic explanation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More education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, higher income, white-collar occupations are related to more awareness, capability, and resources to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higher (conventional) participation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For unconventional participation, those who protest against US government policies tend to be more educated. 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Is it a universal conclusion</a:t>
            </a:r>
            <a:r>
              <a:rPr kumimoji="1" lang="zh-CN" altLang="en-US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r>
              <a:rPr kumimoji="1"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across the world? 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What factors can lead to changes of such a pattern?</a:t>
            </a:r>
            <a:endParaRPr kumimoji="1" lang="en-US" altLang="zh-CN" sz="10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084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85785-65DB-16C2-6F1D-2B6B9974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93FDBA-CA4B-FA3D-CF42-080AF7C11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Explaining Political Participation (cont`d)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D26BE1-F797-9E38-BE95-671D2F149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497" y="1133834"/>
            <a:ext cx="11033502" cy="57241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Low voter turnout in America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Which matters more in deciding the “value” of voting, “frequency” or “substance” ?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As many elections as possible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Elections that cover as many issues as possible</a:t>
            </a: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Explanations for the low voter turnout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Low willingness of young people to vote (accounting for low turnout right after the ratification of the 26</a:t>
            </a:r>
            <a:r>
              <a:rPr kumimoji="1" lang="en-US" altLang="zh-CN" sz="2000" baseline="30000" dirty="0">
                <a:latin typeface="Century Gothic" panose="020B0502020202020204" pitchFamily="34" charset="0"/>
              </a:rPr>
              <a:t>th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 Amendment) –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pay attention to definitions!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Attitude changes toward the government (low responsiveness)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High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learning costs, compliance costs, psychological costs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in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registration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 / voting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Low individual-level “punishment” for not voting (the Australia example!)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dirty="0">
                <a:latin typeface="Century Gothic" panose="020B0502020202020204" pitchFamily="34" charset="0"/>
              </a:rPr>
              <a:t>Why do some of you support compulsory voting (if any)? – </a:t>
            </a:r>
            <a:r>
              <a:rPr kumimoji="1"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33%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 according to the “opinion poll” in our lecture, a proportion that cannot be overlooked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Lack of political parties that mobilize the vote of particular social groups (its effect also depends on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type of citizens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,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nature of the election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, and even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random factors – e.g. weather!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09218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F266-461F-DFC0-F19B-F4DD64CD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B36D4-3E60-4CD4-ECC1-CDF30640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Next week…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DFA93-F961-8DB9-6735-5EC134B68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577"/>
            <a:ext cx="10515600" cy="473223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Read materials on </a:t>
            </a:r>
            <a:r>
              <a:rPr kumimoji="1" lang="en-US" altLang="zh-CN" b="1" dirty="0">
                <a:latin typeface="Century Gothic" panose="020B0502020202020204" pitchFamily="34" charset="0"/>
              </a:rPr>
              <a:t>Campaigns &amp; Elections</a:t>
            </a:r>
            <a:r>
              <a:rPr lang="en-US" altLang="zh-CN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dirty="0">
                <a:latin typeface="Century Gothic" panose="020B0502020202020204" pitchFamily="34" charset="0"/>
              </a:rPr>
              <a:t>before class, and that will be helpful to participate in peer discussions.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Feel free to email me if you have any questions!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ENJOY YOUR WEEKEND!</a:t>
            </a:r>
          </a:p>
        </p:txBody>
      </p:sp>
    </p:spTree>
    <p:extLst>
      <p:ext uri="{BB962C8B-B14F-4D97-AF65-F5344CB8AC3E}">
        <p14:creationId xmlns:p14="http://schemas.microsoft.com/office/powerpoint/2010/main" val="50742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7296</TotalTime>
  <Words>1252</Words>
  <Application>Microsoft Macintosh PowerPoint</Application>
  <PresentationFormat>宽屏</PresentationFormat>
  <Paragraphs>130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Arial</vt:lpstr>
      <vt:lpstr>Century Gothic</vt:lpstr>
      <vt:lpstr>Constantia</vt:lpstr>
      <vt:lpstr>Office 主题​​</vt:lpstr>
      <vt:lpstr>14. Participation &amp; Voting</vt:lpstr>
      <vt:lpstr>Political Participation</vt:lpstr>
      <vt:lpstr>Unconventional Participation</vt:lpstr>
      <vt:lpstr>Conventional Participation</vt:lpstr>
      <vt:lpstr>PowerPoint 演示文稿</vt:lpstr>
      <vt:lpstr>Did shark attacks eat into Woodrow Wilson’s votes in 1916?</vt:lpstr>
      <vt:lpstr>Political Participation and Democracy</vt:lpstr>
      <vt:lpstr>Explaining Political Participation</vt:lpstr>
      <vt:lpstr>Explaining Political Participation (cont`d)</vt:lpstr>
      <vt:lpstr>Next week…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Zhao</dc:creator>
  <cp:lastModifiedBy>sy Zhao</cp:lastModifiedBy>
  <cp:revision>135</cp:revision>
  <dcterms:created xsi:type="dcterms:W3CDTF">2025-08-13T18:40:43Z</dcterms:created>
  <dcterms:modified xsi:type="dcterms:W3CDTF">2025-11-12T19:17:24Z</dcterms:modified>
</cp:coreProperties>
</file>