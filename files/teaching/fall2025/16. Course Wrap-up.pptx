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88" r:id="rId3"/>
    <p:sldId id="272" r:id="rId4"/>
    <p:sldId id="289" r:id="rId5"/>
    <p:sldId id="287" r:id="rId6"/>
    <p:sldId id="286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1"/>
    <p:restoredTop sz="81905"/>
  </p:normalViewPr>
  <p:slideViewPr>
    <p:cSldViewPr snapToGrid="0">
      <p:cViewPr varScale="1">
        <p:scale>
          <a:sx n="104" d="100"/>
          <a:sy n="104" d="100"/>
        </p:scale>
        <p:origin x="1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7C4C-A75B-CA72-5E7F-6E2E47DC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1C373D-CBC8-06A8-9F08-AD9DCCA9A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1399E5-783E-AD0A-B48A-878D172A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4DBE04-3FA2-EC52-C498-9DBF76C61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064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2A2B2-99F4-8434-4043-90F0045D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F74401-6074-DFA7-3822-B784E477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81339-2B7E-6BEB-C024-61DAE1D07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C5F41-02AA-0710-0856-F0FD4FBFB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998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CD28-B43E-FA12-F21F-3DA1992C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64789C-5704-F867-5574-EEC4BCD82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B79FFB-D101-E27F-E686-F0D514C7F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F9DF9-5886-042D-A46A-48A3D4904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8671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2B96-0D79-A9DE-7AAD-072C9B161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635B8D-AD11-2DFE-B9B1-774D2EE45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B233B0-C4C7-6D6B-B8AC-674CCBFCE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B25A5C-4B82-6F07-18F2-A68EF6BB3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149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quizlet.com/971530487/pols-1101-final-exam-review-key-terms-flash-cards/?funnelUUID=1a65bd46-92ef-46dc-bb97-a21377c393a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606" y="281498"/>
            <a:ext cx="9444788" cy="19676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5000" b="1" dirty="0">
                <a:latin typeface="Century Gothic" panose="020B0502020202020204" pitchFamily="34" charset="0"/>
              </a:rPr>
              <a:t>16. Course</a:t>
            </a:r>
            <a:r>
              <a:rPr kumimoji="1" lang="zh-CN" altLang="en-US" sz="50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5000" b="1" dirty="0">
                <a:latin typeface="Century Gothic" panose="020B0502020202020204" pitchFamily="34" charset="0"/>
              </a:rPr>
              <a:t>Wrap-up</a:t>
            </a:r>
            <a:endParaRPr kumimoji="1" lang="zh-CN" altLang="en-US" sz="50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D36F-3F01-94AE-467A-C5FC2D8EB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51F66-AA7E-C38E-B282-90A0168C7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Take-aways (Pick 2 to write on your paper)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D2BFB2-3501-DE74-0FD3-C5F636A63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97" y="1343818"/>
            <a:ext cx="11013989" cy="559218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rabicPeriod"/>
            </a:pPr>
            <a:r>
              <a:rPr kumimoji="1" lang="en-US" altLang="zh-CN" sz="2200" dirty="0">
                <a:latin typeface="Century Gothic" panose="020B0502020202020204" pitchFamily="34" charset="0"/>
              </a:rPr>
              <a:t>Which concept</a:t>
            </a:r>
            <a:r>
              <a:rPr kumimoji="1" lang="zh-CN" altLang="en-US" sz="2200" dirty="0">
                <a:latin typeface="Century Gothic" panose="020B0502020202020204" pitchFamily="34" charset="0"/>
              </a:rPr>
              <a:t> </a:t>
            </a:r>
            <a:r>
              <a:rPr lang="en-US" altLang="zh-CN" sz="2200" dirty="0">
                <a:latin typeface="Century Gothic" panose="020B0502020202020204" pitchFamily="34" charset="0"/>
              </a:rPr>
              <a:t>or idea from this course impressed you the most, and why?</a:t>
            </a:r>
            <a:endParaRPr lang="en-US" altLang="zh-CN" sz="1000" dirty="0">
              <a:latin typeface="Century Gothic" panose="020B0502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altLang="zh-CN" sz="2200" dirty="0">
                <a:latin typeface="Century Gothic" panose="020B0502020202020204" pitchFamily="34" charset="0"/>
              </a:rPr>
              <a:t>Which common assumptions or “common sense” ideas were challenged by what you learned?</a:t>
            </a:r>
            <a:endParaRPr lang="en-US" altLang="zh-CN" sz="1000" dirty="0">
              <a:latin typeface="Century Gothic" panose="020B0502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altLang="zh-CN" sz="2200" dirty="0">
                <a:latin typeface="Century Gothic" panose="020B0502020202020204" pitchFamily="34" charset="0"/>
              </a:rPr>
              <a:t>Which topic or theory do you find most relevant to your personal experience?</a:t>
            </a:r>
            <a:endParaRPr lang="en-US" altLang="zh-CN" sz="1000" dirty="0">
              <a:latin typeface="Century Gothic" panose="020B0502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altLang="zh-CN" sz="2200" dirty="0">
                <a:latin typeface="Century Gothic" panose="020B0502020202020204" pitchFamily="34" charset="0"/>
              </a:rPr>
              <a:t>How has your understanding of politics / political science changed after taking this course?</a:t>
            </a:r>
            <a:endParaRPr lang="en-US" altLang="zh-CN" sz="1000" b="1" dirty="0">
              <a:latin typeface="Century Gothic" panose="020B0502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altLang="zh-CN" sz="2200" dirty="0">
                <a:latin typeface="Century Gothic" panose="020B0502020202020204" pitchFamily="34" charset="0"/>
              </a:rPr>
              <a:t>What personal values or biases did you notice in yourself while engaging with course materials?</a:t>
            </a:r>
            <a:endParaRPr kumimoji="1" lang="en-US" altLang="zh-CN" sz="1000" dirty="0">
              <a:latin typeface="Century Gothic" panose="020B0502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altLang="zh-CN" sz="2200" dirty="0">
                <a:latin typeface="Century Gothic" panose="020B0502020202020204" pitchFamily="34" charset="0"/>
              </a:rPr>
              <a:t>If you could design one additional session for this course, what topic would you add, and why?</a:t>
            </a:r>
            <a:endParaRPr kumimoji="1" lang="en-US" altLang="zh-CN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86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287D-C457-579B-A48C-6E7D3714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CACDC-29F8-55A7-6D55-60C0B2E1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Reflections on Teaching &amp; Learning (Pick 1)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A1A25-C9C8-E0B0-F4A9-6937D4150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527"/>
            <a:ext cx="10832433" cy="466156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lphaLcParenR"/>
            </a:pPr>
            <a:r>
              <a:rPr lang="en-US" altLang="zh-CN" sz="2200" dirty="0">
                <a:latin typeface="Century Gothic" panose="020B0502020202020204" pitchFamily="34" charset="0"/>
              </a:rPr>
              <a:t>What was your biggest gain or “aha moment” from the discussion sessions?</a:t>
            </a:r>
          </a:p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lphaLcParenR"/>
            </a:pPr>
            <a:r>
              <a:rPr lang="en-US" altLang="zh-CN" sz="2200" dirty="0">
                <a:latin typeface="Century Gothic" panose="020B0502020202020204" pitchFamily="34" charset="0"/>
              </a:rPr>
              <a:t>How did your participation (asking questions, responding, or leading discussions) affect your learning outcomes?</a:t>
            </a:r>
          </a:p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lphaLcParenR"/>
            </a:pPr>
            <a:r>
              <a:rPr lang="en-US" altLang="zh-CN" sz="2200" dirty="0">
                <a:latin typeface="Century Gothic" panose="020B0502020202020204" pitchFamily="34" charset="0"/>
              </a:rPr>
              <a:t>Did the structure or atmosphere of the discussion sessions meet your expectations? Why or why not?</a:t>
            </a:r>
          </a:p>
          <a:p>
            <a:pPr marL="457200" indent="-457200">
              <a:lnSpc>
                <a:spcPct val="100000"/>
              </a:lnSpc>
              <a:spcAft>
                <a:spcPts val="1800"/>
              </a:spcAft>
              <a:buFont typeface="+mj-lt"/>
              <a:buAutoNum type="alphaLcParenR"/>
            </a:pPr>
            <a:r>
              <a:rPr lang="en-US" altLang="zh-CN" sz="2200" dirty="0">
                <a:latin typeface="Century Gothic" panose="020B0502020202020204" pitchFamily="34" charset="0"/>
              </a:rPr>
              <a:t>What improvements would you suggest for future discussion sessions or course design?</a:t>
            </a:r>
          </a:p>
          <a:p>
            <a:pPr>
              <a:lnSpc>
                <a:spcPct val="10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5557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34C2-1651-C013-7BD7-D4CB7148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01B14-B4D2-DE48-21A1-815F274C8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Now everyone has 3 Q&amp;As…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45C567-DDB9-6EBE-6CDA-B06751C36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772"/>
            <a:ext cx="10832433" cy="51123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2200" dirty="0">
                <a:latin typeface="Century Gothic" panose="020B0502020202020204" pitchFamily="34" charset="0"/>
              </a:rPr>
              <a:t>Discuss with your classmates around you.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altLang="zh-CN" sz="2000" b="1" dirty="0">
                <a:latin typeface="Century Gothic" panose="020B0502020202020204" pitchFamily="34" charset="0"/>
              </a:rPr>
              <a:t>How many questions have you had in common?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altLang="zh-CN" sz="1800" b="1" i="1" dirty="0">
                <a:latin typeface="Century Gothic" panose="020B0502020202020204" pitchFamily="34" charset="0"/>
              </a:rPr>
              <a:t>If most of them are the same</a:t>
            </a:r>
            <a:r>
              <a:rPr lang="en-US" altLang="zh-CN" sz="1800" dirty="0">
                <a:latin typeface="Century Gothic" panose="020B0502020202020204" pitchFamily="34" charset="0"/>
              </a:rPr>
              <a:t>, maybe you have similar feelings, but they can still be different. </a:t>
            </a:r>
            <a:r>
              <a:rPr lang="en-US" altLang="zh-CN" sz="1800" b="1" dirty="0">
                <a:latin typeface="Century Gothic" panose="020B0502020202020204" pitchFamily="34" charset="0"/>
              </a:rPr>
              <a:t>Try to share your idea on the same questions</a:t>
            </a:r>
            <a:r>
              <a:rPr lang="en-US" altLang="zh-CN" sz="1800" dirty="0">
                <a:latin typeface="Century Gothic" panose="020B0502020202020204" pitchFamily="34" charset="0"/>
              </a:rPr>
              <a:t>.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altLang="zh-CN" sz="1800" b="1" i="1" dirty="0">
                <a:latin typeface="Century Gothic" panose="020B0502020202020204" pitchFamily="34" charset="0"/>
              </a:rPr>
              <a:t>If the questions are not overlapping</a:t>
            </a:r>
            <a:r>
              <a:rPr lang="en-US" altLang="zh-CN" sz="1800" dirty="0">
                <a:latin typeface="Century Gothic" panose="020B0502020202020204" pitchFamily="34" charset="0"/>
              </a:rPr>
              <a:t>, maybe you have different focus. </a:t>
            </a:r>
            <a:r>
              <a:rPr lang="en-US" altLang="zh-CN" sz="1800" b="1" dirty="0">
                <a:latin typeface="Century Gothic" panose="020B0502020202020204" pitchFamily="34" charset="0"/>
              </a:rPr>
              <a:t>Try to find out what your partners are thinking about</a:t>
            </a:r>
            <a:r>
              <a:rPr lang="en-US" altLang="zh-CN" sz="1800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Share your findings with the class (if anyone of you would like to).</a:t>
            </a: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Remember to write your name at the top of the paper. </a:t>
            </a:r>
            <a:b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I’ll have your attendance this way for today.</a:t>
            </a:r>
          </a:p>
        </p:txBody>
      </p:sp>
    </p:spTree>
    <p:extLst>
      <p:ext uri="{BB962C8B-B14F-4D97-AF65-F5344CB8AC3E}">
        <p14:creationId xmlns:p14="http://schemas.microsoft.com/office/powerpoint/2010/main" val="306353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4356-EB17-6F06-73D1-D2D2D63B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D7343-0CEF-9857-E84F-34D67058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Final Exam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70DA2C-5BA0-BAC1-3E25-8194AB282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832433" cy="53411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Location: 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Time: </a:t>
            </a:r>
            <a:r>
              <a:rPr kumimoji="1" lang="en-US" altLang="zh-CN" sz="1800" b="1" dirty="0">
                <a:highlight>
                  <a:srgbClr val="FFFF00"/>
                </a:highlight>
                <a:latin typeface="Century Gothic" panose="020B0502020202020204" pitchFamily="34" charset="0"/>
              </a:rPr>
              <a:t>Dec 8th, 12:00 – 3:00 pm</a:t>
            </a:r>
            <a:endParaRPr kumimoji="1" lang="en-US" altLang="zh-CN" sz="1800" dirty="0"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If anyone needs A&amp;T (DRC) accommodations, please contact them to make arrangements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If they need approval from instructors, please contact Dr. Nicholson.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Layout: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Multiple choices (25-30) [Scantron 882-E] &amp; Short-answer questions (choose 4-5) [Bluebook] – remember to buy bluebooks, scantrons, #2 pencils at the bookstore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Remember: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This is a CLOSED BOOK exam! Pay attention to integrity requirements!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What: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Interest groups – Campaigns &amp; elections, all we learned after the midterm 2 (See Review Sheet on </a:t>
            </a:r>
            <a:r>
              <a:rPr kumimoji="1" lang="en-US" altLang="zh-CN" sz="1800" dirty="0" err="1">
                <a:latin typeface="Century Gothic" panose="020B0502020202020204" pitchFamily="34" charset="0"/>
              </a:rPr>
              <a:t>eLC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Suggestions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Remember </a:t>
            </a:r>
            <a:r>
              <a:rPr kumimoji="1" lang="en-US" altLang="zh-CN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my name </a:t>
            </a:r>
            <a:r>
              <a:rPr kumimoji="1" lang="en-US" altLang="zh-CN" sz="1600" dirty="0">
                <a:latin typeface="Century Gothic" panose="020B0502020202020204" pitchFamily="34" charset="0"/>
              </a:rPr>
              <a:t>and </a:t>
            </a:r>
            <a:r>
              <a:rPr kumimoji="1" lang="en-US" altLang="zh-CN" sz="1600" b="1" dirty="0">
                <a:latin typeface="Century Gothic" panose="020B0502020202020204" pitchFamily="34" charset="0"/>
              </a:rPr>
              <a:t>time for your </a:t>
            </a:r>
            <a:r>
              <a:rPr kumimoji="1" lang="en-US" altLang="zh-CN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breakout session </a:t>
            </a:r>
            <a:r>
              <a:rPr kumimoji="1" lang="en-US" altLang="zh-CN" sz="1600" b="1" dirty="0">
                <a:latin typeface="Century Gothic" panose="020B0502020202020204" pitchFamily="34" charset="0"/>
              </a:rPr>
              <a:t>(not time for lecture! But </a:t>
            </a:r>
            <a:r>
              <a:rPr kumimoji="1" lang="en-US" altLang="zh-CN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12:40-1:30 F, or 1:50-2:40 F</a:t>
            </a:r>
            <a:r>
              <a:rPr kumimoji="1" lang="en-US" altLang="zh-CN" sz="1600" b="1" dirty="0">
                <a:latin typeface="Century Gothic" panose="020B0502020202020204" pitchFamily="34" charset="0"/>
              </a:rPr>
              <a:t>)</a:t>
            </a:r>
            <a:r>
              <a:rPr kumimoji="1" lang="en-US" altLang="zh-CN" sz="1600" dirty="0">
                <a:latin typeface="Century Gothic" panose="020B0502020202020204" pitchFamily="34" charset="0"/>
              </a:rPr>
              <a:t>, since you will need to place them in a pile for me to grade.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b="1" dirty="0">
                <a:latin typeface="Century Gothic" panose="020B0502020202020204" pitchFamily="34" charset="0"/>
              </a:rPr>
              <a:t>Key ideas </a:t>
            </a:r>
            <a:r>
              <a:rPr kumimoji="1" lang="en-US" altLang="zh-CN" sz="1600" dirty="0">
                <a:latin typeface="Century Gothic" panose="020B0502020202020204" pitchFamily="34" charset="0"/>
              </a:rPr>
              <a:t>(theory, concept, professional items, SC cases) + </a:t>
            </a:r>
            <a:r>
              <a:rPr kumimoji="1" lang="en-US" altLang="zh-CN" sz="1600" b="1" dirty="0">
                <a:latin typeface="Century Gothic" panose="020B0502020202020204" pitchFamily="34" charset="0"/>
              </a:rPr>
              <a:t>explanation</a:t>
            </a:r>
            <a:r>
              <a:rPr kumimoji="1" lang="en-US" altLang="zh-CN" sz="1600" dirty="0">
                <a:latin typeface="Century Gothic" panose="020B0502020202020204" pitchFamily="34" charset="0"/>
              </a:rPr>
              <a:t> (when, where, who, what, why, how – not all of them; </a:t>
            </a:r>
            <a:r>
              <a:rPr kumimoji="1" lang="en-US" altLang="zh-CN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put down what you think necessary</a:t>
            </a:r>
            <a:r>
              <a:rPr kumimoji="1" lang="en-US" altLang="zh-CN" sz="1600" dirty="0">
                <a:latin typeface="Century Gothic" panose="020B0502020202020204" pitchFamily="34" charset="0"/>
              </a:rPr>
              <a:t>)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If you are not sure, much is better. If you really have no idea, only telling stories is also encouraged</a:t>
            </a:r>
            <a:r>
              <a:rPr kumimoji="1" lang="en-US" altLang="zh-CN" sz="1600" dirty="0">
                <a:latin typeface="Century Gothic" panose="020B0502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75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D609-8535-2B26-7B06-419D4356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3FBD6-8B29-3BD6-A33F-9DB758776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Final Exam Review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802DE-79F9-89A9-ED4A-4A864777F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6"/>
            <a:ext cx="10795782" cy="50474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FF0000"/>
                </a:solidFill>
                <a:latin typeface="Century Gothic" panose="020B0502020202020204" pitchFamily="34" charset="0"/>
              </a:rPr>
              <a:t>Review Sheet on </a:t>
            </a:r>
            <a:r>
              <a:rPr kumimoji="1" lang="en-US" altLang="zh-CN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eLC</a:t>
            </a:r>
            <a:endParaRPr kumimoji="1" lang="en-US" altLang="zh-CN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Combine it with </a:t>
            </a:r>
            <a:r>
              <a:rPr kumimoji="1" lang="en-US" altLang="zh-CN" b="1" dirty="0">
                <a:latin typeface="Century Gothic" panose="020B0502020202020204" pitchFamily="34" charset="0"/>
              </a:rPr>
              <a:t>lecture slides</a:t>
            </a:r>
            <a:r>
              <a:rPr kumimoji="1" lang="en-US" altLang="zh-CN" dirty="0">
                <a:latin typeface="Century Gothic" panose="020B0502020202020204" pitchFamily="34" charset="0"/>
              </a:rPr>
              <a:t>, as well as breakout session slides (if you find it helpful to understand basic concepts &amp; theories)</a:t>
            </a:r>
          </a:p>
          <a:p>
            <a:pPr lvl="1">
              <a:lnSpc>
                <a:spcPct val="100000"/>
              </a:lnSpc>
            </a:pPr>
            <a:endParaRPr kumimoji="1" lang="en-US" altLang="zh-CN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Century Gothic" panose="020B0502020202020204" pitchFamily="34" charset="0"/>
              </a:rPr>
              <a:t>Thanks to our Lead TA, Mckinley Frees!</a:t>
            </a:r>
          </a:p>
          <a:p>
            <a:pPr lvl="1">
              <a:lnSpc>
                <a:spcPct val="100000"/>
              </a:lnSpc>
            </a:pPr>
            <a:r>
              <a:rPr kumimoji="1" lang="en-US" altLang="zh-CN" b="1" dirty="0">
                <a:latin typeface="Century Gothic" panose="020B0502020202020204" pitchFamily="34" charset="0"/>
              </a:rPr>
              <a:t>Key items review</a:t>
            </a:r>
            <a:r>
              <a:rPr kumimoji="1" lang="en-US" altLang="zh-CN" dirty="0">
                <a:latin typeface="Century Gothic" panose="020B0502020202020204" pitchFamily="34" charset="0"/>
              </a:rPr>
              <a:t>: </a:t>
            </a:r>
            <a:r>
              <a:rPr kumimoji="1" lang="en-US" altLang="zh-CN" dirty="0">
                <a:latin typeface="Century Gothic" panose="020B0502020202020204" pitchFamily="34" charset="0"/>
                <a:hlinkClick r:id="rId2"/>
              </a:rPr>
              <a:t>https://quizlet.com/971530487/pols-1101-final-exam-review-key-terms-flash-cards/?funnelUUID=1a65bd46-92ef-46dc-bb97-a21377c393a7</a:t>
            </a:r>
            <a:endParaRPr kumimoji="1" lang="en-US" altLang="zh-CN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27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677041" cy="525142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600" dirty="0">
                <a:latin typeface="Century Gothic" panose="020B0502020202020204" pitchFamily="34" charset="0"/>
              </a:rPr>
              <a:t>Thanks for your participation, support, understanding, and even tolerance this semester! I’m happy to meet all of you!</a:t>
            </a:r>
          </a:p>
          <a:p>
            <a:pPr>
              <a:lnSpc>
                <a:spcPct val="100000"/>
              </a:lnSpc>
            </a:pPr>
            <a:r>
              <a:rPr kumimoji="1" lang="en-US" altLang="zh-CN" sz="2600" dirty="0">
                <a:latin typeface="Century Gothic" panose="020B0502020202020204" pitchFamily="34" charset="0"/>
              </a:rPr>
              <a:t>Don’t forget to do the (online) course evaluation, if you’d like to.</a:t>
            </a:r>
          </a:p>
          <a:p>
            <a:pPr>
              <a:lnSpc>
                <a:spcPct val="100000"/>
              </a:lnSpc>
            </a:pPr>
            <a:endParaRPr kumimoji="1" lang="en-US" altLang="zh-CN" sz="26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600" b="1" dirty="0">
                <a:latin typeface="Century Gothic" panose="020B0502020202020204" pitchFamily="34" charset="0"/>
              </a:rPr>
              <a:t>Try to apply what you’ve learned in this class to understand the imperfect, but charming “real world”</a:t>
            </a:r>
          </a:p>
          <a:p>
            <a:pPr>
              <a:lnSpc>
                <a:spcPct val="100000"/>
              </a:lnSpc>
            </a:pPr>
            <a:r>
              <a:rPr kumimoji="1" lang="en-US" altLang="zh-CN" sz="2600" dirty="0">
                <a:latin typeface="Century Gothic" panose="020B0502020202020204" pitchFamily="34" charset="0"/>
              </a:rPr>
              <a:t>Feel free to email me if you have any questions, even after this class ends!</a:t>
            </a:r>
          </a:p>
          <a:p>
            <a:pPr>
              <a:lnSpc>
                <a:spcPct val="100000"/>
              </a:lnSpc>
            </a:pPr>
            <a:r>
              <a:rPr kumimoji="1" lang="en-US" altLang="zh-CN" sz="2600" dirty="0">
                <a:latin typeface="Century Gothic" panose="020B0502020202020204" pitchFamily="34" charset="0"/>
              </a:rPr>
              <a:t>Hope you all get satisfying grades in finals!</a:t>
            </a:r>
          </a:p>
          <a:p>
            <a:pPr>
              <a:lnSpc>
                <a:spcPct val="100000"/>
              </a:lnSpc>
            </a:pPr>
            <a:r>
              <a:rPr kumimoji="1" lang="en-US" altLang="zh-CN" sz="2600" dirty="0">
                <a:latin typeface="Century Gothic" panose="020B0502020202020204" pitchFamily="34" charset="0"/>
              </a:rPr>
              <a:t>See you! Enjoy your winter vacation! 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B89597C-1C27-ED8D-0AB6-9DB5D34D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No 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6423</TotalTime>
  <Words>704</Words>
  <Application>Microsoft Macintosh PowerPoint</Application>
  <PresentationFormat>宽屏</PresentationFormat>
  <Paragraphs>59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Arial</vt:lpstr>
      <vt:lpstr>Century Gothic</vt:lpstr>
      <vt:lpstr>Wingdings</vt:lpstr>
      <vt:lpstr>Office 主题​​</vt:lpstr>
      <vt:lpstr>16. Course Wrap-up</vt:lpstr>
      <vt:lpstr>Take-aways (Pick 2 to write on your paper)</vt:lpstr>
      <vt:lpstr>Reflections on Teaching &amp; Learning (Pick 1)</vt:lpstr>
      <vt:lpstr>Now everyone has 3 Q&amp;As…</vt:lpstr>
      <vt:lpstr>Final Exam</vt:lpstr>
      <vt:lpstr>Final Exam Review</vt:lpstr>
      <vt:lpstr>No 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132</cp:revision>
  <dcterms:created xsi:type="dcterms:W3CDTF">2025-08-13T18:40:43Z</dcterms:created>
  <dcterms:modified xsi:type="dcterms:W3CDTF">2025-11-27T02:34:07Z</dcterms:modified>
</cp:coreProperties>
</file>