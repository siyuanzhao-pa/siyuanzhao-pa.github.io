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79" r:id="rId5"/>
    <p:sldId id="280" r:id="rId6"/>
    <p:sldId id="281" r:id="rId7"/>
    <p:sldId id="283" r:id="rId8"/>
    <p:sldId id="282" r:id="rId9"/>
    <p:sldId id="273" r:id="rId10"/>
    <p:sldId id="277" r:id="rId11"/>
    <p:sldId id="284" r:id="rId12"/>
    <p:sldId id="285" r:id="rId13"/>
    <p:sldId id="287" r:id="rId14"/>
    <p:sldId id="286" r:id="rId15"/>
    <p:sldId id="288" r:id="rId16"/>
    <p:sldId id="26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2"/>
    <p:restoredTop sz="83600"/>
  </p:normalViewPr>
  <p:slideViewPr>
    <p:cSldViewPr snapToGrid="0">
      <p:cViewPr varScale="1">
        <p:scale>
          <a:sx n="93" d="100"/>
          <a:sy n="93" d="100"/>
        </p:scale>
        <p:origin x="21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Scope and aim of your research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15E-7C30-95E0-50B7-2BC75A1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07B06-328E-B4C4-79CE-77515F6C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E706A-9F42-8BFA-6CCD-149A2B82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F599-BBF3-CD7F-FE75-BFACA0AD0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65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63399-E93A-30F5-1CCC-DCB09D94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F3200E-2884-F94B-F4E2-687E40F64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CC3475-60B5-6B74-F62F-25917D945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7CBC22-09F9-6ED5-657C-A12C0B8E2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9373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E40A-A8F4-FDE3-3612-62CC209B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E4750-D1A4-38C5-F498-193DD6811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A7F0E-14E6-3716-BCB6-AC1F579F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4AB4D-6D58-DCD7-3730-62CA58F68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743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67B52-74E4-0FB9-E53D-DFFCF737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BA969E-989D-4C73-5AD6-AA649E7CD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250491-BA55-1532-436D-9ACA8DDC8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44C11A-42E9-27BB-2A4C-1C4B28857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1844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B5C4D-7ED1-E18F-74EA-56768998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361655-08C3-F2E8-997A-C34EAF489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75F817-6DB1-2BD6-DB71-AA2278D5E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4E189-FF7A-58EE-CC07-375DBD81A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9065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BCC7-3922-477C-63F8-30CB0487B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A440F3-3FB4-498D-FEEA-EC8C5DACD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B281F2-40FF-C1E8-D99E-28692D9C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AC6FEE-451F-36F1-5C1E-50DB3EE0D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027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3CB1-79BC-B233-EF7D-7A0536D0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FA6FBB-EAD6-F0CE-ACB8-80E270FAE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60FE0C-D116-A487-92BC-5F1BB4F6A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Self-selection</a:t>
            </a:r>
            <a:r>
              <a:rPr kumimoji="1" lang="zh-CN" altLang="en-US" dirty="0"/>
              <a:t> 导致另一个问题：</a:t>
            </a:r>
            <a:r>
              <a:rPr kumimoji="1" lang="en-US" altLang="zh-CN" dirty="0"/>
              <a:t>polarization?</a:t>
            </a:r>
          </a:p>
          <a:p>
            <a:r>
              <a:rPr kumimoji="1" lang="zh-CN" altLang="en-US" dirty="0"/>
              <a:t>其他对民主的贡献：深度调查研究、澄清事实的能力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02DCA-2F43-773A-E953-8C6345915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7678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gallup.com/poll/388988/political-ideology-steady-conservatives-moderates-tie.aspx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.gallup.com/poll/388988/political-ideology-steady-conservatives-moderates-tie.aspx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gallup.com/poll/388988/political-ideology-steady-conservatives-moderates-tie.aspx?utm_source=chatgpt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.gallup.com/poll/388988/political-ideology-steady-conservatives-moderates-tie.aspx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politics/quiz/what-do-you-know-about-the-u-s-governmen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5986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4800" b="1" dirty="0">
                <a:latin typeface="Century Gothic" panose="020B0502020202020204" pitchFamily="34" charset="0"/>
              </a:rPr>
              <a:t>13. Public Opinion</a:t>
            </a:r>
            <a:br>
              <a:rPr kumimoji="1" lang="en-US" altLang="zh-CN" sz="4800" b="1" dirty="0">
                <a:latin typeface="Century Gothic" panose="020B0502020202020204" pitchFamily="34" charset="0"/>
              </a:rPr>
            </a:br>
            <a:r>
              <a:rPr kumimoji="1" lang="en-US" altLang="zh-CN" sz="4800" b="1" dirty="0">
                <a:latin typeface="Century Gothic" panose="020B0502020202020204" pitchFamily="34" charset="0"/>
              </a:rPr>
              <a:t>&amp; Mass Media</a:t>
            </a:r>
            <a:endParaRPr kumimoji="1" lang="zh-CN" altLang="en-US" sz="48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Public Opinion and Democracy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420"/>
            <a:ext cx="10824411" cy="60276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Majoritarianism</a:t>
            </a:r>
            <a:r>
              <a:rPr lang="en-US" altLang="zh-CN" sz="2200" dirty="0">
                <a:latin typeface="Century Gothic" panose="020B0502020202020204" pitchFamily="34" charset="0"/>
              </a:rPr>
              <a:t>: A</a:t>
            </a:r>
            <a:r>
              <a:rPr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majority of the people holds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clear, consistent opinions</a:t>
            </a:r>
            <a:r>
              <a:rPr lang="en-US" altLang="zh-CN" sz="2200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on government policy.</a:t>
            </a:r>
            <a:r>
              <a:rPr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The government should act as it’s expected.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Pluralism</a:t>
            </a:r>
            <a:r>
              <a:rPr lang="en-US" altLang="zh-CN" sz="2200" dirty="0">
                <a:latin typeface="Century Gothic" panose="020B0502020202020204" pitchFamily="34" charset="0"/>
              </a:rPr>
              <a:t>: The public as a whole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seldom</a:t>
            </a:r>
            <a:r>
              <a:rPr lang="en-US" altLang="zh-CN" sz="2200" dirty="0">
                <a:latin typeface="Century Gothic" panose="020B0502020202020204" pitchFamily="34" charset="0"/>
              </a:rPr>
              <a:t> demonstrates clear, consistent opinion. The government should allow free expression from “minority publics”.</a:t>
            </a:r>
            <a:endParaRPr kumimoji="1" lang="en-US" altLang="zh-CN" sz="2000" b="1" i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Opinion polls tend to support that the public is uniformed. 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Is it accurate?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How the sample is selected (random sample is better)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The size of the sample (larger sample is better)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The amount of variation in the population </a:t>
            </a:r>
            <a:r>
              <a:rPr lang="en-US" altLang="zh-CN" sz="1800" b="1" dirty="0">
                <a:latin typeface="Century Gothic" panose="020B0502020202020204" pitchFamily="34" charset="0"/>
              </a:rPr>
              <a:t>(greater / less variation?)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E.g. </a:t>
            </a:r>
            <a:r>
              <a:rPr lang="en-US" altLang="zh-CN" sz="2000" b="1" dirty="0">
                <a:latin typeface="Century Gothic" panose="020B0502020202020204" pitchFamily="34" charset="0"/>
              </a:rPr>
              <a:t>If we wish to know the ideology distribution of the public through observing what they post on </a:t>
            </a:r>
            <a:r>
              <a:rPr lang="en-US" altLang="zh-CN" sz="2000" b="1" i="1" dirty="0">
                <a:latin typeface="Century Gothic" panose="020B0502020202020204" pitchFamily="34" charset="0"/>
              </a:rPr>
              <a:t>X</a:t>
            </a:r>
            <a:r>
              <a:rPr lang="en-US" altLang="zh-CN" sz="2000" b="1" dirty="0">
                <a:latin typeface="Century Gothic" panose="020B0502020202020204" pitchFamily="34" charset="0"/>
              </a:rPr>
              <a:t> (Twitter), what are the advantages and disadvantages?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Shape of the opinion distribution, and its political implications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Normal distribution </a:t>
            </a:r>
            <a:r>
              <a:rPr lang="en-US" altLang="zh-CN" sz="1800" dirty="0">
                <a:latin typeface="Century Gothic" panose="020B0502020202020204" pitchFamily="34" charset="0"/>
              </a:rPr>
              <a:t>-&gt; moderate government policy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Skewed distribution </a:t>
            </a:r>
            <a:r>
              <a:rPr lang="en-US" altLang="zh-CN" sz="1800" dirty="0">
                <a:latin typeface="Century Gothic" panose="020B0502020202020204" pitchFamily="34" charset="0"/>
              </a:rPr>
              <a:t>-&gt; a high level of consensus, but can overlook minorities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-&gt; Does the political process sometimes depend more on how many people strongly oppose an issue than on how many people strongly support it?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Bimodal distribution </a:t>
            </a:r>
            <a:r>
              <a:rPr lang="en-US" altLang="zh-CN" sz="1800" dirty="0">
                <a:latin typeface="Century Gothic" panose="020B0502020202020204" pitchFamily="34" charset="0"/>
              </a:rPr>
              <a:t>-&gt; political conflict</a:t>
            </a: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6F16-9FF2-0C95-D10C-7464FE9C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E344E-C485-BD9A-0D2F-144EA77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26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Stability of Public Opinion Matters!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4BEA0A-7F6B-738C-2DB6-849C854C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26" y="1325562"/>
            <a:ext cx="10952747" cy="53960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A stable distribution</a:t>
            </a:r>
            <a:r>
              <a:rPr kumimoji="1" lang="en-US" altLang="zh-CN" sz="2200" dirty="0">
                <a:latin typeface="Century Gothic" panose="020B0502020202020204" pitchFamily="34" charset="0"/>
              </a:rPr>
              <a:t>: opinions show little change over time.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However, e</a:t>
            </a:r>
            <a:r>
              <a:rPr lang="en-US" altLang="zh-CN" sz="2200" dirty="0">
                <a:latin typeface="Century Gothic" panose="020B0502020202020204" pitchFamily="34" charset="0"/>
              </a:rPr>
              <a:t>ven the most enduring ideological labels were not always this way.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Abortion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i="1" dirty="0">
                <a:latin typeface="Constantia" panose="02030602050306030303" pitchFamily="18" charset="0"/>
              </a:rPr>
              <a:t>In the early years, there was much more ambiguity</a:t>
            </a:r>
            <a:r>
              <a:rPr lang="en-US" altLang="zh-CN" sz="1800" dirty="0">
                <a:latin typeface="Constantia" panose="02030602050306030303" pitchFamily="18" charset="0"/>
              </a:rPr>
              <a:t>: both parties had factions for and against abortion, and public opinion was not strongly split along party lines. (Biden was against the abortion right when he was newly elected as a senator!) 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After the 1973 </a:t>
            </a:r>
            <a:r>
              <a:rPr lang="en-US" altLang="zh-CN" sz="1800" i="1" dirty="0">
                <a:latin typeface="Constantia" panose="02030602050306030303" pitchFamily="18" charset="0"/>
              </a:rPr>
              <a:t>Roe v. Wade</a:t>
            </a:r>
            <a:r>
              <a:rPr lang="en-US" altLang="zh-CN" sz="1800" dirty="0">
                <a:latin typeface="Constantia" panose="02030602050306030303" pitchFamily="18" charset="0"/>
              </a:rPr>
              <a:t> decision legalized abortion nationwide,</a:t>
            </a:r>
            <a:r>
              <a:rPr lang="zh-CN" altLang="en-US" sz="1800" dirty="0">
                <a:latin typeface="Constantia" panose="02030602050306030303" pitchFamily="18" charset="0"/>
              </a:rPr>
              <a:t> </a:t>
            </a:r>
            <a:r>
              <a:rPr lang="en-US" altLang="zh-CN" sz="1800" dirty="0">
                <a:latin typeface="Constantia" panose="02030602050306030303" pitchFamily="18" charset="0"/>
              </a:rPr>
              <a:t>conservative religious movements and Republican strategists turned abortion into a central cultural and electoral issue, while Democrats increasingly aligned with abortion-rights advocates. 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Politicians choose sides, and voters follow. Now it’s one of the most partisan-related issues in U.S.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Same-sex marriage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onstantia" panose="02030602050306030303" pitchFamily="18" charset="0"/>
              </a:rPr>
              <a:t>It gained more public approval in the past years (driven in part by President Trump’s general acceptance of it, so that Republican Congress members could vote for their own view).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onstantia" panose="02030602050306030303" pitchFamily="18" charset="0"/>
              </a:rPr>
              <a:t>After </a:t>
            </a:r>
            <a:r>
              <a:rPr lang="en-US" altLang="zh-CN" sz="1800" i="1" dirty="0">
                <a:latin typeface="Constantia" panose="02030602050306030303" pitchFamily="18" charset="0"/>
              </a:rPr>
              <a:t>Dobbs v. Jackson Women’s Health Organization</a:t>
            </a:r>
            <a:r>
              <a:rPr lang="en-US" altLang="zh-CN" sz="1800" dirty="0">
                <a:latin typeface="Constantia" panose="02030602050306030303" pitchFamily="18" charset="0"/>
              </a:rPr>
              <a:t>, things may change…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Public opinion can evolve under the impact of politics; can even totally turn to the opposite position!</a:t>
            </a:r>
            <a:r>
              <a:rPr kumimoji="1" lang="zh-CN" altLang="en-US" sz="20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(“changing definitions of a problem”)</a:t>
            </a:r>
          </a:p>
        </p:txBody>
      </p:sp>
    </p:spTree>
    <p:extLst>
      <p:ext uri="{BB962C8B-B14F-4D97-AF65-F5344CB8AC3E}">
        <p14:creationId xmlns:p14="http://schemas.microsoft.com/office/powerpoint/2010/main" val="309658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2B1B-57B9-522C-EB9A-87DD3EFB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2B79C-E581-D5C3-618B-01776EC4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26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Stable Ideology-related Public Opinion 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9BAEF-9D9E-DDC9-A985-5961C9F01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26" y="1464107"/>
            <a:ext cx="11123195" cy="52414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A general conclusion: People’s ideological and partisan orientations tend to represent fairly stable distributions. – </a:t>
            </a:r>
            <a:r>
              <a:rPr kumimoji="1" lang="en-US" altLang="zh-CN" sz="2200" b="1" dirty="0">
                <a:latin typeface="Century Gothic" panose="020B0502020202020204" pitchFamily="34" charset="0"/>
              </a:rPr>
              <a:t>Risk of overlooking subgroups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That’s why we need random sampling, large sample size, and more heterogeneity.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Fact: we hear about polarization every day, but there are still many people self recognized as </a:t>
            </a:r>
            <a:r>
              <a:rPr kumimoji="1" lang="en-US" altLang="zh-CN" sz="2200" b="1" dirty="0">
                <a:latin typeface="Century Gothic" panose="020B0502020202020204" pitchFamily="34" charset="0"/>
              </a:rPr>
              <a:t>”moderate”.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Be cautious when labeling people – even for yourself!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Social identity confirmation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: You can tend to be what you claim to be!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Does “value-free” or moderate position mean political apathy?</a:t>
            </a: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Would you think political apathy something good (or bad)?</a:t>
            </a: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Can the moderate majority, though seemingly ironic, be under-represented (because they don’t like to reveal their preferences)? Especially, under the discursive power of elites and the ideology of “paying more attention to marginalized groups”?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ED08A096-3C94-F2E4-9A59-8C10F425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486"/>
            <a:ext cx="9144001" cy="5334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4E5977-3DA1-7422-93D5-B9C6B524C24C}"/>
              </a:ext>
            </a:extLst>
          </p:cNvPr>
          <p:cNvSpPr txBox="1"/>
          <p:nvPr/>
        </p:nvSpPr>
        <p:spPr>
          <a:xfrm>
            <a:off x="421678" y="6102553"/>
            <a:ext cx="906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tantia" panose="02030602050306030303" pitchFamily="18" charset="0"/>
              </a:rPr>
              <a:t>Source: </a:t>
            </a:r>
            <a:r>
              <a:rPr lang="zh-CN" altLang="en-US" sz="1400" dirty="0">
                <a:latin typeface="Constantia" panose="02030602050306030303" pitchFamily="18" charset="0"/>
                <a:hlinkClick r:id="rId3"/>
              </a:rPr>
              <a:t>https://news.gallup.com/poll/388988/political-ideology-steady-conservatives-moderates-tie.aspx?utm_source=chatgpt.com</a:t>
            </a:r>
            <a:endParaRPr lang="en-US" altLang="zh-CN" sz="1400" dirty="0">
              <a:latin typeface="Constantia" panose="020306020503060303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E198EA-6AE3-2985-6C05-8F1DE28224A8}"/>
              </a:ext>
            </a:extLst>
          </p:cNvPr>
          <p:cNvSpPr txBox="1"/>
          <p:nvPr/>
        </p:nvSpPr>
        <p:spPr>
          <a:xfrm>
            <a:off x="9307286" y="702439"/>
            <a:ext cx="275408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>
                <a:latin typeface="Constantia" panose="02030602050306030303" pitchFamily="18" charset="0"/>
              </a:rPr>
              <a:t>Which of the three ideological labels shows the greatest change in group proportion?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Constantia" panose="02030602050306030303" pitchFamily="18" charset="0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Constantia" panose="02030602050306030303" pitchFamily="18" charset="0"/>
              </a:rPr>
              <a:t>Has the proportion of moderates increased or decreased over time?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Constantia" panose="02030602050306030303" pitchFamily="18" charset="0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Constantia" panose="02030602050306030303" pitchFamily="18" charset="0"/>
              </a:rPr>
              <a:t>Whenever there are major political events (such as economic crises, elections, or social movements), do the proportions of these labels show short-term fluctuations?</a:t>
            </a:r>
          </a:p>
          <a:p>
            <a:pPr marL="342900" indent="-342900">
              <a:buAutoNum type="arabicPeriod"/>
            </a:pPr>
            <a:endParaRPr lang="en-US" altLang="zh-CN" sz="1600" dirty="0">
              <a:latin typeface="Constantia" panose="02030602050306030303" pitchFamily="18" charset="0"/>
            </a:endParaRP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Constantia" panose="02030602050306030303" pitchFamily="18" charset="0"/>
              </a:rPr>
              <a:t>Which forces might be driving this “relabeling” process?</a:t>
            </a:r>
          </a:p>
        </p:txBody>
      </p:sp>
    </p:spTree>
    <p:extLst>
      <p:ext uri="{BB962C8B-B14F-4D97-AF65-F5344CB8AC3E}">
        <p14:creationId xmlns:p14="http://schemas.microsoft.com/office/powerpoint/2010/main" val="171753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AF97E2A6-4E9A-4910-A847-3E06E427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634065" cy="3869871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FB515956-83BE-C83D-F233-545AB7BB2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57" y="2988129"/>
            <a:ext cx="6749143" cy="38698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B015C1-58F2-0007-4FC4-567F4240FF9D}"/>
              </a:ext>
            </a:extLst>
          </p:cNvPr>
          <p:cNvSpPr txBox="1"/>
          <p:nvPr/>
        </p:nvSpPr>
        <p:spPr>
          <a:xfrm>
            <a:off x="436862" y="5884839"/>
            <a:ext cx="45691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tantia" panose="02030602050306030303" pitchFamily="18" charset="0"/>
              </a:rPr>
              <a:t>Source: </a:t>
            </a:r>
            <a:r>
              <a:rPr lang="zh-CN" altLang="en-US" sz="1400" dirty="0">
                <a:latin typeface="Constantia" panose="02030602050306030303" pitchFamily="18" charset="0"/>
                <a:hlinkClick r:id="rId4"/>
              </a:rPr>
              <a:t>https://news.gallup.com/poll/388988/political-ideology-steady-conservatives-moderates-tie.aspx?utm_source=chatgpt.com</a:t>
            </a:r>
            <a:endParaRPr lang="en-US" altLang="zh-CN" sz="1400" dirty="0">
              <a:latin typeface="Constantia" panose="0203060205030603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D41B7D-D4F2-73F7-A2FC-CA2C32C51938}"/>
              </a:ext>
            </a:extLst>
          </p:cNvPr>
          <p:cNvSpPr txBox="1"/>
          <p:nvPr/>
        </p:nvSpPr>
        <p:spPr>
          <a:xfrm>
            <a:off x="7018176" y="968830"/>
            <a:ext cx="5064967" cy="78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What do you find?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Are there any fun and/or important facts?</a:t>
            </a:r>
          </a:p>
        </p:txBody>
      </p:sp>
    </p:spTree>
    <p:extLst>
      <p:ext uri="{BB962C8B-B14F-4D97-AF65-F5344CB8AC3E}">
        <p14:creationId xmlns:p14="http://schemas.microsoft.com/office/powerpoint/2010/main" val="408189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F255B80-AE1B-9B79-7B4B-428ED8D2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8" y="307876"/>
            <a:ext cx="8632371" cy="50355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58A1340-66A4-C7D0-8180-E3555D35947D}"/>
              </a:ext>
            </a:extLst>
          </p:cNvPr>
          <p:cNvSpPr txBox="1"/>
          <p:nvPr/>
        </p:nvSpPr>
        <p:spPr>
          <a:xfrm>
            <a:off x="1676398" y="6156981"/>
            <a:ext cx="906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tantia" panose="02030602050306030303" pitchFamily="18" charset="0"/>
              </a:rPr>
              <a:t>Source: </a:t>
            </a:r>
            <a:r>
              <a:rPr lang="zh-CN" altLang="en-US" sz="1400" dirty="0">
                <a:latin typeface="Constantia" panose="02030602050306030303" pitchFamily="18" charset="0"/>
                <a:hlinkClick r:id="rId3"/>
              </a:rPr>
              <a:t>https://news.gallup.com/poll/388988/political-ideology-steady-conservatives-moderates-tie.aspx?utm_source=chatgpt.com</a:t>
            </a:r>
            <a:endParaRPr lang="en-US" altLang="zh-CN" sz="1400" dirty="0">
              <a:latin typeface="Constantia" panose="020306020503060303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609EAD-30DE-873C-7E54-5AF3A367A88B}"/>
              </a:ext>
            </a:extLst>
          </p:cNvPr>
          <p:cNvSpPr txBox="1"/>
          <p:nvPr/>
        </p:nvSpPr>
        <p:spPr>
          <a:xfrm>
            <a:off x="1676398" y="5473504"/>
            <a:ext cx="9383488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What inspirations can we get from this trend (or almost “no clear trend”)?</a:t>
            </a:r>
          </a:p>
        </p:txBody>
      </p:sp>
    </p:spTree>
    <p:extLst>
      <p:ext uri="{BB962C8B-B14F-4D97-AF65-F5344CB8AC3E}">
        <p14:creationId xmlns:p14="http://schemas.microsoft.com/office/powerpoint/2010/main" val="360408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33058BEC-1518-3DD5-CDA3-C36D157B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15"/>
          <a:stretch>
            <a:fillRect/>
          </a:stretch>
        </p:blipFill>
        <p:spPr>
          <a:xfrm>
            <a:off x="0" y="0"/>
            <a:ext cx="5945607" cy="6858000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9FE4CB8E-625A-E548-E044-1576833EF5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40"/>
          <a:stretch>
            <a:fillRect/>
          </a:stretch>
        </p:blipFill>
        <p:spPr>
          <a:xfrm>
            <a:off x="6096000" y="2126383"/>
            <a:ext cx="6085539" cy="329470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BF3A67-B73F-D4D6-9F3F-41046982B69C}"/>
              </a:ext>
            </a:extLst>
          </p:cNvPr>
          <p:cNvSpPr txBox="1"/>
          <p:nvPr/>
        </p:nvSpPr>
        <p:spPr>
          <a:xfrm>
            <a:off x="6246396" y="5993696"/>
            <a:ext cx="5825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tantia" panose="02030602050306030303" pitchFamily="18" charset="0"/>
              </a:rPr>
              <a:t>Source: </a:t>
            </a:r>
            <a:r>
              <a:rPr lang="zh-CN" altLang="en-US" sz="1400" dirty="0">
                <a:latin typeface="Constantia" panose="02030602050306030303" pitchFamily="18" charset="0"/>
                <a:hlinkClick r:id="rId4"/>
              </a:rPr>
              <a:t>https://news.gallup.com/poll/388988/political-ideology-steady-conservatives-moderates-tie.aspx?utm_source=chatgpt.com</a:t>
            </a:r>
            <a:endParaRPr lang="en-US" altLang="zh-CN" sz="1400" dirty="0">
              <a:latin typeface="Constantia" panose="020306020503060303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FB1E8E-94A9-CB47-E71E-2BA066AE377F}"/>
              </a:ext>
            </a:extLst>
          </p:cNvPr>
          <p:cNvSpPr txBox="1"/>
          <p:nvPr/>
        </p:nvSpPr>
        <p:spPr>
          <a:xfrm>
            <a:off x="6410684" y="341084"/>
            <a:ext cx="5497285" cy="78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What do you find?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Are there any fun and/or important facts?</a:t>
            </a:r>
          </a:p>
        </p:txBody>
      </p:sp>
    </p:spTree>
    <p:extLst>
      <p:ext uri="{BB962C8B-B14F-4D97-AF65-F5344CB8AC3E}">
        <p14:creationId xmlns:p14="http://schemas.microsoft.com/office/powerpoint/2010/main" val="290588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16" y="0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People Form Their Opinions?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1199439"/>
            <a:ext cx="11353799" cy="56585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Political socialization</a:t>
            </a:r>
            <a:endParaRPr lang="en-US" altLang="zh-CN" sz="16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Family (</a:t>
            </a:r>
            <a:r>
              <a:rPr lang="en-US" altLang="zh-CN" sz="2000" b="1" dirty="0">
                <a:latin typeface="Century Gothic" panose="020B0502020202020204" pitchFamily="34" charset="0"/>
              </a:rPr>
              <a:t>transmission model</a:t>
            </a:r>
            <a:r>
              <a:rPr lang="en-US" altLang="zh-CN" sz="2000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School (social order -&gt; civic education -&gt; more critical thinking)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Community &amp; peers (homogeneity; “information bubble” as the result of self selection)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Continuing socialization (workplaces; </a:t>
            </a:r>
            <a:r>
              <a:rPr lang="en-US" altLang="zh-CN" sz="2000" b="1" dirty="0">
                <a:latin typeface="Century Gothic" panose="020B0502020202020204" pitchFamily="34" charset="0"/>
              </a:rPr>
              <a:t>mass medias</a:t>
            </a:r>
            <a:r>
              <a:rPr lang="en-US" altLang="zh-CN" sz="20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Predictors of public opinion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Education, income, region, ethnicity, race, religion, gender… (“SES”)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Political knowledge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  <a:hlinkClick r:id="rId3"/>
              </a:rPr>
              <a:t>https://www.pewresearch.org/politics/quiz/what-do-you-know-about-the-u-s-government/</a:t>
            </a:r>
            <a:endParaRPr lang="en-US" altLang="zh-CN" sz="18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Cost-benefit analysis and cues, based on self-interest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“National interest” – </a:t>
            </a:r>
            <a:r>
              <a:rPr lang="en-US" altLang="zh-CN" sz="1800" b="1" dirty="0">
                <a:latin typeface="Century Gothic" panose="020B0502020202020204" pitchFamily="34" charset="0"/>
              </a:rPr>
              <a:t>“sociotropic responses”</a:t>
            </a:r>
            <a:r>
              <a:rPr lang="en-US" altLang="zh-CN" sz="1800" dirty="0">
                <a:latin typeface="Century Gothic" panose="020B0502020202020204" pitchFamily="34" charset="0"/>
              </a:rPr>
              <a:t>: how the country as a whole is doing can affect political preferences more strongly than one’s own personal circumstance.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Do you have such experiences? (maybe, to some degree, related to “patriotism”?)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Political leadership </a:t>
            </a:r>
            <a:r>
              <a:rPr lang="en-US" altLang="zh-CN" sz="2000" b="1" dirty="0">
                <a:latin typeface="Century Gothic" panose="020B0502020202020204" pitchFamily="34" charset="0"/>
              </a:rPr>
              <a:t>(by issue framing)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  <p:pic>
        <p:nvPicPr>
          <p:cNvPr id="5" name="图片 4" descr="QR 代码&#10;&#10;AI 生成的内容可能不正确。">
            <a:extLst>
              <a:ext uri="{FF2B5EF4-FFF2-40B4-BE49-F238E27FC236}">
                <a16:creationId xmlns:a16="http://schemas.microsoft.com/office/drawing/2014/main" id="{585EDCAA-1A4D-3EA5-B5F6-592BB2C9E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54" y="3525252"/>
            <a:ext cx="1577298" cy="150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A159-6E09-DF20-2CF9-5B674EF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DB59-FBA6-E571-4BCA-B4175B80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244819" cy="5291805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Let’s start with a 1-minute survey on media use! </a:t>
            </a:r>
          </a:p>
          <a:p>
            <a:pPr>
              <a:lnSpc>
                <a:spcPct val="105000"/>
              </a:lnSpc>
            </a:pPr>
            <a:endParaRPr lang="en-US" altLang="zh-CN" sz="1000" b="1" dirty="0">
              <a:latin typeface="Century Gothic" panose="020B0502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Print (Newspapers)</a:t>
            </a: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Broadcast (Radio</a:t>
            </a:r>
            <a:r>
              <a:rPr lang="zh-CN" altLang="en-US" sz="2200" b="1" dirty="0"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latin typeface="Century Gothic" panose="020B0502020202020204" pitchFamily="34" charset="0"/>
              </a:rPr>
              <a:t>&amp;</a:t>
            </a:r>
            <a:r>
              <a:rPr lang="zh-CN" altLang="en-US" sz="2200" b="1" dirty="0"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latin typeface="Century Gothic" panose="020B0502020202020204" pitchFamily="34" charset="0"/>
              </a:rPr>
              <a:t>Television)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“Higher-dimensional” information</a:t>
            </a:r>
            <a:r>
              <a:rPr lang="en-US" altLang="zh-CN" sz="2000" dirty="0">
                <a:latin typeface="Century Gothic" panose="020B0502020202020204" pitchFamily="34" charset="0"/>
              </a:rPr>
              <a:t>: compared with print media, they are more likely to influence public opinion. (by affecting </a:t>
            </a:r>
            <a:r>
              <a:rPr lang="en-US" altLang="zh-CN" sz="2000" b="1" dirty="0">
                <a:latin typeface="Century Gothic" panose="020B0502020202020204" pitchFamily="34" charset="0"/>
              </a:rPr>
              <a:t>attentive policy elites </a:t>
            </a:r>
            <a:r>
              <a:rPr lang="en-US" altLang="zh-CN" sz="2000" dirty="0">
                <a:latin typeface="Century Gothic" panose="020B0502020202020204" pitchFamily="34" charset="0"/>
              </a:rPr>
              <a:t>first; under the </a:t>
            </a:r>
            <a:r>
              <a:rPr lang="en-US" altLang="zh-CN" sz="2000" b="1" dirty="0">
                <a:latin typeface="Century Gothic" panose="020B0502020202020204" pitchFamily="34" charset="0"/>
              </a:rPr>
              <a:t>two-step flow of communication</a:t>
            </a:r>
            <a:r>
              <a:rPr lang="en-US" altLang="zh-CN" sz="2000" dirty="0">
                <a:latin typeface="Century Gothic" panose="020B0502020202020204" pitchFamily="34" charset="0"/>
              </a:rPr>
              <a:t>, elites inform their followers to pressure the government)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Internet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Most convenient, but sometimes less reliable (too many sources of information!)</a:t>
            </a:r>
          </a:p>
          <a:p>
            <a:pPr>
              <a:lnSpc>
                <a:spcPct val="120000"/>
              </a:lnSpc>
            </a:pPr>
            <a:endParaRPr kumimoji="1" lang="en-US" altLang="zh-CN" sz="10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In “Big data” era, should print and broadcast media still exist? Why or why not?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53FB3A-F8D3-064D-442A-DC7D8012FA2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Mass Media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pic>
        <p:nvPicPr>
          <p:cNvPr id="4" name="图片 3" descr="QR 代码&#10;&#10;AI 生成的内容可能不正确。">
            <a:extLst>
              <a:ext uri="{FF2B5EF4-FFF2-40B4-BE49-F238E27FC236}">
                <a16:creationId xmlns:a16="http://schemas.microsoft.com/office/drawing/2014/main" id="{872B82E0-8B6E-77A0-3E83-9331B46FD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237" y="0"/>
            <a:ext cx="2048512" cy="21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2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5019-845A-D7AB-D983-0F86E0ED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DFBA5-3510-9FBE-C01C-16F1DAADC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302" y="1464110"/>
            <a:ext cx="11298608" cy="5255346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What could happen if media is controlled by the government?</a:t>
            </a:r>
          </a:p>
          <a:p>
            <a:pPr>
              <a:lnSpc>
                <a:spcPct val="105000"/>
              </a:lnSpc>
            </a:pPr>
            <a:endParaRPr lang="en-US" altLang="zh-CN" sz="2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The consequences of private ownership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Market-driven entertaining news – newsworthiness lies in audience appeal. </a:t>
            </a:r>
          </a:p>
          <a:p>
            <a:pPr lvl="2">
              <a:lnSpc>
                <a:spcPct val="105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E.g. </a:t>
            </a:r>
            <a:r>
              <a:rPr lang="en-US" altLang="zh-CN" sz="1800" b="1" dirty="0">
                <a:latin typeface="Century Gothic" panose="020B0502020202020204" pitchFamily="34" charset="0"/>
              </a:rPr>
              <a:t>infotainment / soft news</a:t>
            </a:r>
            <a:r>
              <a:rPr lang="en-US" altLang="zh-CN" sz="1800" dirty="0">
                <a:latin typeface="Century Gothic" panose="020B0502020202020204" pitchFamily="34" charset="0"/>
              </a:rPr>
              <a:t>: a mix of information and diversion oriented to personalities or celebrities; not linked to the day’s events, and usually unrelated to public affairs / policy.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Concentration (Natural monopoly?)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Government regulation of the private media (See textbook)</a:t>
            </a:r>
          </a:p>
          <a:p>
            <a:pPr lvl="1">
              <a:lnSpc>
                <a:spcPct val="105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Century Gothic" panose="020B0502020202020204" pitchFamily="34" charset="0"/>
              </a:rPr>
              <a:t>Should there be </a:t>
            </a:r>
            <a:r>
              <a:rPr lang="en-US" altLang="zh-CN" sz="2000" b="1" dirty="0">
                <a:latin typeface="Century Gothic" panose="020B0502020202020204" pitchFamily="34" charset="0"/>
              </a:rPr>
              <a:t>any kind of media regulation </a:t>
            </a:r>
            <a:r>
              <a:rPr lang="en-US" altLang="zh-CN" sz="2000" dirty="0">
                <a:latin typeface="Century Gothic" panose="020B0502020202020204" pitchFamily="34" charset="0"/>
              </a:rPr>
              <a:t>(e.g. in the name of protecting public morality or national security)? Why or why not?</a:t>
            </a:r>
          </a:p>
          <a:p>
            <a:pPr lvl="1">
              <a:lnSpc>
                <a:spcPct val="105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Century Gothic" panose="020B0502020202020204" pitchFamily="34" charset="0"/>
              </a:rPr>
              <a:t>How has the rise of </a:t>
            </a:r>
            <a:r>
              <a:rPr lang="en-US" altLang="zh-CN" sz="2000" b="1" dirty="0">
                <a:latin typeface="Century Gothic" panose="020B0502020202020204" pitchFamily="34" charset="0"/>
              </a:rPr>
              <a:t>AI-generated content </a:t>
            </a:r>
            <a:r>
              <a:rPr lang="en-US" altLang="zh-CN" sz="2000" dirty="0">
                <a:latin typeface="Century Gothic" panose="020B0502020202020204" pitchFamily="34" charset="0"/>
              </a:rPr>
              <a:t>changed the meaning or feasibility of media regulation?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34742EE-5585-A219-147E-CA435F691457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Private Ownership of the Media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121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2A45-D489-EA58-7966-2A31CD9E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59356-3FE9-0EC1-9A5F-31FC6EC15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123856"/>
            <a:ext cx="11392737" cy="5868613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Reporting the news: </a:t>
            </a:r>
            <a:r>
              <a:rPr lang="en-US" altLang="zh-CN" sz="2200" dirty="0">
                <a:latin typeface="Century Gothic" panose="020B0502020202020204" pitchFamily="34" charset="0"/>
              </a:rPr>
              <a:t>How the media cover political affairs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President: through the Office of the Press Secretary (e.g. news release); </a:t>
            </a:r>
            <a:r>
              <a:rPr lang="en-US" altLang="zh-CN" sz="2000" b="1" dirty="0">
                <a:latin typeface="Century Gothic" panose="020B0502020202020204" pitchFamily="34" charset="0"/>
              </a:rPr>
              <a:t>Truth Social?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Congress: press releases, congressional reports, members’ social networking accounts 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Interpreting and presenting: </a:t>
            </a:r>
            <a:r>
              <a:rPr lang="en-US" altLang="zh-CN" sz="2200" dirty="0">
                <a:latin typeface="Century Gothic" panose="020B0502020202020204" pitchFamily="34" charset="0"/>
              </a:rPr>
              <a:t>What they choose to become news </a:t>
            </a:r>
            <a:r>
              <a:rPr lang="en-US" altLang="zh-CN" sz="2200" b="1" dirty="0">
                <a:latin typeface="Century Gothic" panose="020B0502020202020204" pitchFamily="34" charset="0"/>
              </a:rPr>
              <a:t>(“Gate-keeper”)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i="1" dirty="0">
                <a:latin typeface="Century Gothic" panose="020B0502020202020204" pitchFamily="34" charset="0"/>
              </a:rPr>
              <a:t>Horse race journalism </a:t>
            </a:r>
            <a:r>
              <a:rPr lang="en-US" altLang="zh-CN" sz="2000" dirty="0">
                <a:latin typeface="Century Gothic" panose="020B0502020202020204" pitchFamily="34" charset="0"/>
              </a:rPr>
              <a:t>in elections – because individuals have attractive personalities!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Media events </a:t>
            </a:r>
            <a:r>
              <a:rPr lang="en-US" altLang="zh-CN" sz="2000" dirty="0">
                <a:latin typeface="Century Gothic" panose="020B0502020202020204" pitchFamily="34" charset="0"/>
              </a:rPr>
              <a:t>that the mass media are compelled to cover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Television hypothesis</a:t>
            </a:r>
            <a:r>
              <a:rPr lang="en-US" altLang="zh-CN" sz="2000" dirty="0">
                <a:latin typeface="Century Gothic" panose="020B0502020202020204" pitchFamily="34" charset="0"/>
              </a:rPr>
              <a:t>: Television is to blame for the low level of citizens’ political knowledge (fragmental information, personal view, under regulation of FCC – can discourage respect for different opinions and lead to political distrust)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dirty="0">
                <a:latin typeface="Century Gothic" panose="020B0502020202020204" pitchFamily="34" charset="0"/>
              </a:rPr>
              <a:t>-&gt;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Is it fair?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Claims of ideological bias among the mass media may be overblown.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Journalists are liberal, but there are no gatekeeping bias and minimal framing bias.</a:t>
            </a:r>
          </a:p>
          <a:p>
            <a:pPr lvl="2">
              <a:lnSpc>
                <a:spcPct val="105000"/>
              </a:lnSpc>
            </a:pPr>
            <a:r>
              <a:rPr lang="en-US" altLang="zh-CN" dirty="0">
                <a:latin typeface="Constantia" panose="02030602050306030303" pitchFamily="18" charset="0"/>
              </a:rPr>
              <a:t>Journalists were just as likely to respond to very conservative candidates as very progressive candidates. They weren’t more interested in covering a candidate of their own ideology.</a:t>
            </a:r>
          </a:p>
          <a:p>
            <a:pPr lvl="2">
              <a:lnSpc>
                <a:spcPct val="105000"/>
              </a:lnSpc>
            </a:pPr>
            <a:r>
              <a:rPr lang="en-US" altLang="zh-CN" dirty="0">
                <a:latin typeface="Constantia" panose="02030602050306030303" pitchFamily="18" charset="0"/>
              </a:rPr>
              <a:t>Conservative newspapers are not overt Trump cheerleaders, and liberal outlets are not overly negative.</a:t>
            </a:r>
            <a:endParaRPr lang="en-US" altLang="zh-CN" sz="2000" dirty="0">
              <a:latin typeface="Constantia" panose="02030602050306030303" pitchFamily="18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5C8ED79-0F62-DED0-2D1E-3FB3AD83F96A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Functions of the Mass Media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64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40B7FCE3-8C86-5BEA-66BD-9FA8437A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76365" cy="3818965"/>
          </a:xfrm>
          <a:prstGeom prst="rect">
            <a:avLst/>
          </a:prstGeom>
        </p:spPr>
      </p:pic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CD317576-4F7F-A120-7AAC-7D91DC263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65" y="2439438"/>
            <a:ext cx="6315634" cy="44185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6A0443-969E-C369-0429-4C0FA51E6AC8}"/>
              </a:ext>
            </a:extLst>
          </p:cNvPr>
          <p:cNvSpPr txBox="1"/>
          <p:nvPr/>
        </p:nvSpPr>
        <p:spPr>
          <a:xfrm>
            <a:off x="379080" y="4257009"/>
            <a:ext cx="5497285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What does this pattern mean,</a:t>
            </a:r>
          </a:p>
          <a:p>
            <a:pPr marL="742950" lvl="1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when we wish to connect “attitude” with “behavior” in an unquestionable way?</a:t>
            </a:r>
          </a:p>
          <a:p>
            <a:pPr marL="742950" lvl="1" indent="-28575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b="1" dirty="0">
                <a:latin typeface="Constantia" panose="02030602050306030303" pitchFamily="18" charset="0"/>
              </a:rPr>
              <a:t>when politicians claim that there are bias in the media to undermine negative coverage or avoid blame?</a:t>
            </a:r>
          </a:p>
        </p:txBody>
      </p:sp>
    </p:spTree>
    <p:extLst>
      <p:ext uri="{BB962C8B-B14F-4D97-AF65-F5344CB8AC3E}">
        <p14:creationId xmlns:p14="http://schemas.microsoft.com/office/powerpoint/2010/main" val="126063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804EB-C88D-8DA7-CE96-A2DFFC85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B5417-0AA6-EB0B-CA5A-229C09E65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392737" cy="5532437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Setting the political agenda: </a:t>
            </a:r>
            <a:r>
              <a:rPr lang="en-US" altLang="zh-CN" sz="2200" dirty="0">
                <a:latin typeface="Century Gothic" panose="020B0502020202020204" pitchFamily="34" charset="0"/>
              </a:rPr>
              <a:t>Who follows the news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Forcing the government to confront issues identified as needing attention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Can also keep the agenda issues that perhaps should attract fewer public resources 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Can social media users set the political agenda in the same way traditional media do? Why or why not?</a:t>
            </a: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Socializing the citizenry: </a:t>
            </a:r>
            <a:r>
              <a:rPr lang="en-US" altLang="zh-CN" sz="2200" dirty="0">
                <a:latin typeface="Century Gothic" panose="020B0502020202020204" pitchFamily="34" charset="0"/>
              </a:rPr>
              <a:t>What they remember and learn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 channel for young people to be “socialized” (talked before)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Reinforce the hegemony of existing culture and order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Contradictory roles</a:t>
            </a:r>
            <a:r>
              <a:rPr lang="en-US" altLang="zh-CN" sz="2000" dirty="0">
                <a:latin typeface="Century Gothic" panose="020B0502020202020204" pitchFamily="34" charset="0"/>
              </a:rPr>
              <a:t>: to promote popular support for government, or to erode public confidence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Is political socialization through media primarily a cognitive process (learning information) or an affective one (developing attachments and identities)?</a:t>
            </a: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0E5C8B0-4A92-AF6D-88FF-DFD67711BF91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Functions of the Mass Media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41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B04D-32EE-7C37-B478-9A05CD1F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119B7-4948-05D2-11C5-F1ED24A52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49" y="1325563"/>
            <a:ext cx="11643748" cy="5532437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Bias do exist (to some extent), but it doesn’t matter sometimes. </a:t>
            </a:r>
            <a:endParaRPr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Value-freedom is merely ideal type! And people can have “self-selection”.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Contributions to democracy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Watchdog journalism</a:t>
            </a:r>
            <a:r>
              <a:rPr lang="en-US" altLang="zh-CN" sz="2000" dirty="0">
                <a:latin typeface="Century Gothic" panose="020B0502020202020204" pitchFamily="34" charset="0"/>
              </a:rPr>
              <a:t>: Journalism that scrutinizes public and business institutions and publicizes perceived misconduct.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Use their polling expertise</a:t>
            </a:r>
            <a:r>
              <a:rPr lang="en-US" altLang="zh-CN" sz="2000" dirty="0">
                <a:latin typeface="Century Gothic" panose="020B0502020202020204" pitchFamily="34" charset="0"/>
              </a:rPr>
              <a:t>: to generate more accurate knowledge of public opinion and to report that knowledge to public officials as well as to the public - so the public opinion influences policy, fit to the majoritarian model of democracy.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Effects on freedom, order, and equality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Advancing </a:t>
            </a:r>
            <a:r>
              <a:rPr lang="en-US" altLang="zh-CN" sz="2000" b="1" dirty="0">
                <a:latin typeface="Century Gothic" panose="020B0502020202020204" pitchFamily="34" charset="0"/>
              </a:rPr>
              <a:t>equality</a:t>
            </a:r>
            <a:r>
              <a:rPr lang="en-US" altLang="zh-CN" sz="2000" dirty="0">
                <a:latin typeface="Century Gothic" panose="020B0502020202020204" pitchFamily="34" charset="0"/>
              </a:rPr>
              <a:t> (even at the cost of some personal </a:t>
            </a:r>
            <a:r>
              <a:rPr lang="en-US" altLang="zh-CN" sz="2000" b="1" dirty="0">
                <a:latin typeface="Century Gothic" panose="020B0502020202020204" pitchFamily="34" charset="0"/>
              </a:rPr>
              <a:t>freedom</a:t>
            </a:r>
            <a:r>
              <a:rPr lang="en-US" altLang="zh-CN" sz="2000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Resisting government attempts to exchange </a:t>
            </a:r>
            <a:r>
              <a:rPr lang="en-US" altLang="zh-CN" sz="2000" b="1" dirty="0">
                <a:latin typeface="Century Gothic" panose="020B0502020202020204" pitchFamily="34" charset="0"/>
              </a:rPr>
              <a:t>freedom</a:t>
            </a:r>
            <a:r>
              <a:rPr lang="en-US" altLang="zh-CN" sz="2000" dirty="0">
                <a:latin typeface="Century Gothic" panose="020B0502020202020204" pitchFamily="34" charset="0"/>
              </a:rPr>
              <a:t> of the press for </a:t>
            </a:r>
            <a:r>
              <a:rPr lang="en-US" altLang="zh-CN" sz="2000" b="1" dirty="0">
                <a:latin typeface="Century Gothic" panose="020B0502020202020204" pitchFamily="34" charset="0"/>
              </a:rPr>
              <a:t>order</a:t>
            </a:r>
          </a:p>
          <a:p>
            <a:pPr lvl="2">
              <a:lnSpc>
                <a:spcPct val="105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Democracies sometimes sacrifice order when they preserve freedom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Should journalists engage in a way of activism when reporting on moral issues?</a:t>
            </a:r>
            <a:r>
              <a:rPr lang="zh-CN" alt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b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Under potential political pressure, should journalist still keep professional ethics?</a:t>
            </a:r>
          </a:p>
          <a:p>
            <a:pPr lvl="1">
              <a:lnSpc>
                <a:spcPct val="105000"/>
              </a:lnSpc>
            </a:pPr>
            <a:endParaRPr lang="en-US" altLang="zh-CN" sz="2000" b="1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5777682-E1A3-C135-B3F9-40422A3102E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B5ABAF4-B0B3-8C23-36C8-8502DBA8A922}"/>
              </a:ext>
            </a:extLst>
          </p:cNvPr>
          <p:cNvSpPr txBox="1">
            <a:spLocks/>
          </p:cNvSpPr>
          <p:nvPr/>
        </p:nvSpPr>
        <p:spPr>
          <a:xfrm>
            <a:off x="548250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Evaluating the Mass Media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84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Participation &amp; Voting</a:t>
            </a:r>
            <a:r>
              <a:rPr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8857</TotalTime>
  <Words>1790</Words>
  <Application>Microsoft Macintosh PowerPoint</Application>
  <PresentationFormat>宽屏</PresentationFormat>
  <Paragraphs>148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Arial</vt:lpstr>
      <vt:lpstr>Century Gothic</vt:lpstr>
      <vt:lpstr>Constantia</vt:lpstr>
      <vt:lpstr>Wingdings</vt:lpstr>
      <vt:lpstr>Office 主题​​</vt:lpstr>
      <vt:lpstr>13. Public Opinion &amp; Mass Media</vt:lpstr>
      <vt:lpstr>Public Opinion and Democracy</vt:lpstr>
      <vt:lpstr>Stability of Public Opinion Matters!</vt:lpstr>
      <vt:lpstr>Stable Ideology-related Public Opinion </vt:lpstr>
      <vt:lpstr>PowerPoint 演示文稿</vt:lpstr>
      <vt:lpstr>PowerPoint 演示文稿</vt:lpstr>
      <vt:lpstr>PowerPoint 演示文稿</vt:lpstr>
      <vt:lpstr>PowerPoint 演示文稿</vt:lpstr>
      <vt:lpstr>How People Form Their Opinions?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136</cp:revision>
  <dcterms:created xsi:type="dcterms:W3CDTF">2025-08-13T18:40:43Z</dcterms:created>
  <dcterms:modified xsi:type="dcterms:W3CDTF">2025-11-04T04:28:16Z</dcterms:modified>
</cp:coreProperties>
</file>