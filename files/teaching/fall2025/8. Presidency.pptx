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8" r:id="rId4"/>
    <p:sldId id="273" r:id="rId5"/>
    <p:sldId id="269" r:id="rId6"/>
    <p:sldId id="277" r:id="rId7"/>
    <p:sldId id="276" r:id="rId8"/>
    <p:sldId id="27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24"/>
    <p:restoredTop sz="83605"/>
  </p:normalViewPr>
  <p:slideViewPr>
    <p:cSldViewPr snapToGrid="0">
      <p:cViewPr varScale="1">
        <p:scale>
          <a:sx n="106" d="100"/>
          <a:sy n="106" d="100"/>
        </p:scale>
        <p:origin x="1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Today we re going to talk about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Trump v. United States (2024) decided that former presidents have partial immunity from prosecution for official acts while in office</a:t>
            </a:r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015E-7C30-95E0-50B7-2BC75A1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407B06-328E-B4C4-79CE-77515F6CC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FE706A-9F42-8BFA-6CCD-149A2B826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3F599-BBF3-CD7F-FE75-BFACA0AD0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65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258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E40A-A8F4-FDE3-3612-62CC209B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DE4750-D1A4-38C5-F498-193DD6811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A7F0E-14E6-3716-BCB6-AC1F579F7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34AB4D-6D58-DCD7-3730-62CA58F68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743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D9A2-5C48-AD20-9E21-5F634BF4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F92647-51EA-0FA6-6F4B-0D0C5F764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25089E-1B52-E613-B9F7-5AC772D15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4D08FC-D181-84A6-8924-419EF3150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8005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2A2B2-99F4-8434-4043-90F0045D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F74401-6074-DFA7-3822-B784E477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81339-2B7E-6BEB-C024-61DAE1D07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600" dirty="0"/>
              <a:t>画那个图：两党选民在意识形态上的重合部分越来越少</a:t>
            </a:r>
            <a:r>
              <a:rPr kumimoji="1" lang="en-US" altLang="zh-CN" sz="1600" dirty="0"/>
              <a:t>……</a:t>
            </a:r>
            <a:r>
              <a:rPr kumimoji="1" lang="zh-CN" altLang="en-US" sz="1600" dirty="0"/>
              <a:t>这种情况下模糊还有用吗？</a:t>
            </a:r>
            <a:endParaRPr kumimoji="1" lang="en-US" altLang="zh-CN" sz="1600" dirty="0"/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Affordable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care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act</a:t>
            </a:r>
            <a:r>
              <a:rPr kumimoji="1" lang="zh-CN" altLang="en-US" sz="1600" dirty="0"/>
              <a:t> （</a:t>
            </a:r>
            <a:r>
              <a:rPr kumimoji="1" lang="en-US" altLang="zh-CN" sz="1600" dirty="0"/>
              <a:t>ACA</a:t>
            </a:r>
            <a:r>
              <a:rPr kumimoji="1" lang="zh-CN" altLang="en-US" sz="1600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C5F41-02AA-0710-0856-F0FD4FBFB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99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2025/10/3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903888"/>
            <a:ext cx="9444788" cy="1439425"/>
          </a:xfrm>
        </p:spPr>
        <p:txBody>
          <a:bodyPr>
            <a:normAutofit/>
          </a:bodyPr>
          <a:lstStyle/>
          <a:p>
            <a:r>
              <a:rPr kumimoji="1" lang="en-US" altLang="zh-CN" sz="5400" b="1" dirty="0">
                <a:latin typeface="Century Gothic" panose="020B0502020202020204" pitchFamily="34" charset="0"/>
              </a:rPr>
              <a:t>8. Presidency</a:t>
            </a:r>
            <a:endParaRPr kumimoji="1" lang="zh-CN" altLang="en-US" sz="54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Presidential Power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404"/>
            <a:ext cx="10515600" cy="53995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i="1" dirty="0">
                <a:latin typeface="Century Gothic" panose="020B0502020202020204" pitchFamily="34" charset="0"/>
              </a:rPr>
              <a:t>The origin of Presidency power was the result of desire for a strong, centralized leadership.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Duties and powers (p. 325)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Why does the presidential power always tend to expand?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Conflictions between providing and limiting it (with no existing examples!)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Ambiguities of the Constitution -&gt; </a:t>
            </a:r>
            <a:r>
              <a:rPr lang="en-US" altLang="zh-CN" sz="2000" b="1" dirty="0">
                <a:latin typeface="Century Gothic" panose="020B0502020202020204" pitchFamily="34" charset="0"/>
              </a:rPr>
              <a:t>the inherent powers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growth of formal powers based on political and economic contexts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</a:t>
            </a:r>
            <a:r>
              <a:rPr lang="en-US" altLang="zh-CN" sz="2000" b="1" dirty="0">
                <a:latin typeface="Century Gothic" panose="020B0502020202020204" pitchFamily="34" charset="0"/>
              </a:rPr>
              <a:t>delegation of powers </a:t>
            </a:r>
            <a:r>
              <a:rPr lang="en-US" altLang="zh-CN" sz="2000" dirty="0">
                <a:latin typeface="Century Gothic" panose="020B0502020202020204" pitchFamily="34" charset="0"/>
              </a:rPr>
              <a:t>by the Congress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Low coordination cost -&gt; </a:t>
            </a:r>
            <a:r>
              <a:rPr lang="en-US" altLang="zh-CN" sz="2000" b="1" dirty="0">
                <a:latin typeface="Century Gothic" panose="020B0502020202020204" pitchFamily="34" charset="0"/>
              </a:rPr>
              <a:t>unilateral action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Veto legislation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Executive orders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Presidential memorandum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Signing statement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proclamation</a:t>
            </a: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6F16-9FF2-0C95-D10C-7464FE9C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E344E-C485-BD9A-0D2F-144EA77D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Presidential Power</a:t>
            </a:r>
            <a:r>
              <a:rPr kumimoji="1" lang="zh-CN" altLang="en-US" sz="36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3600" b="1" dirty="0">
                <a:latin typeface="Century Gothic" panose="020B0502020202020204" pitchFamily="34" charset="0"/>
              </a:rPr>
              <a:t>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4BEA0A-7F6B-738C-2DB6-849C854CE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036"/>
            <a:ext cx="10639926" cy="51349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i="1" dirty="0">
                <a:latin typeface="Century Gothic" panose="020B0502020202020204" pitchFamily="34" charset="0"/>
              </a:rPr>
              <a:t>Boundary: Trump v. the United States (2024)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Group discussion outline</a:t>
            </a:r>
          </a:p>
          <a:p>
            <a:pPr lvl="2">
              <a:lnSpc>
                <a:spcPct val="100000"/>
              </a:lnSpc>
            </a:pPr>
            <a:r>
              <a:rPr lang="en-US" altLang="zh-CN" dirty="0">
                <a:latin typeface="Century Gothic" panose="020B0502020202020204" pitchFamily="34" charset="0"/>
              </a:rPr>
              <a:t>Did the Supreme Court in Trump v. United States </a:t>
            </a:r>
            <a:r>
              <a:rPr lang="en-US" altLang="zh-CN" b="1" dirty="0">
                <a:latin typeface="Century Gothic" panose="020B0502020202020204" pitchFamily="34" charset="0"/>
              </a:rPr>
              <a:t>expand presidential immunity </a:t>
            </a:r>
            <a:r>
              <a:rPr lang="en-US" altLang="zh-CN" b="1" dirty="0">
                <a:solidFill>
                  <a:srgbClr val="FF0000"/>
                </a:solidFill>
                <a:latin typeface="Century Gothic" panose="020B0502020202020204" pitchFamily="34" charset="0"/>
              </a:rPr>
              <a:t>too far</a:t>
            </a:r>
            <a:r>
              <a:rPr lang="en-US" altLang="zh-CN" dirty="0">
                <a:latin typeface="Century Gothic" panose="020B0502020202020204" pitchFamily="34" charset="0"/>
              </a:rPr>
              <a:t>?</a:t>
            </a:r>
          </a:p>
          <a:p>
            <a:pPr lvl="2">
              <a:lnSpc>
                <a:spcPct val="100000"/>
              </a:lnSpc>
            </a:pPr>
            <a:r>
              <a:rPr lang="en-US" altLang="zh-CN" dirty="0">
                <a:latin typeface="Century Gothic" panose="020B0502020202020204" pitchFamily="34" charset="0"/>
              </a:rPr>
              <a:t>Should presidential immunity distinguish between </a:t>
            </a:r>
            <a:r>
              <a:rPr lang="en-US" altLang="zh-CN" b="1" dirty="0">
                <a:solidFill>
                  <a:srgbClr val="FF0000"/>
                </a:solidFill>
                <a:latin typeface="Century Gothic" panose="020B0502020202020204" pitchFamily="34" charset="0"/>
              </a:rPr>
              <a:t>“official acts” </a:t>
            </a:r>
            <a:r>
              <a:rPr lang="en-US" altLang="zh-CN" b="1" dirty="0">
                <a:latin typeface="Century Gothic" panose="020B0502020202020204" pitchFamily="34" charset="0"/>
              </a:rPr>
              <a:t>and “personal acts”</a:t>
            </a:r>
            <a:r>
              <a:rPr lang="en-US" altLang="zh-CN" dirty="0">
                <a:latin typeface="Century Gothic" panose="020B0502020202020204" pitchFamily="34" charset="0"/>
              </a:rPr>
              <a:t>? Is this boundary clear?</a:t>
            </a:r>
          </a:p>
          <a:p>
            <a:pPr lvl="2">
              <a:lnSpc>
                <a:spcPct val="100000"/>
              </a:lnSpc>
            </a:pPr>
            <a:r>
              <a:rPr lang="en-US" altLang="zh-CN" dirty="0">
                <a:latin typeface="Century Gothic" panose="020B0502020202020204" pitchFamily="34" charset="0"/>
              </a:rPr>
              <a:t>Compared with </a:t>
            </a:r>
            <a:r>
              <a:rPr lang="en-US" altLang="zh-CN" b="1" dirty="0">
                <a:latin typeface="Century Gothic" panose="020B0502020202020204" pitchFamily="34" charset="0"/>
              </a:rPr>
              <a:t>impeachment by Congress</a:t>
            </a:r>
            <a:r>
              <a:rPr lang="en-US" altLang="zh-CN" dirty="0">
                <a:latin typeface="Century Gothic" panose="020B0502020202020204" pitchFamily="34" charset="0"/>
              </a:rPr>
              <a:t>, is </a:t>
            </a:r>
            <a:r>
              <a:rPr lang="en-US" altLang="zh-CN" b="1" dirty="0">
                <a:latin typeface="Century Gothic" panose="020B0502020202020204" pitchFamily="34" charset="0"/>
              </a:rPr>
              <a:t>judicial prosecution </a:t>
            </a:r>
            <a:r>
              <a:rPr lang="en-US" altLang="zh-CN" dirty="0">
                <a:latin typeface="Century Gothic" panose="020B0502020202020204" pitchFamily="34" charset="0"/>
              </a:rPr>
              <a:t>a more effective way to hold presidents accountable?</a:t>
            </a:r>
          </a:p>
          <a:p>
            <a:pPr lvl="2">
              <a:lnSpc>
                <a:spcPct val="100000"/>
              </a:lnSpc>
            </a:pPr>
            <a:r>
              <a:rPr lang="en-US" altLang="zh-CN" dirty="0">
                <a:latin typeface="Century Gothic" panose="020B0502020202020204" pitchFamily="34" charset="0"/>
              </a:rPr>
              <a:t>Does this ruling </a:t>
            </a:r>
            <a:r>
              <a:rPr lang="en-US" altLang="zh-CN" b="1" dirty="0">
                <a:latin typeface="Century Gothic" panose="020B0502020202020204" pitchFamily="34" charset="0"/>
              </a:rPr>
              <a:t>shift the balance of power </a:t>
            </a:r>
            <a:r>
              <a:rPr lang="en-US" altLang="zh-CN" dirty="0">
                <a:latin typeface="Century Gothic" panose="020B0502020202020204" pitchFamily="34" charset="0"/>
              </a:rPr>
              <a:t>among the three branches of government? What impact does this decision have on </a:t>
            </a:r>
            <a:r>
              <a:rPr lang="en-US" altLang="zh-CN" b="1" dirty="0">
                <a:latin typeface="Century Gothic" panose="020B0502020202020204" pitchFamily="34" charset="0"/>
              </a:rPr>
              <a:t>public trust in judicial independence</a:t>
            </a:r>
            <a:r>
              <a:rPr lang="en-US" altLang="zh-CN" dirty="0">
                <a:latin typeface="Century Gothic" panose="020B0502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9658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DF19-AE2F-E17B-5060-D172DE00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808368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Executive Branch Establishment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461B-7676-BF5C-15AD-6B279E37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99438"/>
            <a:ext cx="11353799" cy="56585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The Executive Office of the President (EOP)</a:t>
            </a:r>
            <a:endParaRPr lang="en-US" altLang="zh-CN" sz="16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The White House Office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National Security Council (NSC)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Council of Economic Advisers &amp; the National Economic Council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Office of Management and Budget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Staffs organized around specialties – e.g. the legislative liaison staff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EOP provides </a:t>
            </a:r>
            <a:r>
              <a:rPr lang="en-US" altLang="zh-CN" sz="2200" b="1" dirty="0">
                <a:latin typeface="Century Gothic" panose="020B0502020202020204" pitchFamily="34" charset="0"/>
              </a:rPr>
              <a:t>flexibility</a:t>
            </a:r>
            <a:r>
              <a:rPr lang="en-US" altLang="zh-CN" sz="2200" dirty="0">
                <a:latin typeface="Century Gothic" panose="020B0502020202020204" pitchFamily="34" charset="0"/>
              </a:rPr>
              <a:t> for the presidential power.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If you were the president, would you prefer relying on a small circle of close advisers, or listening widely to input from different departments?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National Security Crisis; Natural Disaster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Social Movements and Public Opinion Pressure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Domestic Reform (e.g. Health care)</a:t>
            </a:r>
            <a:endParaRPr lang="en-US" altLang="zh-CN" sz="1800" b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When selecting team members, should a leader prioritize loyalty or competence?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How to make a trade-off between executive efficiency &amp; the information filter problem?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E965-1EC2-75B0-A138-BE54EB21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E3BBD-CC59-43AC-483F-5B2DB4E5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165743"/>
            <a:ext cx="11095496" cy="56922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James David Barber, </a:t>
            </a:r>
            <a:r>
              <a:rPr lang="en-US" altLang="zh-CN" sz="2200" b="1" i="1" dirty="0">
                <a:latin typeface="Century Gothic" panose="020B0502020202020204" pitchFamily="34" charset="0"/>
              </a:rPr>
              <a:t>The Presidential Character</a:t>
            </a:r>
            <a:endParaRPr kumimoji="1" lang="en-US" altLang="zh-CN" sz="2200" b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A president’s </a:t>
            </a:r>
            <a:r>
              <a:rPr lang="en-US" altLang="zh-CN" sz="2000" b="1" dirty="0">
                <a:latin typeface="Century Gothic" panose="020B0502020202020204" pitchFamily="34" charset="0"/>
              </a:rPr>
              <a:t>character, worldview, and style</a:t>
            </a:r>
            <a:r>
              <a:rPr lang="en-US" altLang="zh-CN" sz="2000" dirty="0">
                <a:latin typeface="Century Gothic" panose="020B0502020202020204" pitchFamily="34" charset="0"/>
              </a:rPr>
              <a:t>—shaped long before they enter the White House—provide important clues about how they will behave once in office. </a:t>
            </a:r>
          </a:p>
          <a:p>
            <a:pPr lvl="1"/>
            <a:r>
              <a:rPr lang="en-US" altLang="zh-CN" sz="2000" b="1" dirty="0">
                <a:latin typeface="Century Gothic" panose="020B0502020202020204" pitchFamily="34" charset="0"/>
              </a:rPr>
              <a:t>A two-dimensional framework</a:t>
            </a:r>
            <a:endParaRPr lang="en-US" altLang="zh-CN" sz="2000" dirty="0">
              <a:latin typeface="Century Gothic" panose="020B0502020202020204" pitchFamily="34" charset="0"/>
            </a:endParaRPr>
          </a:p>
          <a:p>
            <a:pPr lvl="2"/>
            <a:r>
              <a:rPr lang="en-US" altLang="zh-CN" sz="1800" b="1" dirty="0">
                <a:latin typeface="Century Gothic" panose="020B0502020202020204" pitchFamily="34" charset="0"/>
              </a:rPr>
              <a:t>Active vs. Passive</a:t>
            </a:r>
            <a:r>
              <a:rPr lang="en-US" altLang="zh-CN" sz="1800" dirty="0">
                <a:latin typeface="Century Gothic" panose="020B0502020202020204" pitchFamily="34" charset="0"/>
              </a:rPr>
              <a:t> → the amount of energy the president invests in the job (highly engaged and driven vs. more hands-off and reactive).</a:t>
            </a:r>
          </a:p>
          <a:p>
            <a:pPr lvl="2"/>
            <a:r>
              <a:rPr lang="en-US" altLang="zh-CN" sz="1800" b="1" dirty="0">
                <a:latin typeface="Century Gothic" panose="020B0502020202020204" pitchFamily="34" charset="0"/>
              </a:rPr>
              <a:t>Positive vs. Negative</a:t>
            </a:r>
            <a:r>
              <a:rPr lang="en-US" altLang="zh-CN" sz="1800" dirty="0">
                <a:latin typeface="Century Gothic" panose="020B0502020202020204" pitchFamily="34" charset="0"/>
              </a:rPr>
              <a:t> → the president’s underlying attitude toward politics and the office (optimistic and enthusiastic vs. resentful or anxious).</a:t>
            </a:r>
          </a:p>
          <a:p>
            <a:pPr lvl="1"/>
            <a:endParaRPr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15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ED413E5-1736-8558-749C-4C81B5413F49}"/>
              </a:ext>
            </a:extLst>
          </p:cNvPr>
          <p:cNvSpPr txBox="1">
            <a:spLocks/>
          </p:cNvSpPr>
          <p:nvPr/>
        </p:nvSpPr>
        <p:spPr>
          <a:xfrm>
            <a:off x="54825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Presidential</a:t>
            </a:r>
            <a:r>
              <a:rPr kumimoji="1" lang="zh-CN" altLang="en-US" sz="36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3600" b="1" dirty="0">
                <a:latin typeface="Century Gothic" panose="020B0502020202020204" pitchFamily="34" charset="0"/>
              </a:rPr>
              <a:t>Leadership (1): Personality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993EFD8-DBA8-F4CD-9F9B-204EEED6D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342007"/>
              </p:ext>
            </p:extLst>
          </p:nvPr>
        </p:nvGraphicFramePr>
        <p:xfrm>
          <a:off x="671679" y="3713421"/>
          <a:ext cx="11255626" cy="3144579"/>
        </p:xfrm>
        <a:graphic>
          <a:graphicData uri="http://schemas.openxmlformats.org/drawingml/2006/table">
            <a:tbl>
              <a:tblPr/>
              <a:tblGrid>
                <a:gridCol w="1800174">
                  <a:extLst>
                    <a:ext uri="{9D8B030D-6E8A-4147-A177-3AD203B41FA5}">
                      <a16:colId xmlns:a16="http://schemas.microsoft.com/office/drawing/2014/main" val="1499601135"/>
                    </a:ext>
                  </a:extLst>
                </a:gridCol>
                <a:gridCol w="3827639">
                  <a:extLst>
                    <a:ext uri="{9D8B030D-6E8A-4147-A177-3AD203B41FA5}">
                      <a16:colId xmlns:a16="http://schemas.microsoft.com/office/drawing/2014/main" val="1754473371"/>
                    </a:ext>
                  </a:extLst>
                </a:gridCol>
                <a:gridCol w="3862634">
                  <a:extLst>
                    <a:ext uri="{9D8B030D-6E8A-4147-A177-3AD203B41FA5}">
                      <a16:colId xmlns:a16="http://schemas.microsoft.com/office/drawing/2014/main" val="2104867044"/>
                    </a:ext>
                  </a:extLst>
                </a:gridCol>
                <a:gridCol w="1765179">
                  <a:extLst>
                    <a:ext uri="{9D8B030D-6E8A-4147-A177-3AD203B41FA5}">
                      <a16:colId xmlns:a16="http://schemas.microsoft.com/office/drawing/2014/main" val="2503460994"/>
                    </a:ext>
                  </a:extLst>
                </a:gridCol>
              </a:tblGrid>
              <a:tr h="599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latin typeface="Constantia" panose="02030602050306030303" pitchFamily="18" charset="0"/>
                        </a:rPr>
                        <a:t>Type</a:t>
                      </a:r>
                      <a:endParaRPr lang="en-US" sz="1500" dirty="0">
                        <a:latin typeface="Constantia" panose="02030602050306030303" pitchFamily="18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Constantia" panose="02030602050306030303" pitchFamily="18" charset="0"/>
                        </a:rPr>
                        <a:t>Description</a:t>
                      </a:r>
                      <a:endParaRPr lang="en-US" sz="1500">
                        <a:latin typeface="Constantia" panose="02030602050306030303" pitchFamily="18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Constantia" panose="02030602050306030303" pitchFamily="18" charset="0"/>
                        </a:rPr>
                        <a:t>Strengths / Weaknesses</a:t>
                      </a:r>
                      <a:endParaRPr lang="en-US" sz="1500">
                        <a:latin typeface="Constantia" panose="02030602050306030303" pitchFamily="18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Constantia" panose="02030602050306030303" pitchFamily="18" charset="0"/>
                        </a:rPr>
                        <a:t>Examples (Barber’s view)</a:t>
                      </a:r>
                      <a:endParaRPr lang="en-US" sz="1500">
                        <a:latin typeface="Constantia" panose="02030602050306030303" pitchFamily="18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865257"/>
                  </a:ext>
                </a:extLst>
              </a:tr>
              <a:tr h="599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Constantia" panose="02030602050306030303" pitchFamily="18" charset="0"/>
                        </a:rPr>
                        <a:t>Active-Positive</a:t>
                      </a:r>
                      <a:endParaRPr lang="en-US" sz="1500">
                        <a:latin typeface="Constantia" panose="02030602050306030303" pitchFamily="18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High energy, sees politics as rewarding and enjoyable.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Pragmatic, flexible, resilient; but can be overly ambitious.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Constantia" panose="02030602050306030303" pitchFamily="18" charset="0"/>
                        </a:rPr>
                        <a:t>FDR, JFK, Truman, Clinton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816603"/>
                  </a:ext>
                </a:extLst>
              </a:tr>
              <a:tr h="58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Constantia" panose="02030602050306030303" pitchFamily="18" charset="0"/>
                        </a:rPr>
                        <a:t>Active-Negative</a:t>
                      </a:r>
                      <a:endParaRPr lang="en-US" sz="1500">
                        <a:latin typeface="Constantia" panose="02030602050306030303" pitchFamily="18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High energy, but driven by hostility, compulsiveness, or inner conflict.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Strong work ethic, but rigid, aggressive, and often frustrated.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Wilson, LBJ, Nixon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064012"/>
                  </a:ext>
                </a:extLst>
              </a:tr>
              <a:tr h="599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Constantia" panose="02030602050306030303" pitchFamily="18" charset="0"/>
                        </a:rPr>
                        <a:t>Passive-Positive</a:t>
                      </a:r>
                      <a:endParaRPr lang="en-US" sz="1500">
                        <a:latin typeface="Constantia" panose="02030602050306030303" pitchFamily="18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Low energy, but optimistic and eager to be liked.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Friendly and compliant; but tends to avoid hard decisions, overly reliant on others.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Harding, Reagan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76618"/>
                  </a:ext>
                </a:extLst>
              </a:tr>
              <a:tr h="599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latin typeface="Constantia" panose="02030602050306030303" pitchFamily="18" charset="0"/>
                        </a:rPr>
                        <a:t>Passive-Negative</a:t>
                      </a:r>
                      <a:endParaRPr lang="en-US" sz="1500">
                        <a:latin typeface="Constantia" panose="02030602050306030303" pitchFamily="18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Low energy and little enjoyment in politics; sees duty as a burden.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nstantia" panose="02030602050306030303" pitchFamily="18" charset="0"/>
                        </a:rPr>
                        <a:t>Honest, dutiful, avoids conflict; but often disengaged and reactive.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Constantia" panose="02030602050306030303" pitchFamily="18" charset="0"/>
                        </a:rPr>
                        <a:t>Washington, Eisenhower, Coolidge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767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36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A159-6E09-DF20-2CF9-5B674EF4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04DB59-FBA6-E571-4BCA-B4175B80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325563"/>
            <a:ext cx="11095496" cy="529180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Why </a:t>
            </a:r>
            <a:r>
              <a:rPr lang="en-US" altLang="zh-CN" sz="2200" b="1" i="1" dirty="0">
                <a:latin typeface="Century Gothic" panose="020B0502020202020204" pitchFamily="34" charset="0"/>
              </a:rPr>
              <a:t>The Presidential Character</a:t>
            </a:r>
            <a:r>
              <a:rPr lang="en-US" altLang="zh-CN" sz="2200" b="1" dirty="0">
                <a:latin typeface="Century Gothic" panose="020B0502020202020204" pitchFamily="34" charset="0"/>
              </a:rPr>
              <a:t> Matters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Barber’s framework was one of the first attempts to </a:t>
            </a:r>
            <a:r>
              <a:rPr lang="en-US" altLang="zh-CN" sz="2000" b="1" dirty="0">
                <a:latin typeface="Century Gothic" panose="020B0502020202020204" pitchFamily="34" charset="0"/>
              </a:rPr>
              <a:t>systematically link psychology with presidential performance</a:t>
            </a:r>
            <a:r>
              <a:rPr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It helped explain why presidents facing similar institutional constraints behaved so differently.</a:t>
            </a:r>
          </a:p>
          <a:p>
            <a:pPr>
              <a:lnSpc>
                <a:spcPct val="120000"/>
              </a:lnSpc>
            </a:pPr>
            <a:endParaRPr kumimoji="1" lang="en-US" altLang="zh-CN" sz="1600" b="1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Some questions</a:t>
            </a: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Does personality matter more than institutions, contexts, …?</a:t>
            </a: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Are certain personality types better suited for crises, reforms, diplomacy, …?</a:t>
            </a: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Could we use Barber’s framework to anticipate the performance of modern presidents?</a:t>
            </a: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What are the risks of reducing complex leaders to psychological categories?</a:t>
            </a:r>
          </a:p>
          <a:p>
            <a:pPr lvl="1">
              <a:lnSpc>
                <a:spcPct val="100000"/>
              </a:lnSpc>
            </a:pPr>
            <a:endParaRPr kumimoji="1" lang="en-US" altLang="zh-CN" sz="18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753FB3A-F8D3-064D-442A-DC7D8012FA2B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Presidential</a:t>
            </a:r>
            <a:r>
              <a:rPr kumimoji="1" lang="zh-CN" altLang="en-US" sz="36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3600" b="1" dirty="0">
                <a:latin typeface="Century Gothic" panose="020B0502020202020204" pitchFamily="34" charset="0"/>
              </a:rPr>
              <a:t>Leadership (1): Personality (cont’d)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12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8204-E543-7A55-D818-275370D2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0B340-FD8E-B07F-4032-D2BE8498F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165743"/>
            <a:ext cx="11095496" cy="56922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Presidential power is the power to persuade.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Divided</a:t>
            </a:r>
            <a:r>
              <a:rPr kumimoji="1" lang="zh-CN" alt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Government</a:t>
            </a:r>
            <a:r>
              <a:rPr kumimoji="1" lang="zh-CN" alt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-&gt; Gridlock</a:t>
            </a: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53F2B89-0EF1-EE9A-3D98-CFB2F0033F11}"/>
              </a:ext>
            </a:extLst>
          </p:cNvPr>
          <p:cNvSpPr txBox="1">
            <a:spLocks/>
          </p:cNvSpPr>
          <p:nvPr/>
        </p:nvSpPr>
        <p:spPr>
          <a:xfrm>
            <a:off x="54825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Presidential Leadership (2): Power to Persuade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083955C-B18D-B954-BCF9-5B784428B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97477"/>
              </p:ext>
            </p:extLst>
          </p:nvPr>
        </p:nvGraphicFramePr>
        <p:xfrm>
          <a:off x="548252" y="2124961"/>
          <a:ext cx="11249527" cy="4549961"/>
        </p:xfrm>
        <a:graphic>
          <a:graphicData uri="http://schemas.openxmlformats.org/drawingml/2006/table">
            <a:tbl>
              <a:tblPr/>
              <a:tblGrid>
                <a:gridCol w="1949055">
                  <a:extLst>
                    <a:ext uri="{9D8B030D-6E8A-4147-A177-3AD203B41FA5}">
                      <a16:colId xmlns:a16="http://schemas.microsoft.com/office/drawing/2014/main" val="683877953"/>
                    </a:ext>
                  </a:extLst>
                </a:gridCol>
                <a:gridCol w="4650236">
                  <a:extLst>
                    <a:ext uri="{9D8B030D-6E8A-4147-A177-3AD203B41FA5}">
                      <a16:colId xmlns:a16="http://schemas.microsoft.com/office/drawing/2014/main" val="2028072172"/>
                    </a:ext>
                  </a:extLst>
                </a:gridCol>
                <a:gridCol w="4650236">
                  <a:extLst>
                    <a:ext uri="{9D8B030D-6E8A-4147-A177-3AD203B41FA5}">
                      <a16:colId xmlns:a16="http://schemas.microsoft.com/office/drawing/2014/main" val="1185754654"/>
                    </a:ext>
                  </a:extLst>
                </a:gridCol>
              </a:tblGrid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nstantia" panose="02030602050306030303" pitchFamily="18" charset="0"/>
                        </a:rPr>
                        <a:t>Aspect</a:t>
                      </a:r>
                      <a:endParaRPr lang="en-US" sz="1800">
                        <a:latin typeface="Constantia" panose="02030602050306030303" pitchFamily="18" charset="0"/>
                      </a:endParaRPr>
                    </a:p>
                  </a:txBody>
                  <a:tcPr marL="60435" marR="60435" marT="30218" marB="3021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nstantia" panose="02030602050306030303" pitchFamily="18" charset="0"/>
                        </a:rPr>
                        <a:t>Presidential Lobbying</a:t>
                      </a:r>
                      <a:endParaRPr lang="en-US" sz="1800">
                        <a:latin typeface="Constantia" panose="02030602050306030303" pitchFamily="18" charset="0"/>
                      </a:endParaRP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nstantia" panose="02030602050306030303" pitchFamily="18" charset="0"/>
                        </a:rPr>
                        <a:t>Congressional (Legislative) Lobbying</a:t>
                      </a:r>
                      <a:endParaRPr lang="en-US" sz="1800">
                        <a:latin typeface="Constantia" panose="02030602050306030303" pitchFamily="18" charset="0"/>
                      </a:endParaRP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930802"/>
                  </a:ext>
                </a:extLst>
              </a:tr>
              <a:tr h="78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onstantia" panose="02030602050306030303" pitchFamily="18" charset="0"/>
                        </a:rPr>
                        <a:t>Main Goal</a:t>
                      </a:r>
                      <a:endParaRPr lang="en-US" sz="1800" dirty="0">
                        <a:latin typeface="Constantia" panose="02030602050306030303" pitchFamily="18" charset="0"/>
                      </a:endParaRPr>
                    </a:p>
                  </a:txBody>
                  <a:tcPr marL="60435" marR="60435" marT="30218" marB="3021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Persuade members of Congress to support or block major national policies, budgets, or legislation.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Convince fellow legislators to vote for or against specific bills, amendments, or procedural motions.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695830"/>
                  </a:ext>
                </a:extLst>
              </a:tr>
              <a:tr h="1329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nstantia" panose="02030602050306030303" pitchFamily="18" charset="0"/>
                        </a:rPr>
                        <a:t>Methods</a:t>
                      </a:r>
                      <a:endParaRPr lang="en-US" sz="1800">
                        <a:latin typeface="Constantia" panose="02030602050306030303" pitchFamily="18" charset="0"/>
                      </a:endParaRPr>
                    </a:p>
                  </a:txBody>
                  <a:tcPr marL="60435" marR="60435" marT="30218" marB="3021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One-on-one meetings at the White House or Capitol Hill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Personal calls, invitations, dinners with legislators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Using the </a:t>
                      </a:r>
                      <a:r>
                        <a:rPr lang="en-US" sz="1600" b="1" i="1" dirty="0">
                          <a:latin typeface="Constantia" panose="02030602050306030303" pitchFamily="18" charset="0"/>
                        </a:rPr>
                        <a:t>bully pulpit</a:t>
                      </a: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 </a:t>
                      </a:r>
                      <a:r>
                        <a:rPr lang="en-US" sz="1600" dirty="0">
                          <a:latin typeface="Constantia" panose="02030602050306030303" pitchFamily="18" charset="0"/>
                        </a:rPr>
                        <a:t>to appeal directly to the public and pressure Congress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Persuasion in committees, caucus meetings, or informal settings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Vote trading (</a:t>
                      </a:r>
                      <a:r>
                        <a:rPr lang="en-US" sz="1600" i="1" dirty="0">
                          <a:latin typeface="Constantia" panose="02030602050306030303" pitchFamily="18" charset="0"/>
                        </a:rPr>
                        <a:t>logrolling</a:t>
                      </a:r>
                      <a:r>
                        <a:rPr lang="en-US" sz="1600" dirty="0">
                          <a:latin typeface="Constantia" panose="02030602050306030303" pitchFamily="18" charset="0"/>
                        </a:rPr>
                        <a:t>): “You support my bill, I’ll support yours”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Sharing technical data, district benefits, or policy details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221166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nstantia" panose="02030602050306030303" pitchFamily="18" charset="0"/>
                        </a:rPr>
                        <a:t>Sources of Influence</a:t>
                      </a:r>
                      <a:endParaRPr lang="en-US" sz="1800">
                        <a:latin typeface="Constantia" panose="02030602050306030303" pitchFamily="18" charset="0"/>
                      </a:endParaRPr>
                    </a:p>
                  </a:txBody>
                  <a:tcPr marL="60435" marR="60435" marT="30218" marB="3021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Institutional authority, national mandate, media visibility, and the symbolic power of the presidency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Seniority, personal relationships, party leadership positions, committee assignments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656015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nstantia" panose="02030602050306030303" pitchFamily="18" charset="0"/>
                        </a:rPr>
                        <a:t>Scope</a:t>
                      </a:r>
                      <a:endParaRPr lang="en-US" sz="1800">
                        <a:latin typeface="Constantia" panose="02030602050306030303" pitchFamily="18" charset="0"/>
                      </a:endParaRPr>
                    </a:p>
                  </a:txBody>
                  <a:tcPr marL="60435" marR="60435" marT="30218" marB="3021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Often tied to large-scale, high-profile issues (healthcare reform, war powers, tax policy)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More routine and frequent, covering a wide range of everyday legislative issues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801896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nstantia" panose="02030602050306030303" pitchFamily="18" charset="0"/>
                        </a:rPr>
                        <a:t>Style</a:t>
                      </a:r>
                      <a:endParaRPr lang="en-US" sz="1800">
                        <a:latin typeface="Constantia" panose="02030602050306030303" pitchFamily="18" charset="0"/>
                      </a:endParaRPr>
                    </a:p>
                  </a:txBody>
                  <a:tcPr marL="60435" marR="60435" marT="30218" marB="3021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Relies on presidential prestige and ability to mobilize public opinion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Relies on peer-to-peer bargaining, coalition building, and reciprocity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617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34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287D-C457-579B-A48C-6E7D3714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CACDC-29F8-55A7-6D55-60C0B2E1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Presidential Leadership (3): “Going Public”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A1A25-C9C8-E0B0-F4A9-6937D4150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564"/>
            <a:ext cx="10832433" cy="55921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The president is</a:t>
            </a:r>
            <a:r>
              <a:rPr lang="zh-CN" altLang="en-US" sz="2200" dirty="0">
                <a:latin typeface="Century Gothic" panose="020B0502020202020204" pitchFamily="34" charset="0"/>
              </a:rPr>
              <a:t> </a:t>
            </a:r>
            <a:r>
              <a:rPr lang="en-US" altLang="zh-CN" sz="2200" dirty="0">
                <a:latin typeface="Century Gothic" panose="020B0502020202020204" pitchFamily="34" charset="0"/>
              </a:rPr>
              <a:t>elected by the people in a nationwide election (so in theory they should be unifying national leaders). However, the public regards them as </a:t>
            </a:r>
            <a:r>
              <a:rPr lang="en-US" altLang="zh-CN" sz="2200" b="1" dirty="0">
                <a:latin typeface="Century Gothic" panose="020B0502020202020204" pitchFamily="34" charset="0"/>
              </a:rPr>
              <a:t>partisan leaders </a:t>
            </a:r>
            <a:r>
              <a:rPr lang="en-US" altLang="zh-CN" sz="2200" dirty="0">
                <a:latin typeface="Century Gothic" panose="020B0502020202020204" pitchFamily="34" charset="0"/>
              </a:rPr>
              <a:t>in practice, requiring them to appeal to their constituents.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Why can even energetic and well-planned efforts by presidents have little effect on public opinion?</a:t>
            </a:r>
            <a:r>
              <a:rPr lang="en-US" altLang="zh-CN" sz="2200" dirty="0">
                <a:latin typeface="Century Gothic" panose="020B0502020202020204" pitchFamily="34" charset="0"/>
              </a:rPr>
              <a:t> e.g. Obama’s push for healthcare reform</a:t>
            </a: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Sometimes, in presidential elections, candidates often </a:t>
            </a:r>
            <a:r>
              <a:rPr lang="en-US" altLang="zh-CN" sz="2200" b="1" dirty="0">
                <a:latin typeface="Century Gothic" panose="020B0502020202020204" pitchFamily="34" charset="0"/>
              </a:rPr>
              <a:t>deliberately blur or soften their policy positions </a:t>
            </a:r>
            <a:r>
              <a:rPr lang="en-US" altLang="zh-CN" sz="2200" dirty="0">
                <a:latin typeface="Century Gothic" panose="020B0502020202020204" pitchFamily="34" charset="0"/>
              </a:rPr>
              <a:t>to appeal to a broader electorate.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In which policy areas might ambiguity be beneficial? In which areas is it harmful?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Diploma; Economic policy; Social issues such as abortion or same-sex marriage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……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Do you think voters prefer a “pragmatic but ambiguous candidate” or a “clear and idealistic candidate”? Why?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In the age of social media, is it harder for candidates to maintain ambiguity, or does fragmented communication actually make it easier?</a:t>
            </a:r>
          </a:p>
        </p:txBody>
      </p:sp>
    </p:spTree>
    <p:extLst>
      <p:ext uri="{BB962C8B-B14F-4D97-AF65-F5344CB8AC3E}">
        <p14:creationId xmlns:p14="http://schemas.microsoft.com/office/powerpoint/2010/main" val="135557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Read materials on </a:t>
            </a:r>
            <a:r>
              <a:rPr kumimoji="1" lang="en-US" altLang="zh-CN" b="1" dirty="0">
                <a:latin typeface="Century Gothic" panose="020B0502020202020204" pitchFamily="34" charset="0"/>
              </a:rPr>
              <a:t>Bureaucracy</a:t>
            </a:r>
            <a:r>
              <a:rPr lang="en-US" altLang="zh-CN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dirty="0">
                <a:latin typeface="Century Gothic" panose="020B0502020202020204" pitchFamily="34" charset="0"/>
              </a:rPr>
              <a:t>before class, and that will be helpful to participate in peer discussions.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5854</TotalTime>
  <Words>1177</Words>
  <Application>Microsoft Macintosh PowerPoint</Application>
  <PresentationFormat>宽屏</PresentationFormat>
  <Paragraphs>137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Century Gothic</vt:lpstr>
      <vt:lpstr>Constantia</vt:lpstr>
      <vt:lpstr>Office 主题​​</vt:lpstr>
      <vt:lpstr>8. Presidency</vt:lpstr>
      <vt:lpstr>The Presidential Power</vt:lpstr>
      <vt:lpstr>The Presidential Power (cont`d)</vt:lpstr>
      <vt:lpstr>The Executive Branch Establishment</vt:lpstr>
      <vt:lpstr>PowerPoint 演示文稿</vt:lpstr>
      <vt:lpstr>PowerPoint 演示文稿</vt:lpstr>
      <vt:lpstr>PowerPoint 演示文稿</vt:lpstr>
      <vt:lpstr>Presidential Leadership (3): “Going Public”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98</cp:revision>
  <dcterms:created xsi:type="dcterms:W3CDTF">2025-08-13T18:40:43Z</dcterms:created>
  <dcterms:modified xsi:type="dcterms:W3CDTF">2025-10-03T14:51:31Z</dcterms:modified>
</cp:coreProperties>
</file>