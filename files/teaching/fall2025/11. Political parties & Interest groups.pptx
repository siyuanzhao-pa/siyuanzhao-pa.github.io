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7" r:id="rId3"/>
    <p:sldId id="286" r:id="rId4"/>
    <p:sldId id="257" r:id="rId5"/>
    <p:sldId id="279" r:id="rId6"/>
    <p:sldId id="278" r:id="rId7"/>
    <p:sldId id="280" r:id="rId8"/>
    <p:sldId id="281" r:id="rId9"/>
    <p:sldId id="273" r:id="rId10"/>
    <p:sldId id="269" r:id="rId11"/>
    <p:sldId id="277" r:id="rId12"/>
    <p:sldId id="282" r:id="rId13"/>
    <p:sldId id="283" r:id="rId14"/>
    <p:sldId id="285" r:id="rId15"/>
    <p:sldId id="284" r:id="rId16"/>
    <p:sldId id="26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46"/>
    <p:restoredTop sz="85345"/>
  </p:normalViewPr>
  <p:slideViewPr>
    <p:cSldViewPr snapToGrid="0">
      <p:cViewPr varScale="1">
        <p:scale>
          <a:sx n="100" d="100"/>
          <a:sy n="100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C2AB9-E36A-A234-679C-4F59BBF15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860340-62A5-093A-C455-7C1ABFA59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7D9360-6FB3-1114-E85B-A6469B29F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9D02CD-B1DA-8214-E94C-555FCE1C6D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7543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015E-7C30-95E0-50B7-2BC75A1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407B06-328E-B4C4-79CE-77515F6CC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FE706A-9F42-8BFA-6CCD-149A2B826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3F599-BBF3-CD7F-FE75-BFACA0AD0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2658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5673-8775-03F0-569C-56D555B30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CDC143-EA8E-CB9C-7E23-4AF9649C2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CFC958-2EF9-6E57-85EC-9E165B053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C24F52-1874-24A0-8564-2A3DA74E0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82295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17E6B-0542-9731-5A29-DC2C0798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68B4EC-CEFD-46E7-614F-6E5889F560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B98453-A287-5A5D-C240-FA74DB3B8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Minimal unit / requirement for competition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CCBC32-FEFA-52A1-49D9-D43DAE58A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899678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600" dirty="0"/>
              <a:t>National party committees are organizationally weak because </a:t>
            </a:r>
            <a:r>
              <a:rPr lang="en-US" altLang="zh-CN" sz="1600" b="1" dirty="0"/>
              <a:t>the U.S. party system is decentralized</a:t>
            </a:r>
            <a:r>
              <a:rPr lang="en-US" altLang="zh-CN" sz="1600" dirty="0"/>
              <a:t>,</a:t>
            </a:r>
            <a:br>
              <a:rPr lang="en-US" altLang="zh-CN" sz="1600" dirty="0"/>
            </a:br>
            <a:r>
              <a:rPr lang="en-US" altLang="zh-CN" sz="1600" dirty="0"/>
              <a:t>but congressional party organizations are strong because legislative control</a:t>
            </a:r>
            <a:r>
              <a:rPr lang="zh-CN" altLang="en-US" sz="1600" dirty="0"/>
              <a:t> </a:t>
            </a:r>
            <a:r>
              <a:rPr lang="en-US" altLang="zh-CN" sz="1600" dirty="0"/>
              <a:t>(</a:t>
            </a:r>
            <a:r>
              <a:rPr lang="en-US" altLang="zh-CN" sz="1600" b="1" dirty="0"/>
              <a:t>clear goal</a:t>
            </a:r>
            <a:r>
              <a:rPr lang="en-US" altLang="zh-CN" sz="1600" dirty="0"/>
              <a:t>!), leadership incentives (</a:t>
            </a:r>
            <a:r>
              <a:rPr lang="en-US" altLang="zh-CN" sz="1600" b="1" dirty="0"/>
              <a:t>Congress competition is (maybe) all about party competitions</a:t>
            </a:r>
            <a:r>
              <a:rPr lang="en-US" altLang="zh-CN" sz="1600" dirty="0"/>
              <a:t>!), and campaign resources concentrate in Congress.</a:t>
            </a:r>
          </a:p>
          <a:p>
            <a:r>
              <a:rPr lang="zh-CN" altLang="en-US" sz="1600" dirty="0"/>
              <a:t>美国政党体系整体分散、地方化，使全国党委员会权力有限；</a:t>
            </a:r>
            <a:br>
              <a:rPr lang="zh-CN" altLang="en-US" sz="1600" dirty="0"/>
            </a:br>
            <a:r>
              <a:rPr lang="zh-CN" altLang="en-US" sz="1600" dirty="0"/>
              <a:t>但国会党团因掌握立法权、资源与席位竞争，反而形成了实质性的组织力量。</a:t>
            </a:r>
            <a:endParaRPr lang="en-US" altLang="zh-CN" sz="1600" b="1" dirty="0"/>
          </a:p>
          <a:p>
            <a:endParaRPr lang="en-US" altLang="zh-CN" sz="1600" b="1" dirty="0"/>
          </a:p>
          <a:p>
            <a:endParaRPr lang="en-US" altLang="zh-CN" sz="1600" b="1" dirty="0"/>
          </a:p>
          <a:p>
            <a:r>
              <a:rPr lang="en-US" altLang="zh-CN" sz="1600" b="1" dirty="0"/>
              <a:t>Federalism</a:t>
            </a:r>
            <a:br>
              <a:rPr lang="en-US" altLang="zh-CN" sz="1600" dirty="0"/>
            </a:br>
            <a:r>
              <a:rPr lang="en-US" altLang="zh-CN" sz="1600" dirty="0"/>
              <a:t>Power in the United States is divided between national, state, and local governments.</a:t>
            </a:r>
            <a:br>
              <a:rPr lang="en-US" altLang="zh-CN" sz="1600" dirty="0"/>
            </a:br>
            <a:r>
              <a:rPr lang="en-US" altLang="zh-CN" sz="1600" dirty="0"/>
              <a:t>Each level conducts its own elections and has its own party organizations.</a:t>
            </a:r>
            <a:br>
              <a:rPr lang="en-US" altLang="zh-CN" sz="1600" dirty="0"/>
            </a:br>
            <a:r>
              <a:rPr lang="en-US" altLang="zh-CN" sz="1600" dirty="0"/>
              <a:t>State and local party committees therefore retain substantial autonomy, and no national leader can fully control them.</a:t>
            </a:r>
          </a:p>
          <a:p>
            <a:endParaRPr lang="en-US" altLang="zh-CN" sz="1600" dirty="0"/>
          </a:p>
          <a:p>
            <a:r>
              <a:rPr lang="en-US" altLang="zh-CN" sz="1600" b="1" dirty="0"/>
              <a:t>Separation of Powers</a:t>
            </a:r>
            <a:br>
              <a:rPr lang="en-US" altLang="zh-CN" sz="1600" dirty="0"/>
            </a:br>
            <a:r>
              <a:rPr lang="en-US" altLang="zh-CN" sz="1600" dirty="0"/>
              <a:t>The executive and legislative branches are elected independently.</a:t>
            </a:r>
            <a:br>
              <a:rPr lang="en-US" altLang="zh-CN" sz="1600" dirty="0"/>
            </a:br>
            <a:r>
              <a:rPr lang="en-US" altLang="zh-CN" sz="1600" dirty="0"/>
              <a:t>This means party members in Congress or in state legislatures do not depend on the president or governor for their positions.</a:t>
            </a:r>
            <a:br>
              <a:rPr lang="en-US" altLang="zh-CN" sz="1600" dirty="0"/>
            </a:br>
            <a:r>
              <a:rPr lang="en-US" altLang="zh-CN" sz="1600" dirty="0"/>
              <a:t>As a result, party loyalty is weaker and coordination across branches is limited.</a:t>
            </a:r>
          </a:p>
          <a:p>
            <a:endParaRPr lang="en-US" altLang="zh-CN" sz="1600" dirty="0"/>
          </a:p>
          <a:p>
            <a:r>
              <a:rPr lang="en-US" altLang="zh-CN" sz="1600" b="1" dirty="0"/>
              <a:t>Candidate-Centered Elections</a:t>
            </a:r>
            <a:br>
              <a:rPr lang="en-US" altLang="zh-CN" sz="1600" dirty="0"/>
            </a:br>
            <a:r>
              <a:rPr lang="en-US" altLang="zh-CN" sz="1600" dirty="0"/>
              <a:t>American elections emphasize individual candidates more than party platforms.</a:t>
            </a:r>
            <a:br>
              <a:rPr lang="en-US" altLang="zh-CN" sz="1600" dirty="0"/>
            </a:br>
            <a:r>
              <a:rPr lang="en-US" altLang="zh-CN" sz="1600" dirty="0"/>
              <a:t>Primaries allow voters to choose nominees directly, reducing the influence of party elites.</a:t>
            </a:r>
            <a:br>
              <a:rPr lang="en-US" altLang="zh-CN" sz="1600" dirty="0"/>
            </a:br>
            <a:r>
              <a:rPr lang="en-US" altLang="zh-CN" sz="1600" dirty="0"/>
              <a:t>This system makes parties “bottom-up” coalitions rather than “top-down” hierarchies.</a:t>
            </a:r>
          </a:p>
          <a:p>
            <a:endParaRPr lang="en-US" altLang="zh-CN" sz="1600" dirty="0"/>
          </a:p>
          <a:p>
            <a:r>
              <a:rPr lang="en-US" altLang="zh-CN" sz="1600" b="1" dirty="0"/>
              <a:t>Historical and Cultural Factors</a:t>
            </a:r>
            <a:br>
              <a:rPr lang="en-US" altLang="zh-CN" sz="1600" dirty="0"/>
            </a:br>
            <a:r>
              <a:rPr lang="en-US" altLang="zh-CN" sz="1600" dirty="0"/>
              <a:t>Americans traditionally distrust concentrated power and value local independence.</a:t>
            </a:r>
          </a:p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258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E40A-A8F4-FDE3-3612-62CC209BD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DE4750-D1A4-38C5-F498-193DD6811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7A7F0E-14E6-3716-BCB6-AC1F579F73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34AB4D-6D58-DCD7-3730-62CA58F68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1743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842F8-8380-AE9C-F962-6B5D32F1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BD7D51-AF9C-E9C0-0847-BA19FAB00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50681B-C346-12FC-315D-AE96FDE09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选择性激励（</a:t>
            </a:r>
            <a:r>
              <a:rPr lang="en-US" altLang="zh-CN" b="1" dirty="0"/>
              <a:t>Selective Benefits</a:t>
            </a:r>
            <a:r>
              <a:rPr lang="zh-CN" altLang="en-US" b="1" dirty="0"/>
              <a:t>）</a:t>
            </a:r>
            <a:br>
              <a:rPr lang="en-US" altLang="zh-CN" dirty="0"/>
            </a:br>
            <a:r>
              <a:rPr lang="zh-CN" altLang="en-US" dirty="0"/>
              <a:t>向成员提供非成员无法获得的独享福利，如会员杂志、保险优惠、职业资源或法律援助。</a:t>
            </a:r>
            <a:br>
              <a:rPr lang="zh-CN" altLang="en-US" dirty="0"/>
            </a:br>
            <a:r>
              <a:rPr lang="zh-CN" altLang="en-US" dirty="0"/>
              <a:t>→ 例：美国退休者协会（</a:t>
            </a:r>
            <a:r>
              <a:rPr lang="en-US" altLang="zh-CN" dirty="0"/>
              <a:t>AARP</a:t>
            </a:r>
            <a:r>
              <a:rPr lang="zh-CN" altLang="en-US" dirty="0"/>
              <a:t>）通过提供旅游和保险优惠吸引了数百万会员。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团结性激励（</a:t>
            </a:r>
            <a:r>
              <a:rPr lang="en-US" altLang="zh-CN" b="1" dirty="0"/>
              <a:t>Solidary Incentives</a:t>
            </a:r>
            <a:r>
              <a:rPr lang="zh-CN" altLang="en-US" b="1" dirty="0"/>
              <a:t>）</a:t>
            </a:r>
            <a:br>
              <a:rPr lang="en-US" altLang="zh-CN" dirty="0"/>
            </a:br>
            <a:r>
              <a:rPr lang="zh-CN" altLang="en-US" dirty="0"/>
              <a:t>通过社会互动与归属感吸引成员，成员因共同身份或社交关系而参与。</a:t>
            </a:r>
            <a:br>
              <a:rPr lang="zh-CN" altLang="en-US" dirty="0"/>
            </a:br>
            <a:r>
              <a:rPr lang="zh-CN" altLang="en-US" dirty="0"/>
              <a:t>→ 例：环保组织常举办志愿活动，加强成员间的情感联系。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目标性激励（</a:t>
            </a:r>
            <a:r>
              <a:rPr lang="en-US" altLang="zh-CN" b="1" dirty="0"/>
              <a:t>Purposive Incentives</a:t>
            </a:r>
            <a:r>
              <a:rPr lang="zh-CN" altLang="en-US" b="1" dirty="0"/>
              <a:t>）</a:t>
            </a:r>
            <a:br>
              <a:rPr lang="en-US" altLang="zh-CN" dirty="0"/>
            </a:br>
            <a:r>
              <a:rPr lang="zh-CN" altLang="en-US" dirty="0"/>
              <a:t>诉诸成员的道德信念或意识形态动机，让人们因“做正确的事”而自愿参与。</a:t>
            </a:r>
            <a:br>
              <a:rPr lang="zh-CN" altLang="en-US" dirty="0"/>
            </a:br>
            <a:r>
              <a:rPr lang="zh-CN" altLang="en-US" dirty="0"/>
              <a:t>→ 例：人权组织通过道义感召而非物质利益吸引成员。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强制性机制（</a:t>
            </a:r>
            <a:r>
              <a:rPr lang="en-US" altLang="zh-CN" b="1" dirty="0"/>
              <a:t>Coercion / Mandatory Membership</a:t>
            </a:r>
            <a:r>
              <a:rPr lang="zh-CN" altLang="en-US" b="1" dirty="0"/>
              <a:t>）</a:t>
            </a:r>
            <a:br>
              <a:rPr lang="en-US" altLang="zh-CN" dirty="0"/>
            </a:br>
            <a:r>
              <a:rPr lang="zh-CN" altLang="en-US" dirty="0"/>
              <a:t>某些职业协会或工会通过制度性要求强制成员缴费或加入，以确保经费来源。</a:t>
            </a:r>
            <a:br>
              <a:rPr lang="zh-CN" altLang="en-US" dirty="0"/>
            </a:br>
            <a:r>
              <a:rPr lang="zh-CN" altLang="en-US" dirty="0"/>
              <a:t>→ 例：闭店工会（</a:t>
            </a:r>
            <a:r>
              <a:rPr lang="en-US" altLang="zh-CN" dirty="0"/>
              <a:t>closed-shop unions</a:t>
            </a:r>
            <a:r>
              <a:rPr lang="zh-CN" altLang="en-US" dirty="0"/>
              <a:t>）自动从员工工资中扣除会费。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b="1" dirty="0"/>
              <a:t>政府支持与制度安排（</a:t>
            </a:r>
            <a:r>
              <a:rPr lang="en-US" altLang="zh-CN" b="1" dirty="0"/>
              <a:t>Government Support &amp; Institutional Design</a:t>
            </a:r>
            <a:r>
              <a:rPr lang="zh-CN" altLang="en-US" b="1" dirty="0"/>
              <a:t>）</a:t>
            </a:r>
            <a:endParaRPr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DD56E2-F070-FB3A-F9B4-6D587045B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4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2661-92EC-0946-A2A2-05CB7894E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0D8A38-C408-7ABC-B279-1B1023692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F7E233-C966-485D-35B3-A0CDBCFB2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FA3F4-FABB-A18F-5EED-018988534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0715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9C8F3-2577-64EA-A0EC-A48F54080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B19CC7-8FE0-5E48-CBB3-7A4037BFF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A0FBB8-F7C4-D7D2-5D3E-F7C7D119A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B8547B-BBC3-1846-C5CC-421B119C2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87080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33F9D-72F5-4E4A-62E5-7114E86B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A9BE3-E7C9-08E4-68A1-FA9E0D85D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C18D84-8460-F12F-B571-7D0F96F97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Visibility (less visible in the executive branch)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Technical complexity (laws are less specific than policies)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Citizen participation (at least people can vote to congress members, which requires accountability by the citizens)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zh-CN" dirty="0"/>
              <a:t>Fewer agents to make decisions (the costs of lobbying is relatively low)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1E86A-8616-B2FC-03AC-3692CB374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364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2025/10/23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5986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4800" b="1" dirty="0">
                <a:latin typeface="Century Gothic" panose="020B0502020202020204" pitchFamily="34" charset="0"/>
              </a:rPr>
              <a:t>11. Political Parties </a:t>
            </a:r>
            <a:br>
              <a:rPr kumimoji="1" lang="en-US" altLang="zh-CN" sz="4800" b="1" dirty="0">
                <a:latin typeface="Century Gothic" panose="020B0502020202020204" pitchFamily="34" charset="0"/>
              </a:rPr>
            </a:br>
            <a:r>
              <a:rPr kumimoji="1" lang="en-US" altLang="zh-CN" sz="4800" b="1" dirty="0">
                <a:latin typeface="Century Gothic" panose="020B0502020202020204" pitchFamily="34" charset="0"/>
              </a:rPr>
              <a:t>&amp; Interest Groups</a:t>
            </a:r>
            <a:endParaRPr kumimoji="1" lang="zh-CN" altLang="en-US" sz="48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Exam Hand Back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8404"/>
            <a:ext cx="10515600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Add</a:t>
            </a:r>
            <a:r>
              <a:rPr kumimoji="1" lang="zh-CN" altLang="en-US" sz="2200" b="1" i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200" b="1" i="1" dirty="0">
                <a:latin typeface="Century Gothic" panose="020B0502020202020204" pitchFamily="34" charset="0"/>
              </a:rPr>
              <a:t>points wrong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WITHIN TODAY (Friday) , or right after class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Questions on why I lost points in short-answers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WITHIN TODAY (Friday), or right after class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Appeal your grade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solidFill>
                  <a:srgbClr val="FF0000"/>
                </a:solidFill>
                <a:latin typeface="Century Gothic" panose="020B0502020202020204" pitchFamily="34" charset="0"/>
              </a:rPr>
              <a:t>WITHIN 24 hours (Friday &amp; Saturday)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i="1" dirty="0">
                <a:latin typeface="Century Gothic" panose="020B0502020202020204" pitchFamily="34" charset="0"/>
              </a:rPr>
              <a:t>Do as told by the syllabus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You must write a statement to have the assignment regraded saying why you believe you should have received more credit and you will need to give me your blue book. 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If you appeal your grade, I (your TA) will need to regrade which could result in a higher grade, a lower grade, or no change at all. 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Only submit an appeal if you are sure that you can make a strong case for a higher score! </a:t>
            </a:r>
          </a:p>
          <a:p>
            <a:pPr lvl="2" fontAlgn="base"/>
            <a:r>
              <a:rPr lang="en-US" altLang="zh-CN" sz="1800" dirty="0">
                <a:latin typeface="Constantia" panose="02030602050306030303" pitchFamily="18" charset="0"/>
              </a:rPr>
              <a:t>If you are still unsatisfied with your grade after that, you can repeat the process with Professor Nicholson.</a:t>
            </a:r>
          </a:p>
          <a:p>
            <a:pPr lvl="2">
              <a:lnSpc>
                <a:spcPct val="100000"/>
              </a:lnSpc>
            </a:pPr>
            <a:endParaRPr kumimoji="1" lang="en-US" altLang="zh-CN" sz="1600" b="1" i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8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Mid term 2 Feedback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1201400" cy="551418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Pay attention to basic ideas / details that can be covered in MC questions.</a:t>
            </a:r>
          </a:p>
          <a:p>
            <a:pPr>
              <a:lnSpc>
                <a:spcPct val="100000"/>
              </a:lnSpc>
            </a:pPr>
            <a:endParaRPr lang="en-US" altLang="zh-CN" sz="1000" b="1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Try to use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bullet points</a:t>
            </a:r>
            <a:r>
              <a:rPr lang="en-US" altLang="zh-CN" sz="2200" b="1" dirty="0">
                <a:latin typeface="Century Gothic" panose="020B0502020202020204" pitchFamily="34" charset="0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Make your ideas easy to identify — graders can quickly locate your key points and give credit.</a:t>
            </a:r>
          </a:p>
          <a:p>
            <a:pPr lvl="1">
              <a:lnSpc>
                <a:spcPct val="100000"/>
              </a:lnSpc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Use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enough space </a:t>
            </a:r>
            <a:r>
              <a:rPr lang="en-US" altLang="zh-CN" sz="2200" b="1" dirty="0">
                <a:latin typeface="Century Gothic" panose="020B0502020202020204" pitchFamily="34" charset="0"/>
              </a:rPr>
              <a:t>— don’t squeeze your writing at the bottom of the page.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It’s totally fine to turn the page. Make your answers clear and easy to read!</a:t>
            </a:r>
          </a:p>
          <a:p>
            <a:pPr>
              <a:lnSpc>
                <a:spcPct val="100000"/>
              </a:lnSpc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When your answer isn’t included in textbook / slides but makes sense, I give you credits that I think appropriate.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I’m happy to see your own thinking, since we cannot remember everything.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However, still try to review carefully, since some of your own ideas can overlap with each other – in essence they refer to the same “key concept”. In this case, maybe you don’t get a full credit.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015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46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Political Parties &amp; Interest Groups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8738A35-39C5-04F8-529D-C0614D6F3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701774"/>
              </p:ext>
            </p:extLst>
          </p:nvPr>
        </p:nvGraphicFramePr>
        <p:xfrm>
          <a:off x="692046" y="1325563"/>
          <a:ext cx="10807908" cy="5424526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4035520315"/>
                    </a:ext>
                  </a:extLst>
                </a:gridCol>
                <a:gridCol w="4422098">
                  <a:extLst>
                    <a:ext uri="{9D8B030D-6E8A-4147-A177-3AD203B41FA5}">
                      <a16:colId xmlns:a16="http://schemas.microsoft.com/office/drawing/2014/main" val="1060872369"/>
                    </a:ext>
                  </a:extLst>
                </a:gridCol>
                <a:gridCol w="4709410">
                  <a:extLst>
                    <a:ext uri="{9D8B030D-6E8A-4147-A177-3AD203B41FA5}">
                      <a16:colId xmlns:a16="http://schemas.microsoft.com/office/drawing/2014/main" val="3456671954"/>
                    </a:ext>
                  </a:extLst>
                </a:gridCol>
              </a:tblGrid>
              <a:tr h="2950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Dimension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Political Parties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Interest Groups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917470"/>
                  </a:ext>
                </a:extLst>
              </a:tr>
              <a:tr h="9011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Definition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An organization that </a:t>
                      </a: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sponsors candidates for political office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 </a:t>
                      </a:r>
                      <a:r>
                        <a:rPr lang="en-US" sz="1600" i="1" dirty="0">
                          <a:latin typeface="Constantia" panose="02030602050306030303" pitchFamily="18" charset="0"/>
                        </a:rPr>
                        <a:t>under the organization’s name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Organized associations that seek to </a:t>
                      </a:r>
                      <a:r>
                        <a:rPr lang="en-US" sz="1600" b="1">
                          <a:latin typeface="Constantia" panose="02030602050306030303" pitchFamily="18" charset="0"/>
                        </a:rPr>
                        <a:t>influence public policy</a:t>
                      </a:r>
                      <a:r>
                        <a:rPr lang="en-US" sz="1600">
                          <a:latin typeface="Constantia" panose="02030602050306030303" pitchFamily="18" charset="0"/>
                        </a:rPr>
                        <a:t> without running candidates for office.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23685"/>
                  </a:ext>
                </a:extLst>
              </a:tr>
              <a:tr h="152496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Core Functions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Nominate candidates for public office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Organize election campaigns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Propose alternative government programs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Coordinate the actions of government officials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latin typeface="Constantia" panose="02030602050306030303" pitchFamily="18" charset="0"/>
                        </a:rPr>
                        <a:t>Representation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latin typeface="Constantia" panose="02030602050306030303" pitchFamily="18" charset="0"/>
                        </a:rPr>
                        <a:t>Participation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latin typeface="Constantia" panose="02030602050306030303" pitchFamily="18" charset="0"/>
                        </a:rPr>
                        <a:t>Education (political socialization)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latin typeface="Constantia" panose="02030602050306030303" pitchFamily="18" charset="0"/>
                        </a:rPr>
                        <a:t>Agenda building</a:t>
                      </a:r>
                    </a:p>
                    <a:p>
                      <a:pPr marL="285750" indent="-285750" algn="l">
                        <a:buFontTx/>
                        <a:buChar char="-"/>
                      </a:pPr>
                      <a:r>
                        <a:rPr lang="en-US" sz="1600" b="0" dirty="0">
                          <a:latin typeface="Constantia" panose="02030602050306030303" pitchFamily="18" charset="0"/>
                        </a:rPr>
                        <a:t>Program monitoring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5277"/>
                  </a:ext>
                </a:extLst>
              </a:tr>
              <a:tr h="9011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Membership Base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Broad and diverse, representing wide social segments (e.g., multiple classes, regions, ideologies).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(Often) Narrow and specialized, often representing particular occupations, industries, or causes.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340918"/>
                  </a:ext>
                </a:extLst>
              </a:tr>
              <a:tr h="9011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Organizational Structure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Hierarchical, with national, state, and local branches; formal leadership and membership.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May be highly professionalized (e.g., trade associations) or loosely organized (e.g., grassroots movements).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476821"/>
                  </a:ext>
                </a:extLst>
              </a:tr>
              <a:tr h="901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Relationship to Government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More direct. </a:t>
                      </a:r>
                      <a:r>
                        <a:rPr lang="en-US" altLang="zh-CN" sz="1600" dirty="0">
                          <a:latin typeface="Constantia" panose="02030602050306030303" pitchFamily="18" charset="0"/>
                        </a:rPr>
                        <a:t>Actively nominate and run candidates.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More indirect. </a:t>
                      </a:r>
                      <a:r>
                        <a:rPr lang="en-US" altLang="zh-CN" sz="1600" dirty="0">
                          <a:latin typeface="Constantia" panose="02030602050306030303" pitchFamily="18" charset="0"/>
                        </a:rPr>
                        <a:t>Do not run candidates; may endorse or fund them indirectly.</a:t>
                      </a: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79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F0A5-DD20-E893-F2FC-D69153DC8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FB3CF-4F43-B2A6-CB02-02A707EF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046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Political Parties &amp; Interest Groups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86E34E6-0048-AF38-0D45-B8AE76ABF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245584"/>
              </p:ext>
            </p:extLst>
          </p:nvPr>
        </p:nvGraphicFramePr>
        <p:xfrm>
          <a:off x="659567" y="1325563"/>
          <a:ext cx="10840387" cy="3904506"/>
        </p:xfrm>
        <a:graphic>
          <a:graphicData uri="http://schemas.openxmlformats.org/drawingml/2006/table">
            <a:tbl>
              <a:tblPr/>
              <a:tblGrid>
                <a:gridCol w="1708879">
                  <a:extLst>
                    <a:ext uri="{9D8B030D-6E8A-4147-A177-3AD203B41FA5}">
                      <a16:colId xmlns:a16="http://schemas.microsoft.com/office/drawing/2014/main" val="4035520315"/>
                    </a:ext>
                  </a:extLst>
                </a:gridCol>
                <a:gridCol w="4422098">
                  <a:extLst>
                    <a:ext uri="{9D8B030D-6E8A-4147-A177-3AD203B41FA5}">
                      <a16:colId xmlns:a16="http://schemas.microsoft.com/office/drawing/2014/main" val="1060872369"/>
                    </a:ext>
                  </a:extLst>
                </a:gridCol>
                <a:gridCol w="4709410">
                  <a:extLst>
                    <a:ext uri="{9D8B030D-6E8A-4147-A177-3AD203B41FA5}">
                      <a16:colId xmlns:a16="http://schemas.microsoft.com/office/drawing/2014/main" val="3456671954"/>
                    </a:ext>
                  </a:extLst>
                </a:gridCol>
              </a:tblGrid>
              <a:tr h="2950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Dimension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Political Parties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Interest Groups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marL="28073" marR="28073" marT="14037" marB="140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917470"/>
                  </a:ext>
                </a:extLst>
              </a:tr>
              <a:tr h="937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Main Strategies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- Electoral competition</a:t>
                      </a:r>
                      <a:br>
                        <a:rPr lang="en-US" sz="1600" dirty="0">
                          <a:latin typeface="Constantia" panose="02030602050306030303" pitchFamily="18" charset="0"/>
                        </a:rPr>
                      </a:br>
                      <a:r>
                        <a:rPr lang="en-US" sz="1600" dirty="0">
                          <a:latin typeface="Constantia" panose="02030602050306030303" pitchFamily="18" charset="0"/>
                        </a:rPr>
                        <a:t>- Coalition-building (in multi-party systems / parliamentary systems)</a:t>
                      </a:r>
                      <a:br>
                        <a:rPr lang="en-US" sz="1600" dirty="0">
                          <a:latin typeface="Constantia" panose="02030602050306030303" pitchFamily="18" charset="0"/>
                        </a:rPr>
                      </a:br>
                      <a:r>
                        <a:rPr lang="en-US" sz="1600" dirty="0">
                          <a:latin typeface="Constantia" panose="02030602050306030303" pitchFamily="18" charset="0"/>
                        </a:rPr>
                        <a:t>- Legislative and executive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- Lobbying</a:t>
                      </a:r>
                      <a:br>
                        <a:rPr lang="en-US" sz="1600" dirty="0">
                          <a:latin typeface="Constantia" panose="02030602050306030303" pitchFamily="18" charset="0"/>
                        </a:rPr>
                      </a:br>
                      <a:r>
                        <a:rPr lang="en-US" sz="1600" dirty="0">
                          <a:latin typeface="Constantia" panose="02030602050306030303" pitchFamily="18" charset="0"/>
                        </a:rPr>
                        <a:t>- Campaign contributions (PACs/Super PACs)</a:t>
                      </a:r>
                      <a:br>
                        <a:rPr lang="en-US" sz="1600" dirty="0">
                          <a:latin typeface="Constantia" panose="02030602050306030303" pitchFamily="18" charset="0"/>
                        </a:rPr>
                      </a:br>
                      <a:r>
                        <a:rPr lang="en-US" sz="1600" dirty="0">
                          <a:latin typeface="Constantia" panose="02030602050306030303" pitchFamily="18" charset="0"/>
                        </a:rPr>
                        <a:t>- Litigation</a:t>
                      </a:r>
                      <a:br>
                        <a:rPr lang="en-US" sz="1600" dirty="0">
                          <a:latin typeface="Constantia" panose="02030602050306030303" pitchFamily="18" charset="0"/>
                        </a:rPr>
                      </a:br>
                      <a:r>
                        <a:rPr lang="en-US" sz="1600" dirty="0">
                          <a:latin typeface="Constantia" panose="02030602050306030303" pitchFamily="18" charset="0"/>
                        </a:rPr>
                        <a:t>- Grassroots mobilization</a:t>
                      </a:r>
                      <a:br>
                        <a:rPr lang="en-US" sz="1600" dirty="0">
                          <a:latin typeface="Constantia" panose="02030602050306030303" pitchFamily="18" charset="0"/>
                        </a:rPr>
                      </a:br>
                      <a:r>
                        <a:rPr lang="en-US" sz="1600" dirty="0">
                          <a:latin typeface="Constantia" panose="02030602050306030303" pitchFamily="18" charset="0"/>
                        </a:rPr>
                        <a:t>- Media and public campaigns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223685"/>
                  </a:ext>
                </a:extLst>
              </a:tr>
              <a:tr h="7562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Source of Legitimacy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Popular mandate through democratic elections.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Expertise, resources, and member support.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433968"/>
                  </a:ext>
                </a:extLst>
              </a:tr>
              <a:tr h="7944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Role for Citizens</a:t>
                      </a:r>
                      <a:endParaRPr lang="en-US" sz="1600" dirty="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latin typeface="Constantia" panose="02030602050306030303" pitchFamily="18" charset="0"/>
                        </a:rPr>
                        <a:t>Provides choices in elections; connects voters to governing institutions.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Channels citizen interests into policy advocacy (often biased toward the benefits of the upper-class); gives voice to specific concerns.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487006"/>
                  </a:ext>
                </a:extLst>
              </a:tr>
              <a:tr h="7195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>
                          <a:latin typeface="Constantia" panose="02030602050306030303" pitchFamily="18" charset="0"/>
                        </a:rPr>
                        <a:t>Theoretical Foundation</a:t>
                      </a:r>
                      <a:endParaRPr lang="en-US" sz="160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Reflects </a:t>
                      </a: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majoritarian democracy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 and responsible party government.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Constantia" panose="02030602050306030303" pitchFamily="18" charset="0"/>
                        </a:rPr>
                        <a:t>Embodies </a:t>
                      </a:r>
                      <a:r>
                        <a:rPr lang="en-US" sz="1600" b="1" dirty="0">
                          <a:latin typeface="Constantia" panose="02030602050306030303" pitchFamily="18" charset="0"/>
                        </a:rPr>
                        <a:t>pluralist democracy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, where multiple organized interests compete for influence.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37986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B28C412-5781-A8FF-ED07-163C727EEDC2}"/>
              </a:ext>
            </a:extLst>
          </p:cNvPr>
          <p:cNvSpPr txBox="1"/>
          <p:nvPr/>
        </p:nvSpPr>
        <p:spPr>
          <a:xfrm>
            <a:off x="659566" y="5532437"/>
            <a:ext cx="10840386" cy="80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Constantia" panose="02030602050306030303" pitchFamily="18" charset="0"/>
              </a:rPr>
              <a:t>Can a large interest group ever become similar to a political party? Why or why not?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FF0000"/>
                </a:solidFill>
                <a:latin typeface="Constantia" panose="02030602050306030303" pitchFamily="18" charset="0"/>
              </a:rPr>
              <a:t>Why might politicians rely on interest groups even when they belong to strong parties?</a:t>
            </a:r>
            <a:endParaRPr lang="zh-CN" altLang="en-US" sz="2000" b="1" dirty="0">
              <a:solidFill>
                <a:srgbClr val="FF0000"/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0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6F16-9FF2-0C95-D10C-7464FE9C7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E344E-C485-BD9A-0D2F-144EA77D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American Two-Party System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4BEA0A-7F6B-738C-2DB6-849C854CE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485"/>
            <a:ext cx="10639926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i="1" dirty="0">
                <a:latin typeface="Century Gothic" panose="020B0502020202020204" pitchFamily="34" charset="0"/>
              </a:rPr>
              <a:t>The Preparty Period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Why did political parties emerge in the early history of the U.S, despite George Washington’s warning against “factions”?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Could democracy function effectively </a:t>
            </a:r>
            <a:r>
              <a:rPr lang="en-US" altLang="zh-CN" sz="2000" b="1" i="1" dirty="0">
                <a:latin typeface="Century Gothic" panose="020B0502020202020204" pitchFamily="34" charset="0"/>
              </a:rPr>
              <a:t>without</a:t>
            </a:r>
            <a:r>
              <a:rPr lang="en-US" altLang="zh-CN" sz="2000" dirty="0">
                <a:latin typeface="Century Gothic" panose="020B0502020202020204" pitchFamily="34" charset="0"/>
              </a:rPr>
              <a:t> political parties?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i="1" dirty="0">
                <a:latin typeface="Century Gothic" panose="020B0502020202020204" pitchFamily="34" charset="0"/>
              </a:rPr>
              <a:t>The Evolution of the Party System</a:t>
            </a:r>
            <a:endParaRPr lang="en-US" altLang="zh-CN" sz="2000" dirty="0"/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Why do parties operate differently in parliamentary systems (e.g., the U.K. or Canada) than in the U.S.?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Is the current two-party system still capable of representing America’s diversity?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en-US" altLang="zh-CN" sz="2000" dirty="0">
                <a:latin typeface="Century Gothic" panose="020B0502020202020204" pitchFamily="34" charset="0"/>
              </a:rPr>
              <a:t>or, Are the minor parties essential to the U.S. politics?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58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0566-C88C-02C1-3B34-29E397A0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FB44D6-8A3B-72A3-5418-8F4B58CB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American Two-Party System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8B09BE-520D-6E56-6317-8B6FDE7AE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639926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i="1" dirty="0">
                <a:latin typeface="Century Gothic" panose="020B0502020202020204" pitchFamily="34" charset="0"/>
              </a:rPr>
              <a:t>Why a two-party system? </a:t>
            </a:r>
            <a:r>
              <a:rPr lang="en-US" altLang="zh-CN" sz="2200" b="1" dirty="0">
                <a:latin typeface="Century Gothic" panose="020B0502020202020204" pitchFamily="34" charset="0"/>
              </a:rPr>
              <a:t>The electoral system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Majority representation</a:t>
            </a:r>
            <a:r>
              <a:rPr lang="en-US" altLang="zh-CN" sz="2000" dirty="0">
                <a:latin typeface="Century Gothic" panose="020B0502020202020204" pitchFamily="34" charset="0"/>
              </a:rPr>
              <a:t>: one office is won by the single candidate who collects the most votes (</a:t>
            </a:r>
            <a:r>
              <a:rPr lang="en-US" altLang="zh-CN" sz="2000" b="1" dirty="0">
                <a:latin typeface="Century Gothic" panose="020B0502020202020204" pitchFamily="34" charset="0"/>
              </a:rPr>
              <a:t>simple plurality</a:t>
            </a:r>
            <a:r>
              <a:rPr lang="en-US" altLang="zh-CN" sz="2000" dirty="0">
                <a:latin typeface="Century Gothic" panose="020B0502020202020204" pitchFamily="34" charset="0"/>
              </a:rPr>
              <a:t>, tending to produce two competing powers)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Proportional representation</a:t>
            </a:r>
            <a:r>
              <a:rPr lang="en-US" altLang="zh-CN" sz="2000" dirty="0">
                <a:latin typeface="Century Gothic" panose="020B0502020202020204" pitchFamily="34" charset="0"/>
              </a:rPr>
              <a:t>: legislative seats are awarded to a party in proportion to the vote that party wins in an election. (tending to produce several parties)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6F4A6F5-6364-CE6D-6FC5-D5DD4FABB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99363"/>
              </p:ext>
            </p:extLst>
          </p:nvPr>
        </p:nvGraphicFramePr>
        <p:xfrm>
          <a:off x="933623" y="3631787"/>
          <a:ext cx="10544503" cy="3017520"/>
        </p:xfrm>
        <a:graphic>
          <a:graphicData uri="http://schemas.openxmlformats.org/drawingml/2006/table">
            <a:tbl>
              <a:tblPr/>
              <a:tblGrid>
                <a:gridCol w="2657803">
                  <a:extLst>
                    <a:ext uri="{9D8B030D-6E8A-4147-A177-3AD203B41FA5}">
                      <a16:colId xmlns:a16="http://schemas.microsoft.com/office/drawing/2014/main" val="10256879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958142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668546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48720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nstantia" panose="02030602050306030303" pitchFamily="18" charset="0"/>
                        </a:rPr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nstantia" panose="02030602050306030303" pitchFamily="18" charset="0"/>
                        </a:rPr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nstantia" panose="02030602050306030303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nstantia" panose="02030602050306030303" pitchFamily="18" charset="0"/>
                        </a:rPr>
                        <a:t>Common Use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754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latin typeface="Constantia" panose="02030602050306030303" pitchFamily="18" charset="0"/>
                        </a:rPr>
                        <a:t>Relative Majority (Simple</a:t>
                      </a:r>
                      <a:r>
                        <a:rPr lang="zh-CN" altLang="en-US" b="1" dirty="0">
                          <a:latin typeface="Constantia" panose="02030602050306030303" pitchFamily="18" charset="0"/>
                        </a:rPr>
                        <a:t> </a:t>
                      </a:r>
                      <a:r>
                        <a:rPr lang="en-US" b="1" dirty="0">
                          <a:latin typeface="Constantia" panose="02030602050306030303" pitchFamily="18" charset="0"/>
                        </a:rPr>
                        <a:t>Plurality)</a:t>
                      </a:r>
                      <a:endParaRPr lang="en-US" dirty="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tantia" panose="02030602050306030303" pitchFamily="18" charset="0"/>
                        </a:rPr>
                        <a:t>A candidate/option wins if it has </a:t>
                      </a:r>
                      <a:r>
                        <a:rPr lang="en-US" b="1" dirty="0">
                          <a:latin typeface="Constantia" panose="02030602050306030303" pitchFamily="18" charset="0"/>
                        </a:rPr>
                        <a:t>more votes than any other</a:t>
                      </a:r>
                      <a:r>
                        <a:rPr lang="en-US" dirty="0">
                          <a:latin typeface="Constantia" panose="02030602050306030303" pitchFamily="18" charset="0"/>
                        </a:rPr>
                        <a:t>, but </a:t>
                      </a:r>
                      <a:r>
                        <a:rPr lang="en-US" b="1" dirty="0">
                          <a:latin typeface="Constantia" panose="02030602050306030303" pitchFamily="18" charset="0"/>
                        </a:rPr>
                        <a:t>not necessarily more than half</a:t>
                      </a:r>
                      <a:r>
                        <a:rPr lang="en-US" dirty="0">
                          <a:latin typeface="Constantia" panose="02030602050306030303" pitchFamily="18" charset="0"/>
                        </a:rPr>
                        <a:t> of all votes.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tantia" panose="02030602050306030303" pitchFamily="18" charset="0"/>
                        </a:rPr>
                        <a:t>Candidate A: 40 votes, Candidate B: 35, Candidate C: 25 → A wins with 40 (not &gt;50%).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tantia" panose="02030602050306030303" pitchFamily="18" charset="0"/>
                        </a:rPr>
                        <a:t>U.S. congressional elections, U.K. House of Commons elections (first-past-the-post).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813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Constantia" panose="02030602050306030303" pitchFamily="18" charset="0"/>
                        </a:rPr>
                        <a:t>Absolute Majority</a:t>
                      </a:r>
                      <a:endParaRPr lang="en-US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tantia" panose="02030602050306030303" pitchFamily="18" charset="0"/>
                        </a:rPr>
                        <a:t>A candidate/option must receive </a:t>
                      </a:r>
                      <a:r>
                        <a:rPr lang="en-US" b="1">
                          <a:latin typeface="Constantia" panose="02030602050306030303" pitchFamily="18" charset="0"/>
                        </a:rPr>
                        <a:t>more than half (&gt;50%) of all votes cast</a:t>
                      </a:r>
                      <a:r>
                        <a:rPr lang="en-US">
                          <a:latin typeface="Constantia" panose="02030602050306030303" pitchFamily="18" charset="0"/>
                        </a:rPr>
                        <a:t> to win.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nstantia" panose="02030602050306030303" pitchFamily="18" charset="0"/>
                        </a:rPr>
                        <a:t>Total votes = 100 → a candidate needs at least 51 to achieve absolute majority.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nstantia" panose="02030602050306030303" pitchFamily="18" charset="0"/>
                        </a:rPr>
                        <a:t>Presidential elections in France (two-round system), parliamentary votes requiring &gt;50%.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06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2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59078-3830-771A-A1C2-C632A66A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71A5E-6BB4-D8D2-B8A4-F2AA40324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American Two-Party System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BCB99-08F7-C6E2-7325-12145F3E4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639926" cy="5134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i="1" dirty="0">
                <a:latin typeface="Century Gothic" panose="020B0502020202020204" pitchFamily="34" charset="0"/>
              </a:rPr>
              <a:t>Why always the two parties?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Shaped by the president election – as many votes as possible!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The historical pattern of political socialization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The two parties persist simply because they have persisted.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Party identification</a:t>
            </a:r>
            <a:r>
              <a:rPr lang="en-US" altLang="zh-CN" sz="1800" dirty="0">
                <a:latin typeface="Century Gothic" panose="020B0502020202020204" pitchFamily="34" charset="0"/>
              </a:rPr>
              <a:t>, shaped by income, education, religion, ethnicity, age, gender, region, parents…</a:t>
            </a:r>
          </a:p>
          <a:p>
            <a:pPr lvl="2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How important is party identification?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An example: </a:t>
            </a:r>
            <a:r>
              <a:rPr lang="en-US" altLang="zh-CN" sz="2000" b="1" dirty="0">
                <a:latin typeface="Century Gothic" panose="020B0502020202020204" pitchFamily="34" charset="0"/>
              </a:rPr>
              <a:t>Bisgaard (2019) AJPS</a:t>
            </a:r>
          </a:p>
          <a:p>
            <a:pPr lvl="1">
              <a:lnSpc>
                <a:spcPct val="100000"/>
              </a:lnSpc>
            </a:pPr>
            <a:endParaRPr lang="en-US" altLang="zh-CN" sz="2000" b="1" dirty="0">
              <a:latin typeface="Century Gothic" panose="020B0502020202020204" pitchFamily="34" charset="0"/>
            </a:endParaRPr>
          </a:p>
          <a:p>
            <a:pPr lvl="1"/>
            <a:r>
              <a:rPr lang="en-US" altLang="zh-CN" sz="2000" dirty="0">
                <a:latin typeface="Century Gothic" panose="020B0502020202020204" pitchFamily="34" charset="0"/>
              </a:rPr>
              <a:t>“The acknowledgement of new facts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can lead citizens to reason about 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the question of responsibility in a 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highly partisan-motivated fashion.”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B27D0AD5-5AAC-2A61-5B4B-BDCAD4F4B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908" y="3229016"/>
            <a:ext cx="5956092" cy="362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8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894" y="0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Party Organizations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94" y="1325563"/>
            <a:ext cx="11214286" cy="54112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National Party Organizations</a:t>
            </a:r>
            <a:endParaRPr lang="en-US" altLang="zh-CN" sz="16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National convention</a:t>
            </a:r>
            <a:r>
              <a:rPr lang="en-US" altLang="zh-CN" sz="2000" dirty="0">
                <a:latin typeface="Century Gothic" panose="020B0502020202020204" pitchFamily="34" charset="0"/>
              </a:rPr>
              <a:t>: nominate a presidential candidate; supreme governing body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National committee</a:t>
            </a:r>
            <a:r>
              <a:rPr lang="en-US" altLang="zh-CN" sz="2000" dirty="0">
                <a:latin typeface="Century Gothic" panose="020B0502020202020204" pitchFamily="34" charset="0"/>
              </a:rPr>
              <a:t>: RNC, DNC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They do NOT direct or control the crucial presidential campaigns. 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Congressional party conferences</a:t>
            </a:r>
            <a:r>
              <a:rPr lang="en-US" altLang="zh-CN" sz="2000" dirty="0">
                <a:latin typeface="Century Gothic" panose="020B0502020202020204" pitchFamily="34" charset="0"/>
              </a:rPr>
              <a:t>: select party leaders; decide committee assignments (only within the Congress)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Congressional campaign committee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Despite the weakness of national party committees, both party organizations were strong in Congress. -&gt; </a:t>
            </a: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Why?</a:t>
            </a:r>
          </a:p>
          <a:p>
            <a:pPr lvl="2">
              <a:lnSpc>
                <a:spcPct val="100000"/>
              </a:lnSpc>
            </a:pPr>
            <a:endParaRPr lang="en-US" altLang="zh-CN" sz="16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State and Local Party Organizations</a:t>
            </a:r>
            <a:endParaRPr lang="en-US" altLang="zh-CN" sz="16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American political parties are characterized by </a:t>
            </a:r>
            <a:r>
              <a:rPr lang="en-US" altLang="zh-CN" sz="2000" b="1" i="1" dirty="0">
                <a:latin typeface="Century Gothic" panose="020B0502020202020204" pitchFamily="34" charset="0"/>
              </a:rPr>
              <a:t>decentralization</a:t>
            </a:r>
            <a:r>
              <a:rPr lang="en-US" altLang="zh-CN" sz="2000" i="1" dirty="0">
                <a:latin typeface="Century Gothic" panose="020B0502020202020204" pitchFamily="34" charset="0"/>
              </a:rPr>
              <a:t>, </a:t>
            </a:r>
            <a:r>
              <a:rPr lang="en-US" altLang="zh-CN" sz="2000" dirty="0">
                <a:latin typeface="Century Gothic" panose="020B0502020202020204" pitchFamily="34" charset="0"/>
              </a:rPr>
              <a:t>despite the </a:t>
            </a:r>
            <a:r>
              <a:rPr lang="en-US" altLang="zh-CN" sz="2000" b="1" dirty="0">
                <a:latin typeface="Century Gothic" panose="020B0502020202020204" pitchFamily="34" charset="0"/>
              </a:rPr>
              <a:t>party machine</a:t>
            </a:r>
            <a:r>
              <a:rPr lang="en-US" altLang="zh-CN" sz="2000" dirty="0">
                <a:latin typeface="Century Gothic" panose="020B0502020202020204" pitchFamily="34" charset="0"/>
              </a:rPr>
              <a:t> (a centralized organization that </a:t>
            </a:r>
            <a:r>
              <a:rPr lang="en-US" altLang="zh-CN" sz="2000" b="1" dirty="0">
                <a:latin typeface="Century Gothic" panose="020B0502020202020204" pitchFamily="34" charset="0"/>
              </a:rPr>
              <a:t>dominated local politics by controlling elections</a:t>
            </a:r>
            <a:r>
              <a:rPr lang="en-US" altLang="zh-CN" sz="2000" dirty="0">
                <a:latin typeface="Century Gothic" panose="020B0502020202020204" pitchFamily="34" charset="0"/>
              </a:rPr>
              <a:t>). The individual state and local party organizations vary widely in strength.</a:t>
            </a: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965-1EC2-75B0-A138-BE54EB2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E3BBD-CC59-43AC-483F-5B2DB4E5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165744"/>
            <a:ext cx="11095496" cy="53549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Remember: Ideal Type!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Parties should present clear and coherent programs to voters.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Voters should choose candidates on the basis of party programs.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winning party should carry out its program once in office.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Voters should hold the governing party responsible at the next election for executing its program.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Discussion Questions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Why is the responsible party model often considered a </a:t>
            </a:r>
            <a:r>
              <a:rPr lang="en-US" altLang="zh-CN" sz="2000" b="1" dirty="0">
                <a:latin typeface="Century Gothic" panose="020B0502020202020204" pitchFamily="34" charset="0"/>
              </a:rPr>
              <a:t>majoritarian</a:t>
            </a:r>
            <a:r>
              <a:rPr lang="en-US" altLang="zh-CN" sz="2000" dirty="0">
                <a:latin typeface="Century Gothic" panose="020B0502020202020204" pitchFamily="34" charset="0"/>
              </a:rPr>
              <a:t> model of democracy?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In what ways does the U.S. party system </a:t>
            </a:r>
            <a:r>
              <a:rPr lang="en-US" altLang="zh-CN" sz="2000" b="1" i="1" dirty="0">
                <a:latin typeface="Century Gothic" panose="020B0502020202020204" pitchFamily="34" charset="0"/>
              </a:rPr>
              <a:t>fail</a:t>
            </a:r>
            <a:r>
              <a:rPr lang="en-US" altLang="zh-CN" sz="2000" dirty="0">
                <a:latin typeface="Century Gothic" panose="020B0502020202020204" pitchFamily="34" charset="0"/>
              </a:rPr>
              <a:t> to meet the standards of responsible party government? To what extent are they detrimental to American democracy?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Would adopting a more responsible party model make American politics </a:t>
            </a:r>
            <a:r>
              <a:rPr lang="en-US" altLang="zh-CN" sz="2000" b="1" dirty="0">
                <a:latin typeface="Century Gothic" panose="020B0502020202020204" pitchFamily="34" charset="0"/>
              </a:rPr>
              <a:t>more effective</a:t>
            </a:r>
            <a:r>
              <a:rPr lang="en-US" altLang="zh-CN" sz="2000" dirty="0">
                <a:latin typeface="Century Gothic" panose="020B0502020202020204" pitchFamily="34" charset="0"/>
              </a:rPr>
              <a:t> or </a:t>
            </a:r>
            <a:r>
              <a:rPr lang="en-US" altLang="zh-CN" sz="2000" b="1" dirty="0">
                <a:latin typeface="Century Gothic" panose="020B0502020202020204" pitchFamily="34" charset="0"/>
              </a:rPr>
              <a:t>more polarized</a:t>
            </a:r>
            <a:r>
              <a:rPr lang="en-US" altLang="zh-CN" sz="2000" dirty="0">
                <a:latin typeface="Century Gothic" panose="020B0502020202020204" pitchFamily="34" charset="0"/>
              </a:rPr>
              <a:t>?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ED413E5-1736-8558-749C-4C81B5413F49}"/>
              </a:ext>
            </a:extLst>
          </p:cNvPr>
          <p:cNvSpPr txBox="1">
            <a:spLocks/>
          </p:cNvSpPr>
          <p:nvPr/>
        </p:nvSpPr>
        <p:spPr>
          <a:xfrm>
            <a:off x="54825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The Model of Responsible Party Government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67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A159-6E09-DF20-2CF9-5B674EF48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04DB59-FBA6-E571-4BCA-B4175B80B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278987" cy="553243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Facts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Not all interest groups consist of individuals. (membership, memberless, government)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Business organizations are overrepresented.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Trade associations</a:t>
            </a:r>
            <a:r>
              <a:rPr lang="en-US" altLang="zh-CN" sz="1800" dirty="0">
                <a:latin typeface="Century Gothic" panose="020B0502020202020204" pitchFamily="34" charset="0"/>
              </a:rPr>
              <a:t>: An organization that represents corporations within an industry.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Some business interests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are better represented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than others.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When citizen interests are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organized, the more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advantaged are better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represented than the</a:t>
            </a:r>
            <a:br>
              <a:rPr lang="en-US" altLang="zh-CN" sz="2000" dirty="0">
                <a:latin typeface="Century Gothic" panose="020B0502020202020204" pitchFamily="34" charset="0"/>
              </a:rPr>
            </a:br>
            <a:r>
              <a:rPr lang="en-US" altLang="zh-CN" sz="2000" dirty="0">
                <a:latin typeface="Century Gothic" panose="020B0502020202020204" pitchFamily="34" charset="0"/>
              </a:rPr>
              <a:t>less advantaged.</a:t>
            </a:r>
          </a:p>
          <a:p>
            <a:pPr lvl="1">
              <a:lnSpc>
                <a:spcPct val="100000"/>
              </a:lnSpc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Coordination costs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Bargaining power</a:t>
            </a:r>
          </a:p>
          <a:p>
            <a:pPr>
              <a:lnSpc>
                <a:spcPct val="120000"/>
              </a:lnSpc>
            </a:pPr>
            <a:endParaRPr kumimoji="1" lang="en-US" altLang="zh-CN" sz="1600" b="1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753FB3A-F8D3-064D-442A-DC7D8012FA2B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“Biased Representation” in Interest Groups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pic>
        <p:nvPicPr>
          <p:cNvPr id="4" name="图片 3" descr="图表, 饼图&#10;&#10;AI 生成的内容可能不正确。">
            <a:extLst>
              <a:ext uri="{FF2B5EF4-FFF2-40B4-BE49-F238E27FC236}">
                <a16:creationId xmlns:a16="http://schemas.microsoft.com/office/drawing/2014/main" id="{564D272A-C62A-0916-797E-AC664609A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88586"/>
            <a:ext cx="7620000" cy="396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28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00CBD-D7A7-6A8F-A3CE-F8B42A75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DB278A-3755-E970-F59B-F427A8F33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458870" cy="553243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Awareness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Growing awareness may result from an adverse change in circumstances or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changing definitions of a problem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. (Note: “constructed reality”)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Leadership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The leader is called “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interest group entrepreneur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”.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Socio-economic status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Upper-status groups are more likely to participate in politics. (Only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minimal resources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and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limited channels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to contact and recruit people from lower SES groups that contribute to lower levels of participation)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dirty="0">
                <a:latin typeface="Century Gothic" panose="020B0502020202020204" pitchFamily="34" charset="0"/>
              </a:rPr>
              <a:t>BUT it doesn’t mean they can hardly be represented – </a:t>
            </a:r>
            <a:r>
              <a:rPr kumimoji="1" lang="en-US" altLang="zh-CN" sz="1800" b="1" dirty="0">
                <a:latin typeface="Century Gothic" panose="020B0502020202020204" pitchFamily="34" charset="0"/>
              </a:rPr>
              <a:t>citizen groups </a:t>
            </a:r>
            <a:r>
              <a:rPr kumimoji="1" lang="en-US" altLang="zh-CN" sz="1800" dirty="0">
                <a:latin typeface="Century Gothic" panose="020B0502020202020204" pitchFamily="34" charset="0"/>
              </a:rPr>
              <a:t>(lobbying organization built around policy concerns unrelated to members’ vocational interests)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Can ordinary people rely on those “kind elites”?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Actually, most of them did… -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the free-rider problem</a:t>
            </a:r>
            <a:r>
              <a:rPr kumimoji="1" lang="zh-CN" altLang="en-US" sz="20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in collective actions!</a:t>
            </a:r>
          </a:p>
          <a:p>
            <a:pPr lvl="2">
              <a:lnSpc>
                <a:spcPct val="100000"/>
              </a:lnSpc>
            </a:pPr>
            <a:r>
              <a:rPr kumimoji="1"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How to solve the free-rider problem?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C6E5D8B7-8DDA-9E1C-E9AD-45D04E5114F0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How do Interests Get Organized?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400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10E1D-03F4-3D63-C15F-B919B84A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A0F100-22A1-4B41-7EE6-A5531B7DE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278987" cy="553243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Members &amp; Volunteers (non-membership)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Lobbyists (full-time or part-time; experience, knowledge, and connections)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“Revolving door” between the government and the private sector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è"/>
            </a:pPr>
            <a:r>
              <a:rPr lang="en-US" altLang="zh-CN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Agree / disagree? Advantages / problems?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Political Action Committees (PAC)</a:t>
            </a:r>
          </a:p>
          <a:p>
            <a:pPr lvl="1">
              <a:lnSpc>
                <a:spcPct val="12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Pooling campaign contributions from group members, and donating the money to candidates for political office ($ 5,000 at most to a candidate for Congress)</a:t>
            </a:r>
          </a:p>
          <a:p>
            <a:pPr lvl="1">
              <a:lnSpc>
                <a:spcPct val="120000"/>
              </a:lnSpc>
            </a:pPr>
            <a:r>
              <a:rPr kumimoji="1" lang="en-US" altLang="zh-CN" sz="2000" dirty="0">
                <a:latin typeface="Century Gothic" panose="020B0502020202020204" pitchFamily="34" charset="0"/>
              </a:rPr>
              <a:t>Super PACs: They do not give money directly to candidates or parties, but there’s no restriction on their expenditures.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è"/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Should limits on PAC contributions be increased, decreased, or abolished?</a:t>
            </a:r>
          </a:p>
          <a:p>
            <a:pPr lvl="1">
              <a:lnSpc>
                <a:spcPct val="120000"/>
              </a:lnSpc>
              <a:buFont typeface="Wingdings" pitchFamily="2" charset="2"/>
              <a:buChar char="è"/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Is money in politics a form of free speech or a source of inequality?</a:t>
            </a:r>
            <a:endParaRPr kumimoji="1" lang="en-US" altLang="zh-CN" sz="2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B36BF89-C1B8-0F9B-501F-BA13080F0AFD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Actors</a:t>
            </a:r>
            <a:r>
              <a:rPr kumimoji="1" lang="zh-CN" altLang="en-US" sz="3600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sz="3600" b="1" dirty="0">
                <a:latin typeface="Century Gothic" panose="020B0502020202020204" pitchFamily="34" charset="0"/>
              </a:rPr>
              <a:t>of Interest Groups: Key Examples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438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43B7B-66EE-69DB-1EA6-0186829A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AF76F-855D-B24A-0AA1-5F74BE40E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278987" cy="553243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Direct lobbying (personal contact with policy makers)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Grassroots lobbying</a:t>
            </a:r>
            <a:r>
              <a:rPr lang="en-US" altLang="zh-CN" sz="2000" dirty="0">
                <a:latin typeface="Century Gothic" panose="020B0502020202020204" pitchFamily="34" charset="0"/>
              </a:rPr>
              <a:t>: to affect public policy by using citizen contacts or pressure, by letter writing, protest or demonstration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Astroturfing</a:t>
            </a:r>
            <a:r>
              <a:rPr lang="en-US" altLang="zh-CN" sz="2000" dirty="0">
                <a:latin typeface="Century Gothic" panose="020B0502020202020204" pitchFamily="34" charset="0"/>
              </a:rPr>
              <a:t>: “Mimic” grassroots support using paid consulting firms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Information campaigns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An organized effort to gain public backing by bringing a group’s views to public attention. -&gt; </a:t>
            </a:r>
            <a:r>
              <a:rPr lang="en-US" altLang="zh-CN" sz="2000" b="1" dirty="0">
                <a:latin typeface="Century Gothic" panose="020B0502020202020204" pitchFamily="34" charset="0"/>
              </a:rPr>
              <a:t>“public relations” </a:t>
            </a:r>
            <a:r>
              <a:rPr lang="en-US" altLang="zh-CN" sz="2000" dirty="0">
                <a:latin typeface="Century Gothic" panose="020B0502020202020204" pitchFamily="34" charset="0"/>
              </a:rPr>
              <a:t>(Note: Both an art and a science)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Coalition building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 banding together of several interest groups for the purpose of lobbying</a:t>
            </a:r>
          </a:p>
          <a:p>
            <a:pPr lvl="1">
              <a:lnSpc>
                <a:spcPct val="12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Coalitions often extend beyond organizations with similar constituencies and similar outlooks. (consolidate those who share the same goal)</a:t>
            </a:r>
          </a:p>
          <a:p>
            <a:pPr lvl="1">
              <a:lnSpc>
                <a:spcPct val="12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Recall: “bureaucratic network” </a:t>
            </a:r>
            <a:r>
              <a:rPr lang="en-US" altLang="zh-CN" sz="2000" dirty="0">
                <a:latin typeface="Century Gothic" panose="020B0502020202020204" pitchFamily="34" charset="0"/>
              </a:rPr>
              <a:t>-&gt;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Similarities &amp; Differences?</a:t>
            </a:r>
          </a:p>
          <a:p>
            <a:pPr lvl="1">
              <a:lnSpc>
                <a:spcPct val="12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99FB24AB-1242-8798-50E2-41AEC4B85BBB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How do Interest Groups Exert Influence?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568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C01AF-8BEE-1F07-CEC0-8349A2D0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2A8F19-2B6B-2DAE-2F0D-459C4A66D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1" y="1325563"/>
            <a:ext cx="11278987" cy="553243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Legislative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Providing valuable, “local” information for policy makers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No clear evidence </a:t>
            </a:r>
            <a:r>
              <a:rPr lang="en-US" altLang="zh-CN" sz="2000" dirty="0">
                <a:latin typeface="Century Gothic" panose="020B0502020202020204" pitchFamily="34" charset="0"/>
              </a:rPr>
              <a:t>that interest groups influence members of Congress’s decisions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Executive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Rule making can be both very technical and complicated. Few citizens know how and when to participate.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Therefore, interest groups can exert </a:t>
            </a:r>
            <a:r>
              <a:rPr lang="en-US" altLang="zh-CN" sz="2000" b="1" dirty="0">
                <a:latin typeface="Century Gothic" panose="020B0502020202020204" pitchFamily="34" charset="0"/>
              </a:rPr>
              <a:t>a great deal of influence</a:t>
            </a:r>
            <a:r>
              <a:rPr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Judicial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Identifying potential cases, sponsoring litigation, and crafting legal arguments for judges to consider</a:t>
            </a:r>
          </a:p>
          <a:p>
            <a:pPr lvl="1">
              <a:lnSpc>
                <a:spcPct val="100000"/>
              </a:lnSpc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Why can interest groups exert more influence in the rule-making process than in Congress?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Should courts limit the role of interest groups in identifying or sponsoring cases?</a:t>
            </a:r>
            <a:endParaRPr kumimoji="1" lang="en-US" altLang="zh-CN" sz="22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18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2FB117A6-1477-EB82-61BA-DD17454A6CA3}"/>
              </a:ext>
            </a:extLst>
          </p:cNvPr>
          <p:cNvSpPr txBox="1">
            <a:spLocks/>
          </p:cNvSpPr>
          <p:nvPr/>
        </p:nvSpPr>
        <p:spPr>
          <a:xfrm>
            <a:off x="548251" y="0"/>
            <a:ext cx="116437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Are Interest Groups Effective?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3661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We have </a:t>
            </a:r>
            <a:r>
              <a:rPr kumimoji="1" lang="en-US" altLang="zh-CN" b="1" dirty="0">
                <a:latin typeface="Century Gothic" panose="020B0502020202020204" pitchFamily="34" charset="0"/>
              </a:rPr>
              <a:t>NO CLASS </a:t>
            </a:r>
            <a:r>
              <a:rPr kumimoji="1" lang="en-US" altLang="zh-CN" dirty="0">
                <a:latin typeface="Century Gothic" panose="020B0502020202020204" pitchFamily="34" charset="0"/>
              </a:rPr>
              <a:t>for</a:t>
            </a:r>
            <a:r>
              <a:rPr kumimoji="1" lang="en-US" altLang="zh-CN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dirty="0">
                <a:latin typeface="Century Gothic" panose="020B0502020202020204" pitchFamily="34" charset="0"/>
              </a:rPr>
              <a:t>next week (Fall Break 10.31 - Halloween!)</a:t>
            </a:r>
          </a:p>
          <a:p>
            <a:pPr>
              <a:lnSpc>
                <a:spcPct val="100000"/>
              </a:lnSpc>
            </a:pPr>
            <a:endParaRPr kumimoji="1" lang="en-US" altLang="zh-CN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For the next next Week’s class, please read materials on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Public Opinion &amp; Media</a:t>
            </a:r>
            <a:r>
              <a:rPr kumimoji="1" lang="en-US" altLang="zh-CN" dirty="0">
                <a:latin typeface="Century Gothic" panose="020B0502020202020204" pitchFamily="34" charset="0"/>
              </a:rPr>
              <a:t>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9472</TotalTime>
  <Words>2491</Words>
  <Application>Microsoft Macintosh PowerPoint</Application>
  <PresentationFormat>宽屏</PresentationFormat>
  <Paragraphs>233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等线</vt:lpstr>
      <vt:lpstr>等线 Light</vt:lpstr>
      <vt:lpstr>Arial</vt:lpstr>
      <vt:lpstr>Century Gothic</vt:lpstr>
      <vt:lpstr>Constantia</vt:lpstr>
      <vt:lpstr>Wingdings</vt:lpstr>
      <vt:lpstr>Office 主题​​</vt:lpstr>
      <vt:lpstr>11. Political Parties  &amp; Interest Groups</vt:lpstr>
      <vt:lpstr>Exam Hand Back</vt:lpstr>
      <vt:lpstr>Mid term 2 Feedback</vt:lpstr>
      <vt:lpstr>Political Parties &amp; Interest Groups</vt:lpstr>
      <vt:lpstr>Political Parties &amp; Interest Groups (cont`d)</vt:lpstr>
      <vt:lpstr>The American Two-Party System</vt:lpstr>
      <vt:lpstr>The American Two-Party System (cont`d)</vt:lpstr>
      <vt:lpstr>The American Two-Party System (cont`d)</vt:lpstr>
      <vt:lpstr>Party Organizations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147</cp:revision>
  <dcterms:created xsi:type="dcterms:W3CDTF">2025-08-13T18:40:43Z</dcterms:created>
  <dcterms:modified xsi:type="dcterms:W3CDTF">2025-10-24T01:28:32Z</dcterms:modified>
</cp:coreProperties>
</file>