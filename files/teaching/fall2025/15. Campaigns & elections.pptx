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79" r:id="rId4"/>
    <p:sldId id="280" r:id="rId5"/>
    <p:sldId id="281" r:id="rId6"/>
    <p:sldId id="278" r:id="rId7"/>
    <p:sldId id="273" r:id="rId8"/>
    <p:sldId id="282" r:id="rId9"/>
    <p:sldId id="283" r:id="rId10"/>
    <p:sldId id="277" r:id="rId11"/>
    <p:sldId id="284" r:id="rId12"/>
    <p:sldId id="285" r:id="rId13"/>
    <p:sldId id="263"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77"/>
    <p:restoredTop sz="81880"/>
  </p:normalViewPr>
  <p:slideViewPr>
    <p:cSldViewPr snapToGrid="0">
      <p:cViewPr varScale="1">
        <p:scale>
          <a:sx n="115" d="100"/>
          <a:sy n="115" d="100"/>
        </p:scale>
        <p:origin x="1248" y="2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FC2761-774B-F042-9BD3-0C52A688F4FB}" type="datetimeFigureOut">
              <a:rPr kumimoji="1" lang="zh-CN" altLang="en-US" smtClean="0"/>
              <a:t>2025/11/19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092E27-0BA6-464B-8F92-818B943024AB}" type="slidenum">
              <a:rPr kumimoji="1" lang="zh-CN" altLang="en-US" smtClean="0"/>
              <a:t>‹#›</a:t>
            </a:fld>
            <a:endParaRPr kumimoji="1" lang="zh-CN" altLang="en-US"/>
          </a:p>
        </p:txBody>
      </p:sp>
    </p:spTree>
    <p:extLst>
      <p:ext uri="{BB962C8B-B14F-4D97-AF65-F5344CB8AC3E}">
        <p14:creationId xmlns:p14="http://schemas.microsoft.com/office/powerpoint/2010/main" val="5939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1</a:t>
            </a:fld>
            <a:endParaRPr kumimoji="1" lang="zh-CN" altLang="en-US"/>
          </a:p>
        </p:txBody>
      </p:sp>
    </p:spTree>
    <p:extLst>
      <p:ext uri="{BB962C8B-B14F-4D97-AF65-F5344CB8AC3E}">
        <p14:creationId xmlns:p14="http://schemas.microsoft.com/office/powerpoint/2010/main" val="9708652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85750" indent="-285750">
              <a:buFont typeface="Arial" panose="020B0604020202020204" pitchFamily="34" charset="0"/>
              <a:buChar char="•"/>
            </a:pPr>
            <a:r>
              <a:rPr kumimoji="1" lang="en-US" altLang="zh-CN" sz="1600" dirty="0"/>
              <a:t>Invisible primary (agreement within elites)</a:t>
            </a:r>
          </a:p>
          <a:p>
            <a:pPr marL="285750" indent="-285750">
              <a:buFont typeface="Arial" panose="020B0604020202020204" pitchFamily="34" charset="0"/>
              <a:buChar char="•"/>
            </a:pPr>
            <a:r>
              <a:rPr kumimoji="1" lang="en-US" altLang="zh-CN" sz="1600" dirty="0"/>
              <a:t>Resources network controlled by the party organization</a:t>
            </a:r>
          </a:p>
          <a:p>
            <a:pPr marL="285750" indent="-285750">
              <a:buFont typeface="Arial" panose="020B0604020202020204" pitchFamily="34" charset="0"/>
              <a:buChar char="•"/>
            </a:pPr>
            <a:r>
              <a:rPr kumimoji="1" lang="en-US" altLang="zh-CN" sz="1600" dirty="0"/>
              <a:t>Individual level: require the candidate to be resourceful; voters are a predictable small group – core subgroup in a party, so there can be few voices in the nomination stage.</a:t>
            </a:r>
            <a:endParaRPr kumimoji="1" lang="zh-CN" altLang="en-US" sz="1600" dirty="0"/>
          </a:p>
        </p:txBody>
      </p:sp>
      <p:sp>
        <p:nvSpPr>
          <p:cNvPr id="4" name="灯片编号占位符 3"/>
          <p:cNvSpPr>
            <a:spLocks noGrp="1"/>
          </p:cNvSpPr>
          <p:nvPr>
            <p:ph type="sldNum" sz="quarter" idx="5"/>
          </p:nvPr>
        </p:nvSpPr>
        <p:spPr/>
        <p:txBody>
          <a:bodyPr/>
          <a:lstStyle/>
          <a:p>
            <a:fld id="{CB092E27-0BA6-464B-8F92-818B943024AB}" type="slidenum">
              <a:rPr kumimoji="1" lang="zh-CN" altLang="en-US" smtClean="0"/>
              <a:t>2</a:t>
            </a:fld>
            <a:endParaRPr kumimoji="1" lang="zh-CN" altLang="en-US"/>
          </a:p>
        </p:txBody>
      </p:sp>
    </p:spTree>
    <p:extLst>
      <p:ext uri="{BB962C8B-B14F-4D97-AF65-F5344CB8AC3E}">
        <p14:creationId xmlns:p14="http://schemas.microsoft.com/office/powerpoint/2010/main" val="251675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E4EA8-30BF-A8E1-0BFC-207E0AECF1F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B5D5B5-5EA2-8C8D-2AE3-8FD785D1B7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CFF484-DF1F-F1B9-B303-A993A1F3489B}"/>
              </a:ext>
            </a:extLst>
          </p:cNvPr>
          <p:cNvSpPr>
            <a:spLocks noGrp="1"/>
          </p:cNvSpPr>
          <p:nvPr>
            <p:ph type="body" idx="1"/>
          </p:nvPr>
        </p:nvSpPr>
        <p:spPr/>
        <p:txBody>
          <a:bodyPr/>
          <a:lstStyle/>
          <a:p>
            <a:pPr marL="285750" indent="-285750">
              <a:buFont typeface="Arial" panose="020B0604020202020204" pitchFamily="34" charset="0"/>
              <a:buChar char="•"/>
            </a:pPr>
            <a:r>
              <a:rPr kumimoji="1" lang="en-US" altLang="zh-CN" sz="1600" dirty="0"/>
              <a:t>Betrayal of democracy</a:t>
            </a:r>
            <a:endParaRPr kumimoji="1" lang="zh-CN" altLang="en-US" sz="1600" dirty="0"/>
          </a:p>
        </p:txBody>
      </p:sp>
      <p:sp>
        <p:nvSpPr>
          <p:cNvPr id="4" name="灯片编号占位符 3">
            <a:extLst>
              <a:ext uri="{FF2B5EF4-FFF2-40B4-BE49-F238E27FC236}">
                <a16:creationId xmlns:a16="http://schemas.microsoft.com/office/drawing/2014/main" id="{E74F12E5-EB58-64D1-1BBD-4EC7F803D812}"/>
              </a:ext>
            </a:extLst>
          </p:cNvPr>
          <p:cNvSpPr>
            <a:spLocks noGrp="1"/>
          </p:cNvSpPr>
          <p:nvPr>
            <p:ph type="sldNum" sz="quarter" idx="5"/>
          </p:nvPr>
        </p:nvSpPr>
        <p:spPr/>
        <p:txBody>
          <a:bodyPr/>
          <a:lstStyle/>
          <a:p>
            <a:fld id="{CB092E27-0BA6-464B-8F92-818B943024AB}" type="slidenum">
              <a:rPr kumimoji="1" lang="zh-CN" altLang="en-US" smtClean="0"/>
              <a:t>3</a:t>
            </a:fld>
            <a:endParaRPr kumimoji="1" lang="zh-CN" altLang="en-US"/>
          </a:p>
        </p:txBody>
      </p:sp>
    </p:spTree>
    <p:extLst>
      <p:ext uri="{BB962C8B-B14F-4D97-AF65-F5344CB8AC3E}">
        <p14:creationId xmlns:p14="http://schemas.microsoft.com/office/powerpoint/2010/main" val="138562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C319E-FE97-0262-9A34-C4CC173D67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DA2942-F7B0-700B-608E-CF76293A1D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D97CD5B-1D75-3172-9B01-12C97487040A}"/>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CD082747-7BF0-BA4E-33C2-D10CBF3A0737}"/>
              </a:ext>
            </a:extLst>
          </p:cNvPr>
          <p:cNvSpPr>
            <a:spLocks noGrp="1"/>
          </p:cNvSpPr>
          <p:nvPr>
            <p:ph type="sldNum" sz="quarter" idx="5"/>
          </p:nvPr>
        </p:nvSpPr>
        <p:spPr/>
        <p:txBody>
          <a:bodyPr/>
          <a:lstStyle/>
          <a:p>
            <a:fld id="{CB092E27-0BA6-464B-8F92-818B943024AB}" type="slidenum">
              <a:rPr kumimoji="1" lang="zh-CN" altLang="en-US" smtClean="0"/>
              <a:t>4</a:t>
            </a:fld>
            <a:endParaRPr kumimoji="1" lang="zh-CN" altLang="en-US"/>
          </a:p>
        </p:txBody>
      </p:sp>
    </p:spTree>
    <p:extLst>
      <p:ext uri="{BB962C8B-B14F-4D97-AF65-F5344CB8AC3E}">
        <p14:creationId xmlns:p14="http://schemas.microsoft.com/office/powerpoint/2010/main" val="41755037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5451-3644-B1E3-3CF1-93E2EFF64A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1BE1D1B-3CDB-37A4-FD81-EC6B484399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5E7FF0-2380-B5C4-6835-A6F4876D34E7}"/>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E55A734E-9291-7829-CD7E-CA6295881D97}"/>
              </a:ext>
            </a:extLst>
          </p:cNvPr>
          <p:cNvSpPr>
            <a:spLocks noGrp="1"/>
          </p:cNvSpPr>
          <p:nvPr>
            <p:ph type="sldNum" sz="quarter" idx="5"/>
          </p:nvPr>
        </p:nvSpPr>
        <p:spPr/>
        <p:txBody>
          <a:bodyPr/>
          <a:lstStyle/>
          <a:p>
            <a:fld id="{CB092E27-0BA6-464B-8F92-818B943024AB}" type="slidenum">
              <a:rPr kumimoji="1" lang="zh-CN" altLang="en-US" smtClean="0"/>
              <a:t>5</a:t>
            </a:fld>
            <a:endParaRPr kumimoji="1" lang="zh-CN" altLang="en-US"/>
          </a:p>
        </p:txBody>
      </p:sp>
    </p:spTree>
    <p:extLst>
      <p:ext uri="{BB962C8B-B14F-4D97-AF65-F5344CB8AC3E}">
        <p14:creationId xmlns:p14="http://schemas.microsoft.com/office/powerpoint/2010/main" val="2121879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4015E-7C30-95E0-50B7-2BC75A196C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407B06-328E-B4C4-79CE-77515F6CCB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FE706A-9F42-8BFA-6CCD-149A2B82600D}"/>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1973F599-BBF3-CD7F-FE75-BFACA0AD09A5}"/>
              </a:ext>
            </a:extLst>
          </p:cNvPr>
          <p:cNvSpPr>
            <a:spLocks noGrp="1"/>
          </p:cNvSpPr>
          <p:nvPr>
            <p:ph type="sldNum" sz="quarter" idx="5"/>
          </p:nvPr>
        </p:nvSpPr>
        <p:spPr/>
        <p:txBody>
          <a:bodyPr/>
          <a:lstStyle/>
          <a:p>
            <a:fld id="{CB092E27-0BA6-464B-8F92-818B943024AB}" type="slidenum">
              <a:rPr kumimoji="1" lang="zh-CN" altLang="en-US" smtClean="0"/>
              <a:t>6</a:t>
            </a:fld>
            <a:endParaRPr kumimoji="1" lang="zh-CN" altLang="en-US"/>
          </a:p>
        </p:txBody>
      </p:sp>
    </p:spTree>
    <p:extLst>
      <p:ext uri="{BB962C8B-B14F-4D97-AF65-F5344CB8AC3E}">
        <p14:creationId xmlns:p14="http://schemas.microsoft.com/office/powerpoint/2010/main" val="4426582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28DC-9620-41E7-B96A-CA01E6CFDF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E0AF89-89D5-489D-07AC-4CE0A44A55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4A5A20E-CEA6-2270-1030-48B82B136163}"/>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A036ADAA-E146-684B-A076-081810DA21EC}"/>
              </a:ext>
            </a:extLst>
          </p:cNvPr>
          <p:cNvSpPr>
            <a:spLocks noGrp="1"/>
          </p:cNvSpPr>
          <p:nvPr>
            <p:ph type="sldNum" sz="quarter" idx="5"/>
          </p:nvPr>
        </p:nvSpPr>
        <p:spPr/>
        <p:txBody>
          <a:bodyPr/>
          <a:lstStyle/>
          <a:p>
            <a:fld id="{CB092E27-0BA6-464B-8F92-818B943024AB}" type="slidenum">
              <a:rPr kumimoji="1" lang="zh-CN" altLang="en-US" smtClean="0"/>
              <a:t>7</a:t>
            </a:fld>
            <a:endParaRPr kumimoji="1" lang="zh-CN" altLang="en-US"/>
          </a:p>
        </p:txBody>
      </p:sp>
    </p:spTree>
    <p:extLst>
      <p:ext uri="{BB962C8B-B14F-4D97-AF65-F5344CB8AC3E}">
        <p14:creationId xmlns:p14="http://schemas.microsoft.com/office/powerpoint/2010/main" val="2361038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36F22-B2DB-3652-BA5D-FD73CD91F6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397EDA-0F9A-4E9A-D80D-72B0C0D441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383A8E-74C4-C699-9274-A9807488869A}"/>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98D7E075-1E1D-4CE3-1850-12E1D54B9A10}"/>
              </a:ext>
            </a:extLst>
          </p:cNvPr>
          <p:cNvSpPr>
            <a:spLocks noGrp="1"/>
          </p:cNvSpPr>
          <p:nvPr>
            <p:ph type="sldNum" sz="quarter" idx="5"/>
          </p:nvPr>
        </p:nvSpPr>
        <p:spPr/>
        <p:txBody>
          <a:bodyPr/>
          <a:lstStyle/>
          <a:p>
            <a:fld id="{CB092E27-0BA6-464B-8F92-818B943024AB}" type="slidenum">
              <a:rPr kumimoji="1" lang="zh-CN" altLang="en-US" smtClean="0"/>
              <a:t>8</a:t>
            </a:fld>
            <a:endParaRPr kumimoji="1" lang="zh-CN" altLang="en-US"/>
          </a:p>
        </p:txBody>
      </p:sp>
    </p:spTree>
    <p:extLst>
      <p:ext uri="{BB962C8B-B14F-4D97-AF65-F5344CB8AC3E}">
        <p14:creationId xmlns:p14="http://schemas.microsoft.com/office/powerpoint/2010/main" val="2360202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663C5-D4E1-7987-2941-F3A8EE33048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1877D58-6C9F-2CD4-57FC-73D02BEC61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C76A7D-AC30-8629-4B3C-12F9D9244B82}"/>
              </a:ext>
            </a:extLst>
          </p:cNvPr>
          <p:cNvSpPr>
            <a:spLocks noGrp="1"/>
          </p:cNvSpPr>
          <p:nvPr>
            <p:ph type="body" idx="1"/>
          </p:nvPr>
        </p:nvSpPr>
        <p:spPr/>
        <p:txBody>
          <a:bodyPr/>
          <a:lstStyle/>
          <a:p>
            <a:r>
              <a:rPr lang="zh-CN" altLang="en-US" sz="1600" dirty="0"/>
              <a:t>这一差异源于总统选举与国会选举在</a:t>
            </a:r>
            <a:r>
              <a:rPr lang="zh-CN" altLang="en-US" sz="1600" b="1" dirty="0"/>
              <a:t>制度目标、政治地位与监管逻辑</a:t>
            </a:r>
            <a:r>
              <a:rPr lang="zh-CN" altLang="en-US" sz="1600" dirty="0"/>
              <a:t>上的根本不同。</a:t>
            </a:r>
            <a:endParaRPr lang="en-US" altLang="zh-CN" sz="1600" dirty="0"/>
          </a:p>
          <a:p>
            <a:endParaRPr lang="zh-CN" altLang="en-US" sz="1600" dirty="0"/>
          </a:p>
          <a:p>
            <a:r>
              <a:rPr lang="zh-CN" altLang="en-US" sz="1600" dirty="0"/>
              <a:t>首先，</a:t>
            </a:r>
            <a:r>
              <a:rPr lang="zh-CN" altLang="en-US" sz="1600" b="1" dirty="0"/>
              <a:t>总统选举是全国性选举（</a:t>
            </a:r>
            <a:r>
              <a:rPr lang="en-US" altLang="zh-CN" sz="1600" b="1" dirty="0"/>
              <a:t>national election</a:t>
            </a:r>
            <a:r>
              <a:rPr lang="zh-CN" altLang="en-US" sz="1600" b="1" dirty="0"/>
              <a:t>）</a:t>
            </a:r>
            <a:r>
              <a:rPr lang="zh-CN" altLang="en-US" sz="1600" dirty="0"/>
              <a:t>，其公共资助制度（</a:t>
            </a:r>
            <a:r>
              <a:rPr lang="en-US" altLang="zh-CN" sz="1600" dirty="0"/>
              <a:t>public funding system</a:t>
            </a:r>
            <a:r>
              <a:rPr lang="zh-CN" altLang="en-US" sz="1600" dirty="0"/>
              <a:t>）建立于</a:t>
            </a:r>
            <a:r>
              <a:rPr lang="en-US" altLang="zh-CN" sz="1600" dirty="0"/>
              <a:t>20</a:t>
            </a:r>
            <a:r>
              <a:rPr lang="zh-CN" altLang="en-US" sz="1600" dirty="0"/>
              <a:t>世纪</a:t>
            </a:r>
            <a:r>
              <a:rPr lang="en-US" altLang="zh-CN" sz="1600" dirty="0"/>
              <a:t>70</a:t>
            </a:r>
            <a:r>
              <a:rPr lang="zh-CN" altLang="en-US" sz="1600" dirty="0"/>
              <a:t>年代，旨在防止大额私人捐款影响全国政治公正性。接受公共资金的候选人必须遵守严格的支出上限和透明要求，因此法律规定他们</a:t>
            </a:r>
            <a:r>
              <a:rPr lang="zh-CN" altLang="en-US" sz="1600" b="1" dirty="0"/>
              <a:t>不能再接受私人捐款</a:t>
            </a:r>
            <a:r>
              <a:rPr lang="zh-CN" altLang="en-US" sz="1600" dirty="0"/>
              <a:t>，以确保公共资助的“纯洁性”和可比性。这是一种“以资金换取约束”的契约。</a:t>
            </a:r>
            <a:endParaRPr lang="en-US" altLang="zh-CN" sz="1600" dirty="0"/>
          </a:p>
          <a:p>
            <a:endParaRPr lang="zh-CN" altLang="en-US" sz="1600" dirty="0"/>
          </a:p>
          <a:p>
            <a:r>
              <a:rPr lang="zh-CN" altLang="en-US" sz="1600" dirty="0"/>
              <a:t>相比之下，</a:t>
            </a:r>
            <a:r>
              <a:rPr lang="zh-CN" altLang="en-US" sz="1600" b="1" dirty="0"/>
              <a:t>国会选举具有地方性和高频次特征</a:t>
            </a:r>
            <a:r>
              <a:rPr lang="zh-CN" altLang="en-US" sz="1600" dirty="0"/>
              <a:t>。联邦政府既无能力也无必要为每一场地方选举提供公共资助，因此监管重点仅限于设定捐款上限与披露义务，而非取代私人资金来源。国会议员候选人因此可以</a:t>
            </a:r>
            <a:r>
              <a:rPr lang="zh-CN" altLang="en-US" sz="1600" b="1" dirty="0"/>
              <a:t>同时接受个人、政党及政治行动委员会（</a:t>
            </a:r>
            <a:r>
              <a:rPr lang="en-US" altLang="zh-CN" sz="1600" b="1" dirty="0"/>
              <a:t>PAC</a:t>
            </a:r>
            <a:r>
              <a:rPr lang="zh-CN" altLang="en-US" sz="1600" b="1" dirty="0"/>
              <a:t>）等多渠道资金</a:t>
            </a:r>
            <a:r>
              <a:rPr lang="zh-CN" altLang="en-US" sz="1600" dirty="0"/>
              <a:t>。</a:t>
            </a:r>
          </a:p>
          <a:p>
            <a:r>
              <a:rPr lang="zh-CN" altLang="en-US" sz="1600" dirty="0"/>
              <a:t>换言之，</a:t>
            </a:r>
            <a:r>
              <a:rPr lang="zh-CN" altLang="en-US" sz="1600" b="1" dirty="0"/>
              <a:t>总统选举追求制度的象征性公平，国会选举追求现实的透明与灵活</a:t>
            </a:r>
            <a:r>
              <a:rPr lang="zh-CN" altLang="en-US" sz="1600" dirty="0"/>
              <a:t>。前者不能“两头拿”，后者可以“多方筹资”，反映的正是制度设计中“理想型公平”与“操作性现实”之间的权衡。</a:t>
            </a:r>
          </a:p>
          <a:p>
            <a:endParaRPr kumimoji="1" lang="en-US" altLang="zh-CN" sz="1600" dirty="0"/>
          </a:p>
          <a:p>
            <a:r>
              <a:rPr lang="en-US" altLang="zh-CN" sz="1600" dirty="0"/>
              <a:t>The </a:t>
            </a:r>
            <a:r>
              <a:rPr lang="en-US" altLang="zh-CN" sz="1600" b="1" dirty="0"/>
              <a:t>presidential election</a:t>
            </a:r>
            <a:r>
              <a:rPr lang="en-US" altLang="zh-CN" sz="1600" dirty="0"/>
              <a:t> is a </a:t>
            </a:r>
            <a:r>
              <a:rPr lang="en-US" altLang="zh-CN" sz="1600" i="1" dirty="0"/>
              <a:t>national</a:t>
            </a:r>
            <a:r>
              <a:rPr lang="en-US" altLang="zh-CN" sz="1600" dirty="0"/>
              <a:t> contest. The public funding system, established in the 1970s, was designed to reduce the influence of large private donations on national politics. Candidates who accept public funds must agree to strict spending limits and transparency rules; therefore, they are </a:t>
            </a:r>
            <a:r>
              <a:rPr lang="en-US" altLang="zh-CN" sz="1600" b="1" dirty="0"/>
              <a:t>prohibited from also raising private money</a:t>
            </a:r>
            <a:r>
              <a:rPr lang="en-US" altLang="zh-CN" sz="1600" dirty="0"/>
              <a:t>, in order to preserve the </a:t>
            </a:r>
            <a:r>
              <a:rPr lang="en-US" altLang="zh-CN" sz="1600" i="1" dirty="0"/>
              <a:t>purity and comparability</a:t>
            </a:r>
            <a:r>
              <a:rPr lang="en-US" altLang="zh-CN" sz="1600" dirty="0"/>
              <a:t> of publicly financed campaigns. It functions as a contractual exchange — public money in return for self-restraint.</a:t>
            </a:r>
          </a:p>
          <a:p>
            <a:endParaRPr lang="en-US" altLang="zh-CN" sz="1600" dirty="0"/>
          </a:p>
          <a:p>
            <a:r>
              <a:rPr lang="en-US" altLang="zh-CN" sz="1600" dirty="0"/>
              <a:t>By contrast, </a:t>
            </a:r>
            <a:r>
              <a:rPr lang="en-US" altLang="zh-CN" sz="1600" b="1" dirty="0"/>
              <a:t>congressional elections are local and frequent</a:t>
            </a:r>
            <a:r>
              <a:rPr lang="en-US" altLang="zh-CN" sz="1600" dirty="0"/>
              <a:t>. The federal government neither has the capacity nor the necessity to provide public funding for hundreds of separate races. Regulation thus focuses on contribution limits and disclosure rather than replacing private sources. As a result, congressional candidates are allowed to </a:t>
            </a:r>
            <a:r>
              <a:rPr lang="en-US" altLang="zh-CN" sz="1600" b="1" dirty="0"/>
              <a:t>combine funds from individuals, party committees, and political action committees (PACs)</a:t>
            </a:r>
            <a:r>
              <a:rPr lang="en-US" altLang="zh-CN" sz="1600" dirty="0"/>
              <a:t>.</a:t>
            </a:r>
          </a:p>
          <a:p>
            <a:endParaRPr lang="en-US" altLang="zh-CN" sz="1600" dirty="0"/>
          </a:p>
          <a:p>
            <a:r>
              <a:rPr lang="en-US" altLang="zh-CN" sz="1600" dirty="0"/>
              <a:t>In short, </a:t>
            </a:r>
            <a:r>
              <a:rPr lang="en-US" altLang="zh-CN" sz="1600" b="1" dirty="0"/>
              <a:t>presidential elections prioritize symbolic fairness</a:t>
            </a:r>
            <a:r>
              <a:rPr lang="en-US" altLang="zh-CN" sz="1600" dirty="0"/>
              <a:t>, while </a:t>
            </a:r>
            <a:r>
              <a:rPr lang="en-US" altLang="zh-CN" sz="1600" b="1" dirty="0"/>
              <a:t>congressional elections emphasize practical transparency and flexibility</a:t>
            </a:r>
            <a:r>
              <a:rPr lang="en-US" altLang="zh-CN" sz="1600" dirty="0"/>
              <a:t>. The rule that presidents cannot “take from both sides,” whereas members of Congress can, reflects a balance between </a:t>
            </a:r>
            <a:r>
              <a:rPr lang="en-US" altLang="zh-CN" sz="1600" i="1" dirty="0"/>
              <a:t>ideal fairness</a:t>
            </a:r>
            <a:r>
              <a:rPr lang="en-US" altLang="zh-CN" sz="1600" dirty="0"/>
              <a:t> and </a:t>
            </a:r>
            <a:r>
              <a:rPr lang="en-US" altLang="zh-CN" sz="1600" i="1" dirty="0"/>
              <a:t>operational reality</a:t>
            </a:r>
            <a:r>
              <a:rPr lang="en-US" altLang="zh-CN" sz="1600" dirty="0"/>
              <a:t> in American electoral design.</a:t>
            </a:r>
          </a:p>
          <a:p>
            <a:endParaRPr kumimoji="1" lang="en-US" altLang="zh-CN" sz="1600" dirty="0"/>
          </a:p>
          <a:p>
            <a:endParaRPr kumimoji="1" lang="zh-CN" altLang="en-US" sz="1600" dirty="0"/>
          </a:p>
        </p:txBody>
      </p:sp>
      <p:sp>
        <p:nvSpPr>
          <p:cNvPr id="4" name="灯片编号占位符 3">
            <a:extLst>
              <a:ext uri="{FF2B5EF4-FFF2-40B4-BE49-F238E27FC236}">
                <a16:creationId xmlns:a16="http://schemas.microsoft.com/office/drawing/2014/main" id="{E7B9625F-DBCD-F3FA-861A-514B474A3665}"/>
              </a:ext>
            </a:extLst>
          </p:cNvPr>
          <p:cNvSpPr>
            <a:spLocks noGrp="1"/>
          </p:cNvSpPr>
          <p:nvPr>
            <p:ph type="sldNum" sz="quarter" idx="5"/>
          </p:nvPr>
        </p:nvSpPr>
        <p:spPr/>
        <p:txBody>
          <a:bodyPr/>
          <a:lstStyle/>
          <a:p>
            <a:fld id="{CB092E27-0BA6-464B-8F92-818B943024AB}" type="slidenum">
              <a:rPr kumimoji="1" lang="zh-CN" altLang="en-US" smtClean="0"/>
              <a:t>9</a:t>
            </a:fld>
            <a:endParaRPr kumimoji="1" lang="zh-CN" altLang="en-US"/>
          </a:p>
        </p:txBody>
      </p:sp>
    </p:spTree>
    <p:extLst>
      <p:ext uri="{BB962C8B-B14F-4D97-AF65-F5344CB8AC3E}">
        <p14:creationId xmlns:p14="http://schemas.microsoft.com/office/powerpoint/2010/main" val="3756482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E40A-A8F4-FDE3-3612-62CC209BDA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6DE4750-D1A4-38C5-F498-193DD68110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7A7F0E-14E6-3716-BCB6-AC1F579F730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934AB4D-6D58-DCD7-3730-62CA58F6885A}"/>
              </a:ext>
            </a:extLst>
          </p:cNvPr>
          <p:cNvSpPr>
            <a:spLocks noGrp="1"/>
          </p:cNvSpPr>
          <p:nvPr>
            <p:ph type="sldNum" sz="quarter" idx="5"/>
          </p:nvPr>
        </p:nvSpPr>
        <p:spPr/>
        <p:txBody>
          <a:bodyPr/>
          <a:lstStyle/>
          <a:p>
            <a:fld id="{CB092E27-0BA6-464B-8F92-818B943024AB}" type="slidenum">
              <a:rPr kumimoji="1" lang="zh-CN" altLang="en-US" smtClean="0"/>
              <a:t>10</a:t>
            </a:fld>
            <a:endParaRPr kumimoji="1" lang="zh-CN" altLang="en-US"/>
          </a:p>
        </p:txBody>
      </p:sp>
    </p:spTree>
    <p:extLst>
      <p:ext uri="{BB962C8B-B14F-4D97-AF65-F5344CB8AC3E}">
        <p14:creationId xmlns:p14="http://schemas.microsoft.com/office/powerpoint/2010/main" val="4241743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47F5C-0803-4A63-1A9B-130AD99391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9700C0-A728-0872-CD60-936DC46B274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C99EEC-A953-C451-3A9E-CF3EF34FCABA}"/>
              </a:ext>
            </a:extLst>
          </p:cNvPr>
          <p:cNvSpPr>
            <a:spLocks noGrp="1"/>
          </p:cNvSpPr>
          <p:nvPr>
            <p:ph type="body" idx="1"/>
          </p:nvPr>
        </p:nvSpPr>
        <p:spPr/>
        <p:txBody>
          <a:bodyPr/>
          <a:lstStyle/>
          <a:p>
            <a:endParaRPr kumimoji="1" lang="en-US" altLang="zh-CN" sz="1600" dirty="0"/>
          </a:p>
          <a:p>
            <a:endParaRPr kumimoji="1" lang="zh-CN" altLang="en-US" sz="1600" dirty="0"/>
          </a:p>
        </p:txBody>
      </p:sp>
      <p:sp>
        <p:nvSpPr>
          <p:cNvPr id="4" name="灯片编号占位符 3">
            <a:extLst>
              <a:ext uri="{FF2B5EF4-FFF2-40B4-BE49-F238E27FC236}">
                <a16:creationId xmlns:a16="http://schemas.microsoft.com/office/drawing/2014/main" id="{4D430F63-1E9C-9A65-7B13-E0296462776D}"/>
              </a:ext>
            </a:extLst>
          </p:cNvPr>
          <p:cNvSpPr>
            <a:spLocks noGrp="1"/>
          </p:cNvSpPr>
          <p:nvPr>
            <p:ph type="sldNum" sz="quarter" idx="5"/>
          </p:nvPr>
        </p:nvSpPr>
        <p:spPr/>
        <p:txBody>
          <a:bodyPr/>
          <a:lstStyle/>
          <a:p>
            <a:fld id="{CB092E27-0BA6-464B-8F92-818B943024AB}" type="slidenum">
              <a:rPr kumimoji="1" lang="zh-CN" altLang="en-US" smtClean="0"/>
              <a:t>11</a:t>
            </a:fld>
            <a:endParaRPr kumimoji="1" lang="zh-CN" altLang="en-US"/>
          </a:p>
        </p:txBody>
      </p:sp>
    </p:spTree>
    <p:extLst>
      <p:ext uri="{BB962C8B-B14F-4D97-AF65-F5344CB8AC3E}">
        <p14:creationId xmlns:p14="http://schemas.microsoft.com/office/powerpoint/2010/main" val="13381953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CDA73-D6C0-E529-A847-01C7C2D082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606229-1670-A440-E764-59F7988A9A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4B2232-FF69-C242-BF2C-56C8C007990F}"/>
              </a:ext>
            </a:extLst>
          </p:cNvPr>
          <p:cNvSpPr>
            <a:spLocks noGrp="1"/>
          </p:cNvSpPr>
          <p:nvPr>
            <p:ph type="body" idx="1"/>
          </p:nvPr>
        </p:nvSpPr>
        <p:spPr/>
        <p:txBody>
          <a:bodyPr/>
          <a:lstStyle/>
          <a:p>
            <a:endParaRPr kumimoji="1" lang="zh-CN" altLang="en-US" sz="1600" dirty="0"/>
          </a:p>
        </p:txBody>
      </p:sp>
      <p:sp>
        <p:nvSpPr>
          <p:cNvPr id="4" name="灯片编号占位符 3">
            <a:extLst>
              <a:ext uri="{FF2B5EF4-FFF2-40B4-BE49-F238E27FC236}">
                <a16:creationId xmlns:a16="http://schemas.microsoft.com/office/drawing/2014/main" id="{DDBA1006-98D5-2301-1BD8-A33AEC74BD46}"/>
              </a:ext>
            </a:extLst>
          </p:cNvPr>
          <p:cNvSpPr>
            <a:spLocks noGrp="1"/>
          </p:cNvSpPr>
          <p:nvPr>
            <p:ph type="sldNum" sz="quarter" idx="5"/>
          </p:nvPr>
        </p:nvSpPr>
        <p:spPr/>
        <p:txBody>
          <a:bodyPr/>
          <a:lstStyle/>
          <a:p>
            <a:fld id="{CB092E27-0BA6-464B-8F92-818B943024AB}" type="slidenum">
              <a:rPr kumimoji="1" lang="zh-CN" altLang="en-US" smtClean="0"/>
              <a:t>12</a:t>
            </a:fld>
            <a:endParaRPr kumimoji="1" lang="zh-CN" altLang="en-US"/>
          </a:p>
        </p:txBody>
      </p:sp>
    </p:spTree>
    <p:extLst>
      <p:ext uri="{BB962C8B-B14F-4D97-AF65-F5344CB8AC3E}">
        <p14:creationId xmlns:p14="http://schemas.microsoft.com/office/powerpoint/2010/main" val="3026926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9CAC4-5603-9540-4746-DF7D478F111C}"/>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EB3E1C22-AA04-379D-70C6-A670FBE5C3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442DF2C8-367E-2D45-DF75-FE56AEE427B5}"/>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96EAD1C0-22F7-2B75-E5B6-416C33DEB9B7}"/>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00D5D4F-5543-EF94-7D9E-26E2EB42014E}"/>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545889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683152-C981-6237-7465-0F9D4C52A92C}"/>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2E0A163B-9301-5E7F-A6C9-6D50534B07CE}"/>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7EFE64-6FB4-1927-0FA3-40A1ED4055FA}"/>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B2C80ED6-E235-BE41-6C84-57A9517261C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1D644E8-37BB-F946-0182-7EFE141D75BF}"/>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18791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850F04-C3CD-2F64-01B3-3226F98B90C2}"/>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CD1D39D8-BB09-E9E1-AE46-BD0402C3C7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5B97D90E-E49A-C653-33E4-3399376B1FD5}"/>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82CBD9D7-4579-F439-2979-C756072B3C2E}"/>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217746B-C90D-95F8-97AA-3FFEA76812E3}"/>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3070414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304D9-3BF5-05E6-96B1-4655A1D5D0BD}"/>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2D08483-110C-D43D-A3FD-2BB20209E417}"/>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A4C839D-DA8C-28CB-E5BA-B4723E5B08B8}"/>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DFE45B9-76B7-AB04-8094-C8CE369E1FC5}"/>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6" name="页脚占位符 5">
            <a:extLst>
              <a:ext uri="{FF2B5EF4-FFF2-40B4-BE49-F238E27FC236}">
                <a16:creationId xmlns:a16="http://schemas.microsoft.com/office/drawing/2014/main" id="{D4AE34B5-B673-FBFE-4EFF-91DAE128E810}"/>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FF9DB086-FF5A-FE0C-D4BB-2ED5948A4B9D}"/>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5940464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483DD5-6BE7-B60B-3830-1C91637238F3}"/>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58B3FFE-61EA-239B-F19E-01B3295484B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309DF50-77E9-6A8A-B7FD-52C3A0A2AA2E}"/>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50CBEA94-5C16-949F-958E-F32A629BA2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1E3CCEDE-D71C-351E-8E59-1DC6C8EEE59F}"/>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6AD051A4-8FC0-4958-27ED-3FD5D613C09D}"/>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8" name="页脚占位符 7">
            <a:extLst>
              <a:ext uri="{FF2B5EF4-FFF2-40B4-BE49-F238E27FC236}">
                <a16:creationId xmlns:a16="http://schemas.microsoft.com/office/drawing/2014/main" id="{8CB8DCF7-45C3-EA2A-1701-202A609F6A3A}"/>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94C826FD-6CBB-9310-BCE6-0AFD91F0D78C}"/>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294661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17DEE7-0D18-A3AB-6312-227BEE98C67E}"/>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8787988-EB72-BBF2-97A0-18FCAEDE436C}"/>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4" name="页脚占位符 3">
            <a:extLst>
              <a:ext uri="{FF2B5EF4-FFF2-40B4-BE49-F238E27FC236}">
                <a16:creationId xmlns:a16="http://schemas.microsoft.com/office/drawing/2014/main" id="{F71DEEEE-9CED-3233-301C-D61D4952DE6A}"/>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D1FAB2A8-6D82-8150-1ACA-546DA505F5D0}"/>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395394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5F89BB-2D98-C933-488B-E600CB0651F0}"/>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3" name="页脚占位符 2">
            <a:extLst>
              <a:ext uri="{FF2B5EF4-FFF2-40B4-BE49-F238E27FC236}">
                <a16:creationId xmlns:a16="http://schemas.microsoft.com/office/drawing/2014/main" id="{427A268E-C4F6-B77D-1351-5DE83C0A386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0EF8E4A0-1ACD-7A8E-7C68-98F88D65DBE2}"/>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4831849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FC987B-49C3-BFCA-7CA6-9ADDA1558D3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10330DC1-52A9-D64F-9566-03B17EB210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B77648F5-B097-B233-8517-D224C24051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DE39B80-C04B-2C82-D564-BE82DA1191AE}"/>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6" name="页脚占位符 5">
            <a:extLst>
              <a:ext uri="{FF2B5EF4-FFF2-40B4-BE49-F238E27FC236}">
                <a16:creationId xmlns:a16="http://schemas.microsoft.com/office/drawing/2014/main" id="{DAE4910C-3003-45C9-57B8-FCF2A71F597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572AEE-EF5E-7D71-EEBA-B8379AA66BFA}"/>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51915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1A6230-C7A5-86BA-5615-904D96A6BC1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8371D64-943D-9794-C679-047246E73E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44449E2F-39C8-500F-46E0-0C78B0397F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63EA0B88-6CC1-DD08-915A-A518D5E2FECC}"/>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6" name="页脚占位符 5">
            <a:extLst>
              <a:ext uri="{FF2B5EF4-FFF2-40B4-BE49-F238E27FC236}">
                <a16:creationId xmlns:a16="http://schemas.microsoft.com/office/drawing/2014/main" id="{E51EC198-B676-0D20-89AE-543DC4633739}"/>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BC72265-ADC9-100E-D5B9-3493AC71CEB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665346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269B29-53BC-8508-9E8C-83082E837C41}"/>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6C1E39E-2C6E-E37C-2D42-EA3A825182CF}"/>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B32F3AD-94BB-4CB2-C858-7F07E36DE0C5}"/>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45B73678-DBC5-35FE-7720-4954170E715B}"/>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C3E6E86-AEF4-9E51-11FF-DBEEDF93F677}"/>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10931627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13943D8-D242-3E2F-C24F-4E005E76AE4E}"/>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F629DC73-6886-F0DB-9DA5-9ED96CE8253F}"/>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522B799C-9E0E-429F-C629-2A18626668DB}"/>
              </a:ext>
            </a:extLst>
          </p:cNvPr>
          <p:cNvSpPr>
            <a:spLocks noGrp="1"/>
          </p:cNvSpPr>
          <p:nvPr>
            <p:ph type="dt" sz="half" idx="10"/>
          </p:nvPr>
        </p:nvSpPr>
        <p:spPr/>
        <p:txBody>
          <a:body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8794BFC4-5811-57DC-FF5C-4868DB2AC9C3}"/>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324A7796-940B-415F-C832-E381105EE3EB}"/>
              </a:ext>
            </a:extLst>
          </p:cNvPr>
          <p:cNvSpPr>
            <a:spLocks noGrp="1"/>
          </p:cNvSpPr>
          <p:nvPr>
            <p:ph type="sldNum" sz="quarter" idx="12"/>
          </p:nvPr>
        </p:nvSpPr>
        <p:spPr/>
        <p:txBody>
          <a:body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2449128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0E35921-9950-2FB0-6355-6B06F016DC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DD1B157-D31D-54B9-7D6A-F6D4AD6AC9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833F31D3-1A38-6B87-4306-66D57169E8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2FA171-DF96-1B41-A089-FAB6FE9A340F}" type="datetimeFigureOut">
              <a:rPr kumimoji="1" lang="zh-CN" altLang="en-US" smtClean="0"/>
              <a:t>2025/11/19</a:t>
            </a:fld>
            <a:endParaRPr kumimoji="1" lang="zh-CN" altLang="en-US"/>
          </a:p>
        </p:txBody>
      </p:sp>
      <p:sp>
        <p:nvSpPr>
          <p:cNvPr id="5" name="页脚占位符 4">
            <a:extLst>
              <a:ext uri="{FF2B5EF4-FFF2-40B4-BE49-F238E27FC236}">
                <a16:creationId xmlns:a16="http://schemas.microsoft.com/office/drawing/2014/main" id="{FBC11102-B856-C277-A8F6-8D6AF8F933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9D88C62-D975-E146-FD0A-E318C540526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D1F6A94-DD61-3B4A-BCA2-E2F8F1493E8F}" type="slidenum">
              <a:rPr kumimoji="1" lang="zh-CN" altLang="en-US" smtClean="0"/>
              <a:t>‹#›</a:t>
            </a:fld>
            <a:endParaRPr kumimoji="1" lang="zh-CN" altLang="en-US"/>
          </a:p>
        </p:txBody>
      </p:sp>
    </p:spTree>
    <p:extLst>
      <p:ext uri="{BB962C8B-B14F-4D97-AF65-F5344CB8AC3E}">
        <p14:creationId xmlns:p14="http://schemas.microsoft.com/office/powerpoint/2010/main" val="3232235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8E6EF4-2BC6-E096-750F-ECCBB9D42F48}"/>
              </a:ext>
            </a:extLst>
          </p:cNvPr>
          <p:cNvSpPr>
            <a:spLocks noGrp="1"/>
          </p:cNvSpPr>
          <p:nvPr>
            <p:ph type="ctrTitle"/>
          </p:nvPr>
        </p:nvSpPr>
        <p:spPr>
          <a:xfrm>
            <a:off x="1373606" y="446691"/>
            <a:ext cx="9444788" cy="1967648"/>
          </a:xfrm>
        </p:spPr>
        <p:txBody>
          <a:bodyPr>
            <a:normAutofit/>
          </a:bodyPr>
          <a:lstStyle/>
          <a:p>
            <a:pPr>
              <a:lnSpc>
                <a:spcPct val="100000"/>
              </a:lnSpc>
            </a:pPr>
            <a:r>
              <a:rPr kumimoji="1" lang="en-US" altLang="zh-CN" sz="5000" b="1" dirty="0">
                <a:latin typeface="Century Gothic" panose="020B0502020202020204" pitchFamily="34" charset="0"/>
              </a:rPr>
              <a:t>15. Campaigns &amp; Elections</a:t>
            </a:r>
            <a:r>
              <a:rPr kumimoji="1" lang="zh-CN" altLang="en-US" sz="5000" b="1" dirty="0">
                <a:latin typeface="Century Gothic" panose="020B0502020202020204" pitchFamily="34" charset="0"/>
              </a:rPr>
              <a:t> </a:t>
            </a:r>
            <a:endParaRPr kumimoji="1" lang="zh-CN" altLang="en-US" sz="5000" dirty="0">
              <a:latin typeface="Century Gothic" panose="020B0502020202020204" pitchFamily="34" charset="0"/>
            </a:endParaRPr>
          </a:p>
        </p:txBody>
      </p:sp>
      <p:sp>
        <p:nvSpPr>
          <p:cNvPr id="3" name="副标题 2">
            <a:extLst>
              <a:ext uri="{FF2B5EF4-FFF2-40B4-BE49-F238E27FC236}">
                <a16:creationId xmlns:a16="http://schemas.microsoft.com/office/drawing/2014/main" id="{BD47D000-FF03-80F2-FC6B-25D1B58BDF12}"/>
              </a:ext>
            </a:extLst>
          </p:cNvPr>
          <p:cNvSpPr>
            <a:spLocks noGrp="1"/>
          </p:cNvSpPr>
          <p:nvPr>
            <p:ph type="subTitle" idx="1"/>
          </p:nvPr>
        </p:nvSpPr>
        <p:spPr>
          <a:xfrm>
            <a:off x="1524000" y="3428998"/>
            <a:ext cx="9144000" cy="2982311"/>
          </a:xfrm>
        </p:spPr>
        <p:txBody>
          <a:bodyPr>
            <a:normAutofit lnSpcReduction="10000"/>
          </a:bodyPr>
          <a:lstStyle/>
          <a:p>
            <a:r>
              <a:rPr kumimoji="1" lang="en-US" altLang="zh-CN" b="1" dirty="0">
                <a:latin typeface="Century Gothic" panose="020B0502020202020204" pitchFamily="34" charset="0"/>
              </a:rPr>
              <a:t>Breakout Sessions</a:t>
            </a:r>
          </a:p>
          <a:p>
            <a:r>
              <a:rPr kumimoji="1" lang="en-US" altLang="zh-CN" b="1" dirty="0">
                <a:latin typeface="Century Gothic" panose="020B0502020202020204" pitchFamily="34" charset="0"/>
              </a:rPr>
              <a:t>POLS 1101</a:t>
            </a:r>
          </a:p>
          <a:p>
            <a:r>
              <a:rPr kumimoji="1" lang="en-US" altLang="zh-CN" b="1" dirty="0">
                <a:latin typeface="Century Gothic" panose="020B0502020202020204" pitchFamily="34" charset="0"/>
              </a:rPr>
              <a:t>12:40pm-1:30pm</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Park</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Hall</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145</a:t>
            </a:r>
            <a:r>
              <a:rPr kumimoji="1" lang="zh-CN" altLang="en-US" b="1" dirty="0">
                <a:latin typeface="Century Gothic" panose="020B0502020202020204" pitchFamily="34" charset="0"/>
              </a:rPr>
              <a:t> </a:t>
            </a:r>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&amp;</a:t>
            </a:r>
            <a:r>
              <a:rPr kumimoji="1" lang="zh-CN" altLang="en-US" b="1" dirty="0">
                <a:latin typeface="Century Gothic" panose="020B0502020202020204" pitchFamily="34" charset="0"/>
              </a:rPr>
              <a:t> </a:t>
            </a:r>
            <a:r>
              <a:rPr kumimoji="1" lang="en-US" altLang="zh-CN" b="1" dirty="0">
                <a:latin typeface="Century Gothic" panose="020B0502020202020204" pitchFamily="34" charset="0"/>
              </a:rPr>
              <a:t>1:50pm-2:40pm Leconte Hall 135</a:t>
            </a:r>
          </a:p>
          <a:p>
            <a:endParaRPr kumimoji="1" lang="en-US" altLang="zh-CN" b="1" dirty="0">
              <a:latin typeface="Century Gothic" panose="020B0502020202020204" pitchFamily="34" charset="0"/>
            </a:endParaRPr>
          </a:p>
          <a:p>
            <a:r>
              <a:rPr kumimoji="1" lang="en-US" altLang="zh-CN" b="1" dirty="0">
                <a:latin typeface="Century Gothic" panose="020B0502020202020204" pitchFamily="34" charset="0"/>
              </a:rPr>
              <a:t>SIYUAN (Siri) ZHAO</a:t>
            </a:r>
          </a:p>
          <a:p>
            <a:r>
              <a:rPr kumimoji="1" lang="en-US" altLang="zh-CN" b="1" dirty="0" err="1">
                <a:latin typeface="Century Gothic" panose="020B0502020202020204" pitchFamily="34" charset="0"/>
              </a:rPr>
              <a:t>Siri.Zhao@uga.edu</a:t>
            </a:r>
            <a:endParaRPr kumimoji="1" lang="zh-CN" altLang="en-US" b="1" dirty="0">
              <a:latin typeface="Century Gothic" panose="020B0502020202020204" pitchFamily="34" charset="0"/>
            </a:endParaRPr>
          </a:p>
        </p:txBody>
      </p:sp>
    </p:spTree>
    <p:extLst>
      <p:ext uri="{BB962C8B-B14F-4D97-AF65-F5344CB8AC3E}">
        <p14:creationId xmlns:p14="http://schemas.microsoft.com/office/powerpoint/2010/main" val="3396743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778BB4-4865-3E7B-0D4E-C002FE68D6EB}"/>
              </a:ext>
            </a:extLst>
          </p:cNvPr>
          <p:cNvSpPr>
            <a:spLocks noGrp="1"/>
          </p:cNvSpPr>
          <p:nvPr>
            <p:ph type="title"/>
          </p:nvPr>
        </p:nvSpPr>
        <p:spPr>
          <a:xfrm>
            <a:off x="691242" y="0"/>
            <a:ext cx="10515600" cy="1325563"/>
          </a:xfrm>
        </p:spPr>
        <p:txBody>
          <a:bodyPr>
            <a:normAutofit/>
          </a:bodyPr>
          <a:lstStyle/>
          <a:p>
            <a:r>
              <a:rPr kumimoji="1" lang="en-US" altLang="zh-CN" sz="3600" b="1" dirty="0">
                <a:latin typeface="Century Gothic" panose="020B0502020202020204" pitchFamily="34" charset="0"/>
              </a:rPr>
              <a:t>Nomination</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C1E27992-FA10-911D-8961-FB5AE68C2E5D}"/>
              </a:ext>
            </a:extLst>
          </p:cNvPr>
          <p:cNvSpPr>
            <a:spLocks noGrp="1"/>
          </p:cNvSpPr>
          <p:nvPr>
            <p:ph idx="1"/>
          </p:nvPr>
        </p:nvSpPr>
        <p:spPr>
          <a:xfrm>
            <a:off x="691242" y="1108620"/>
            <a:ext cx="10902043" cy="5134902"/>
          </a:xfrm>
        </p:spPr>
        <p:txBody>
          <a:bodyPr>
            <a:normAutofit/>
          </a:bodyPr>
          <a:lstStyle/>
          <a:p>
            <a:pPr>
              <a:lnSpc>
                <a:spcPct val="100000"/>
              </a:lnSpc>
            </a:pPr>
            <a:r>
              <a:rPr lang="en-US" altLang="zh-CN" sz="2200" dirty="0">
                <a:latin typeface="Century Gothic" panose="020B0502020202020204" pitchFamily="34" charset="0"/>
              </a:rPr>
              <a:t>Nomination mostly happens </a:t>
            </a:r>
            <a:r>
              <a:rPr lang="en-US" altLang="zh-CN" sz="2200" i="1" dirty="0">
                <a:latin typeface="Century Gothic" panose="020B0502020202020204" pitchFamily="34" charset="0"/>
              </a:rPr>
              <a:t>within</a:t>
            </a:r>
            <a:r>
              <a:rPr lang="en-US" altLang="zh-CN" sz="2200" dirty="0">
                <a:latin typeface="Century Gothic" panose="020B0502020202020204" pitchFamily="34" charset="0"/>
              </a:rPr>
              <a:t> the party (not given by party leaders).</a:t>
            </a:r>
          </a:p>
          <a:p>
            <a:pPr>
              <a:lnSpc>
                <a:spcPct val="100000"/>
              </a:lnSpc>
            </a:pPr>
            <a:r>
              <a:rPr lang="en-US" altLang="zh-CN" sz="2200" b="1" dirty="0">
                <a:latin typeface="Century Gothic" panose="020B0502020202020204" pitchFamily="34" charset="0"/>
              </a:rPr>
              <a:t>Nomination for Congress and state</a:t>
            </a:r>
            <a:r>
              <a:rPr lang="zh-CN" altLang="en-US" sz="2200" b="1" dirty="0">
                <a:latin typeface="Century Gothic" panose="020B0502020202020204" pitchFamily="34" charset="0"/>
              </a:rPr>
              <a:t> </a:t>
            </a:r>
            <a:r>
              <a:rPr lang="en-US" altLang="zh-CN" sz="2200" b="1" dirty="0">
                <a:latin typeface="Century Gothic" panose="020B0502020202020204" pitchFamily="34" charset="0"/>
              </a:rPr>
              <a:t>offices</a:t>
            </a:r>
          </a:p>
          <a:p>
            <a:pPr lvl="1">
              <a:lnSpc>
                <a:spcPct val="100000"/>
              </a:lnSpc>
            </a:pPr>
            <a:r>
              <a:rPr lang="en-US" altLang="zh-CN" sz="2000" dirty="0">
                <a:latin typeface="Century Gothic" panose="020B0502020202020204" pitchFamily="34" charset="0"/>
              </a:rPr>
              <a:t>Primary election – highly decentralized; competition tends to decline.</a:t>
            </a:r>
          </a:p>
          <a:p>
            <a:pPr lvl="2">
              <a:lnSpc>
                <a:spcPct val="100000"/>
              </a:lnSpc>
            </a:pPr>
            <a:r>
              <a:rPr lang="en-US" altLang="zh-CN" sz="1800" dirty="0">
                <a:latin typeface="Century Gothic" panose="020B0502020202020204" pitchFamily="34" charset="0"/>
              </a:rPr>
              <a:t>Closed primaries: voters must declare a party affiliation before voting the nominees</a:t>
            </a:r>
          </a:p>
          <a:p>
            <a:pPr lvl="2">
              <a:lnSpc>
                <a:spcPct val="100000"/>
              </a:lnSpc>
            </a:pPr>
            <a:r>
              <a:rPr lang="en-US" altLang="zh-CN" sz="1800" dirty="0">
                <a:latin typeface="Century Gothic" panose="020B0502020202020204" pitchFamily="34" charset="0"/>
              </a:rPr>
              <a:t>Open primaries: voters needn’t declare a party affiliation</a:t>
            </a:r>
          </a:p>
          <a:p>
            <a:pPr lvl="2">
              <a:lnSpc>
                <a:spcPct val="100000"/>
              </a:lnSpc>
            </a:pPr>
            <a:r>
              <a:rPr lang="en-US" altLang="zh-CN" sz="1800" dirty="0">
                <a:latin typeface="Century Gothic" panose="020B0502020202020204" pitchFamily="34" charset="0"/>
              </a:rPr>
              <a:t>Modified closed primaries: allowing individual state parties to decide who can vote</a:t>
            </a:r>
          </a:p>
          <a:p>
            <a:pPr lvl="2">
              <a:lnSpc>
                <a:spcPct val="100000"/>
              </a:lnSpc>
            </a:pPr>
            <a:r>
              <a:rPr lang="en-US" altLang="zh-CN" sz="1800" dirty="0">
                <a:latin typeface="Century Gothic" panose="020B0502020202020204" pitchFamily="34" charset="0"/>
              </a:rPr>
              <a:t>Modified open primaries: entitling independents to vote in a party’s primary</a:t>
            </a:r>
          </a:p>
          <a:p>
            <a:pPr lvl="1">
              <a:lnSpc>
                <a:spcPct val="100000"/>
              </a:lnSpc>
            </a:pPr>
            <a:r>
              <a:rPr lang="en-US" altLang="zh-CN" sz="2000" dirty="0">
                <a:latin typeface="Century Gothic" panose="020B0502020202020204" pitchFamily="34" charset="0"/>
              </a:rPr>
              <a:t>Placing the nomination of party candidates in the hands of voters (even not party members) contributes to </a:t>
            </a:r>
            <a:r>
              <a:rPr lang="en-US" altLang="zh-CN" sz="2000" b="1" dirty="0">
                <a:latin typeface="Century Gothic" panose="020B0502020202020204" pitchFamily="34" charset="0"/>
              </a:rPr>
              <a:t>the pluralist democracy</a:t>
            </a:r>
            <a:r>
              <a:rPr lang="en-US" altLang="zh-CN" sz="2000" dirty="0">
                <a:latin typeface="Century Gothic" panose="020B0502020202020204" pitchFamily="34" charset="0"/>
              </a:rPr>
              <a:t>.</a:t>
            </a:r>
          </a:p>
          <a:p>
            <a:pPr lvl="2">
              <a:lnSpc>
                <a:spcPct val="100000"/>
              </a:lnSpc>
            </a:pPr>
            <a:r>
              <a:rPr lang="en-US" altLang="zh-CN" sz="1800" dirty="0">
                <a:latin typeface="Century Gothic" panose="020B0502020202020204" pitchFamily="34" charset="0"/>
              </a:rPr>
              <a:t>However, </a:t>
            </a:r>
            <a:r>
              <a:rPr lang="en-US" altLang="zh-CN" sz="1800" b="1" dirty="0">
                <a:solidFill>
                  <a:srgbClr val="FF0000"/>
                </a:solidFill>
                <a:latin typeface="Century Gothic" panose="020B0502020202020204" pitchFamily="34" charset="0"/>
              </a:rPr>
              <a:t>why hasn’t decentralization brought about more competition?</a:t>
            </a:r>
            <a:endParaRPr lang="en-US" altLang="zh-CN" sz="1800"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graphicFrame>
        <p:nvGraphicFramePr>
          <p:cNvPr id="4" name="表格 3">
            <a:extLst>
              <a:ext uri="{FF2B5EF4-FFF2-40B4-BE49-F238E27FC236}">
                <a16:creationId xmlns:a16="http://schemas.microsoft.com/office/drawing/2014/main" id="{448392B9-27A9-EB81-70EE-49143E1EAF8C}"/>
              </a:ext>
            </a:extLst>
          </p:cNvPr>
          <p:cNvGraphicFramePr>
            <a:graphicFrameLocks noGrp="1"/>
          </p:cNvGraphicFramePr>
          <p:nvPr>
            <p:extLst>
              <p:ext uri="{D42A27DB-BD31-4B8C-83A1-F6EECF244321}">
                <p14:modId xmlns:p14="http://schemas.microsoft.com/office/powerpoint/2010/main" val="334074035"/>
              </p:ext>
            </p:extLst>
          </p:nvPr>
        </p:nvGraphicFramePr>
        <p:xfrm>
          <a:off x="960223" y="4793155"/>
          <a:ext cx="10810019" cy="2011680"/>
        </p:xfrm>
        <a:graphic>
          <a:graphicData uri="http://schemas.openxmlformats.org/drawingml/2006/table">
            <a:tbl>
              <a:tblPr/>
              <a:tblGrid>
                <a:gridCol w="3505200">
                  <a:extLst>
                    <a:ext uri="{9D8B030D-6E8A-4147-A177-3AD203B41FA5}">
                      <a16:colId xmlns:a16="http://schemas.microsoft.com/office/drawing/2014/main" val="2259515562"/>
                    </a:ext>
                  </a:extLst>
                </a:gridCol>
                <a:gridCol w="3505200">
                  <a:extLst>
                    <a:ext uri="{9D8B030D-6E8A-4147-A177-3AD203B41FA5}">
                      <a16:colId xmlns:a16="http://schemas.microsoft.com/office/drawing/2014/main" val="443268106"/>
                    </a:ext>
                  </a:extLst>
                </a:gridCol>
                <a:gridCol w="3799619">
                  <a:extLst>
                    <a:ext uri="{9D8B030D-6E8A-4147-A177-3AD203B41FA5}">
                      <a16:colId xmlns:a16="http://schemas.microsoft.com/office/drawing/2014/main" val="4052060243"/>
                    </a:ext>
                  </a:extLst>
                </a:gridCol>
              </a:tblGrid>
              <a:tr h="0">
                <a:tc>
                  <a:txBody>
                    <a:bodyPr/>
                    <a:lstStyle/>
                    <a:p>
                      <a:pPr>
                        <a:buNone/>
                      </a:pPr>
                      <a:r>
                        <a:rPr lang="en-US" sz="1600" b="1" dirty="0">
                          <a:latin typeface="Constantia" panose="02030602050306030303" pitchFamily="18" charset="0"/>
                        </a:rPr>
                        <a:t>Characteristics</a:t>
                      </a:r>
                      <a:endParaRPr lang="en-US" sz="1600" dirty="0">
                        <a:latin typeface="Constantia" panose="02030602050306030303" pitchFamily="18"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Constantia" panose="02030602050306030303" pitchFamily="18" charset="0"/>
                        </a:rPr>
                        <a:t>Open Primary (State A)</a:t>
                      </a:r>
                      <a:endParaRPr lang="en-US" sz="1600" dirty="0">
                        <a:latin typeface="Constantia" panose="02030602050306030303" pitchFamily="18"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Constantia" panose="02030602050306030303" pitchFamily="18" charset="0"/>
                        </a:rPr>
                        <a:t>Closed Primary (State B)</a:t>
                      </a:r>
                      <a:endParaRPr lang="en-US" sz="1600" dirty="0">
                        <a:latin typeface="Constantia" panose="02030602050306030303" pitchFamily="18" charset="0"/>
                      </a:endParaRP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0033642"/>
                  </a:ext>
                </a:extLst>
              </a:tr>
              <a:tr h="0">
                <a:tc>
                  <a:txBody>
                    <a:bodyPr/>
                    <a:lstStyle/>
                    <a:p>
                      <a:pPr>
                        <a:buNone/>
                      </a:pPr>
                      <a:r>
                        <a:rPr lang="en-US" sz="1600" b="1">
                          <a:latin typeface="Constantia" panose="02030602050306030303" pitchFamily="18" charset="0"/>
                        </a:rPr>
                        <a:t>Voter Eligibility</a:t>
                      </a:r>
                      <a:endParaRPr lang="en-US" sz="1600">
                        <a:latin typeface="Constantia" panose="02030602050306030303" pitchFamily="18" charset="0"/>
                      </a:endParaRP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600">
                          <a:latin typeface="Constantia" panose="02030602050306030303" pitchFamily="18" charset="0"/>
                        </a:rPr>
                        <a:t>Any registered voter can participate</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600" dirty="0">
                          <a:latin typeface="Constantia" panose="02030602050306030303" pitchFamily="18" charset="0"/>
                        </a:rPr>
                        <a:t>Only registered party members can vote</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346399500"/>
                  </a:ext>
                </a:extLst>
              </a:tr>
              <a:tr h="0">
                <a:tc>
                  <a:txBody>
                    <a:bodyPr/>
                    <a:lstStyle/>
                    <a:p>
                      <a:pPr>
                        <a:buNone/>
                      </a:pPr>
                      <a:r>
                        <a:rPr lang="en-US" sz="1600" b="1">
                          <a:latin typeface="Constantia" panose="02030602050306030303" pitchFamily="18" charset="0"/>
                        </a:rPr>
                        <a:t>Role of National Party</a:t>
                      </a:r>
                      <a:endParaRPr lang="en-US" sz="1600">
                        <a:latin typeface="Constantia" panose="02030602050306030303" pitchFamily="18" charset="0"/>
                      </a:endParaRPr>
                    </a:p>
                  </a:txBody>
                  <a:tcPr anchor="ctr">
                    <a:lnL>
                      <a:noFill/>
                    </a:lnL>
                    <a:lnR>
                      <a:noFill/>
                    </a:lnR>
                    <a:lnT>
                      <a:noFill/>
                    </a:lnT>
                    <a:lnB>
                      <a:noFill/>
                    </a:lnB>
                    <a:noFill/>
                  </a:tcPr>
                </a:tc>
                <a:tc>
                  <a:txBody>
                    <a:bodyPr/>
                    <a:lstStyle/>
                    <a:p>
                      <a:pPr>
                        <a:buNone/>
                      </a:pPr>
                      <a:r>
                        <a:rPr lang="en-US" sz="1600">
                          <a:latin typeface="Constantia" panose="02030602050306030303" pitchFamily="18" charset="0"/>
                        </a:rPr>
                        <a:t>Weak</a:t>
                      </a:r>
                    </a:p>
                  </a:txBody>
                  <a:tcPr anchor="ctr">
                    <a:lnL>
                      <a:noFill/>
                    </a:lnL>
                    <a:lnR>
                      <a:noFill/>
                    </a:lnR>
                    <a:lnT>
                      <a:noFill/>
                    </a:lnT>
                    <a:lnB>
                      <a:noFill/>
                    </a:lnB>
                    <a:noFill/>
                  </a:tcPr>
                </a:tc>
                <a:tc>
                  <a:txBody>
                    <a:bodyPr/>
                    <a:lstStyle/>
                    <a:p>
                      <a:pPr>
                        <a:buNone/>
                      </a:pPr>
                      <a:r>
                        <a:rPr lang="en-US" sz="1600" dirty="0">
                          <a:latin typeface="Constantia" panose="02030602050306030303" pitchFamily="18" charset="0"/>
                        </a:rPr>
                        <a:t>Strong</a:t>
                      </a:r>
                    </a:p>
                  </a:txBody>
                  <a:tcPr anchor="ctr">
                    <a:lnL>
                      <a:noFill/>
                    </a:lnL>
                    <a:lnR>
                      <a:noFill/>
                    </a:lnR>
                    <a:lnT>
                      <a:noFill/>
                    </a:lnT>
                    <a:lnB>
                      <a:noFill/>
                    </a:lnB>
                    <a:noFill/>
                  </a:tcPr>
                </a:tc>
                <a:extLst>
                  <a:ext uri="{0D108BD9-81ED-4DB2-BD59-A6C34878D82A}">
                    <a16:rowId xmlns:a16="http://schemas.microsoft.com/office/drawing/2014/main" val="3051506352"/>
                  </a:ext>
                </a:extLst>
              </a:tr>
              <a:tr h="0">
                <a:tc>
                  <a:txBody>
                    <a:bodyPr/>
                    <a:lstStyle/>
                    <a:p>
                      <a:pPr>
                        <a:buNone/>
                      </a:pPr>
                      <a:r>
                        <a:rPr lang="en-US" sz="1600" b="1">
                          <a:latin typeface="Constantia" panose="02030602050306030303" pitchFamily="18" charset="0"/>
                        </a:rPr>
                        <a:t>Opportunity for New Candidates</a:t>
                      </a:r>
                      <a:endParaRPr lang="en-US" sz="1600">
                        <a:latin typeface="Constantia" panose="02030602050306030303" pitchFamily="18" charset="0"/>
                      </a:endParaRPr>
                    </a:p>
                  </a:txBody>
                  <a:tcPr anchor="ctr">
                    <a:lnL>
                      <a:noFill/>
                    </a:lnL>
                    <a:lnR>
                      <a:noFill/>
                    </a:lnR>
                    <a:lnT>
                      <a:noFill/>
                    </a:lnT>
                    <a:lnB>
                      <a:noFill/>
                    </a:lnB>
                    <a:noFill/>
                  </a:tcPr>
                </a:tc>
                <a:tc>
                  <a:txBody>
                    <a:bodyPr/>
                    <a:lstStyle/>
                    <a:p>
                      <a:pPr>
                        <a:buNone/>
                      </a:pPr>
                      <a:r>
                        <a:rPr lang="en-US" sz="1600">
                          <a:latin typeface="Constantia" panose="02030602050306030303" pitchFamily="18" charset="0"/>
                        </a:rPr>
                        <a:t>High</a:t>
                      </a:r>
                    </a:p>
                  </a:txBody>
                  <a:tcPr anchor="ctr">
                    <a:lnL>
                      <a:noFill/>
                    </a:lnL>
                    <a:lnR>
                      <a:noFill/>
                    </a:lnR>
                    <a:lnT>
                      <a:noFill/>
                    </a:lnT>
                    <a:lnB>
                      <a:noFill/>
                    </a:lnB>
                    <a:noFill/>
                  </a:tcPr>
                </a:tc>
                <a:tc>
                  <a:txBody>
                    <a:bodyPr/>
                    <a:lstStyle/>
                    <a:p>
                      <a:pPr>
                        <a:buNone/>
                      </a:pPr>
                      <a:r>
                        <a:rPr lang="en-US" sz="1600">
                          <a:latin typeface="Constantia" panose="02030602050306030303" pitchFamily="18" charset="0"/>
                        </a:rPr>
                        <a:t>Low</a:t>
                      </a:r>
                    </a:p>
                  </a:txBody>
                  <a:tcPr anchor="ctr">
                    <a:lnL>
                      <a:noFill/>
                    </a:lnL>
                    <a:lnR>
                      <a:noFill/>
                    </a:lnR>
                    <a:lnT>
                      <a:noFill/>
                    </a:lnT>
                    <a:lnB>
                      <a:noFill/>
                    </a:lnB>
                    <a:noFill/>
                  </a:tcPr>
                </a:tc>
                <a:extLst>
                  <a:ext uri="{0D108BD9-81ED-4DB2-BD59-A6C34878D82A}">
                    <a16:rowId xmlns:a16="http://schemas.microsoft.com/office/drawing/2014/main" val="1614938645"/>
                  </a:ext>
                </a:extLst>
              </a:tr>
              <a:tr h="0">
                <a:tc>
                  <a:txBody>
                    <a:bodyPr/>
                    <a:lstStyle/>
                    <a:p>
                      <a:pPr>
                        <a:buNone/>
                      </a:pPr>
                      <a:r>
                        <a:rPr lang="en-US" sz="1600" b="1">
                          <a:latin typeface="Constantia" panose="02030602050306030303" pitchFamily="18" charset="0"/>
                        </a:rPr>
                        <a:t>Party Unity</a:t>
                      </a:r>
                      <a:endParaRPr lang="en-US" sz="1600">
                        <a:latin typeface="Constantia" panose="02030602050306030303" pitchFamily="18" charset="0"/>
                      </a:endParaRPr>
                    </a:p>
                  </a:txBody>
                  <a:tcPr anchor="ctr">
                    <a:lnL>
                      <a:noFill/>
                    </a:lnL>
                    <a:lnR>
                      <a:noFill/>
                    </a:lnR>
                    <a:lnT>
                      <a:noFill/>
                    </a:lnT>
                    <a:lnB>
                      <a:noFill/>
                    </a:lnB>
                    <a:noFill/>
                  </a:tcPr>
                </a:tc>
                <a:tc>
                  <a:txBody>
                    <a:bodyPr/>
                    <a:lstStyle/>
                    <a:p>
                      <a:pPr>
                        <a:buNone/>
                      </a:pPr>
                      <a:r>
                        <a:rPr lang="en-US" sz="1600">
                          <a:latin typeface="Constantia" panose="02030602050306030303" pitchFamily="18" charset="0"/>
                        </a:rPr>
                        <a:t>Low</a:t>
                      </a:r>
                    </a:p>
                  </a:txBody>
                  <a:tcPr anchor="ctr">
                    <a:lnL>
                      <a:noFill/>
                    </a:lnL>
                    <a:lnR>
                      <a:noFill/>
                    </a:lnR>
                    <a:lnT>
                      <a:noFill/>
                    </a:lnT>
                    <a:lnB>
                      <a:noFill/>
                    </a:lnB>
                    <a:noFill/>
                  </a:tcPr>
                </a:tc>
                <a:tc>
                  <a:txBody>
                    <a:bodyPr/>
                    <a:lstStyle/>
                    <a:p>
                      <a:pPr>
                        <a:buNone/>
                      </a:pPr>
                      <a:r>
                        <a:rPr lang="en-US" sz="1600">
                          <a:latin typeface="Constantia" panose="02030602050306030303" pitchFamily="18" charset="0"/>
                        </a:rPr>
                        <a:t>High</a:t>
                      </a:r>
                    </a:p>
                  </a:txBody>
                  <a:tcPr anchor="ctr">
                    <a:lnL>
                      <a:noFill/>
                    </a:lnL>
                    <a:lnR>
                      <a:noFill/>
                    </a:lnR>
                    <a:lnT>
                      <a:noFill/>
                    </a:lnT>
                    <a:lnB>
                      <a:noFill/>
                    </a:lnB>
                    <a:noFill/>
                  </a:tcPr>
                </a:tc>
                <a:extLst>
                  <a:ext uri="{0D108BD9-81ED-4DB2-BD59-A6C34878D82A}">
                    <a16:rowId xmlns:a16="http://schemas.microsoft.com/office/drawing/2014/main" val="1628140490"/>
                  </a:ext>
                </a:extLst>
              </a:tr>
              <a:tr h="0">
                <a:tc>
                  <a:txBody>
                    <a:bodyPr/>
                    <a:lstStyle/>
                    <a:p>
                      <a:pPr>
                        <a:buNone/>
                      </a:pPr>
                      <a:r>
                        <a:rPr lang="en-US" sz="1600" b="1">
                          <a:latin typeface="Constantia" panose="02030602050306030303" pitchFamily="18" charset="0"/>
                        </a:rPr>
                        <a:t>Voter Influence</a:t>
                      </a:r>
                      <a:endParaRPr lang="en-US" sz="1600">
                        <a:latin typeface="Constantia" panose="02030602050306030303" pitchFamily="18" charset="0"/>
                      </a:endParaRP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Constantia" panose="02030602050306030303" pitchFamily="18" charset="0"/>
                        </a:rPr>
                        <a:t>Broad but dispersed</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Constantia" panose="02030602050306030303" pitchFamily="18" charset="0"/>
                        </a:rPr>
                        <a:t>Limited but concentrated</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58772"/>
                  </a:ext>
                </a:extLst>
              </a:tr>
            </a:tbl>
          </a:graphicData>
        </a:graphic>
      </p:graphicFrame>
    </p:spTree>
    <p:extLst>
      <p:ext uri="{BB962C8B-B14F-4D97-AF65-F5344CB8AC3E}">
        <p14:creationId xmlns:p14="http://schemas.microsoft.com/office/powerpoint/2010/main" val="3961837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3DA0C-546F-26C7-2B19-D9DE4F95786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553AF0-87E1-7D78-780A-03CCED20A037}"/>
              </a:ext>
            </a:extLst>
          </p:cNvPr>
          <p:cNvSpPr>
            <a:spLocks noGrp="1"/>
          </p:cNvSpPr>
          <p:nvPr>
            <p:ph type="title"/>
          </p:nvPr>
        </p:nvSpPr>
        <p:spPr>
          <a:xfrm>
            <a:off x="691242" y="0"/>
            <a:ext cx="10515600" cy="1325563"/>
          </a:xfrm>
        </p:spPr>
        <p:txBody>
          <a:bodyPr>
            <a:normAutofit/>
          </a:bodyPr>
          <a:lstStyle/>
          <a:p>
            <a:r>
              <a:rPr kumimoji="1" lang="en-US" altLang="zh-CN" sz="3600" b="1" dirty="0">
                <a:latin typeface="Century Gothic" panose="020B0502020202020204" pitchFamily="34" charset="0"/>
              </a:rPr>
              <a:t>Nomination (cont`d)</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29B13FB0-9B49-9690-4B8A-F8F46A997E95}"/>
              </a:ext>
            </a:extLst>
          </p:cNvPr>
          <p:cNvSpPr>
            <a:spLocks noGrp="1"/>
          </p:cNvSpPr>
          <p:nvPr>
            <p:ph idx="1"/>
          </p:nvPr>
        </p:nvSpPr>
        <p:spPr>
          <a:xfrm>
            <a:off x="691242" y="1225577"/>
            <a:ext cx="11032672" cy="5752739"/>
          </a:xfrm>
        </p:spPr>
        <p:txBody>
          <a:bodyPr>
            <a:normAutofit/>
          </a:bodyPr>
          <a:lstStyle/>
          <a:p>
            <a:pPr>
              <a:lnSpc>
                <a:spcPct val="100000"/>
              </a:lnSpc>
            </a:pPr>
            <a:r>
              <a:rPr lang="en-US" altLang="zh-CN" sz="2200" b="1" dirty="0">
                <a:latin typeface="Century Gothic" panose="020B0502020202020204" pitchFamily="34" charset="0"/>
              </a:rPr>
              <a:t>Nomination for President</a:t>
            </a:r>
          </a:p>
          <a:p>
            <a:pPr lvl="1">
              <a:lnSpc>
                <a:spcPct val="100000"/>
              </a:lnSpc>
            </a:pPr>
            <a:r>
              <a:rPr lang="en-US" altLang="zh-CN" sz="2000" dirty="0">
                <a:latin typeface="Century Gothic" panose="020B0502020202020204" pitchFamily="34" charset="0"/>
              </a:rPr>
              <a:t>After the chaotic 1968 Democratic National Convention — where party leaders chose the nominee (Hubert Humphrey) </a:t>
            </a:r>
            <a:r>
              <a:rPr lang="en-US" altLang="zh-CN" sz="2000" b="1" dirty="0">
                <a:latin typeface="Century Gothic" panose="020B0502020202020204" pitchFamily="34" charset="0"/>
              </a:rPr>
              <a:t>without most primary voters having a say,</a:t>
            </a: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endParaRPr lang="en-US" altLang="zh-CN" sz="2000" b="1" dirty="0">
              <a:latin typeface="Century Gothic" panose="020B0502020202020204" pitchFamily="34" charset="0"/>
            </a:endParaRPr>
          </a:p>
          <a:p>
            <a:pPr lvl="1">
              <a:lnSpc>
                <a:spcPct val="100000"/>
              </a:lnSpc>
            </a:pPr>
            <a:r>
              <a:rPr lang="en-US" altLang="zh-CN" sz="2000" b="1" dirty="0">
                <a:latin typeface="Century Gothic" panose="020B0502020202020204" pitchFamily="34" charset="0"/>
              </a:rPr>
              <a:t>After 1972, the presidential nomination process shifted from party-centered to voter-centered</a:t>
            </a:r>
            <a:r>
              <a:rPr lang="en-US" altLang="zh-CN" sz="2000" dirty="0">
                <a:latin typeface="Century Gothic" panose="020B0502020202020204" pitchFamily="34" charset="0"/>
              </a:rPr>
              <a:t>. </a:t>
            </a:r>
            <a:r>
              <a:rPr lang="en-US" altLang="zh-CN" sz="2000" b="1" dirty="0">
                <a:solidFill>
                  <a:srgbClr val="FF0000"/>
                </a:solidFill>
                <a:latin typeface="Century Gothic" panose="020B0502020202020204" pitchFamily="34" charset="0"/>
              </a:rPr>
              <a:t>Is this a democratic improvement or a loss of institutional stability?</a:t>
            </a:r>
          </a:p>
          <a:p>
            <a:pPr lvl="2">
              <a:lnSpc>
                <a:spcPct val="100000"/>
              </a:lnSpc>
            </a:pPr>
            <a:r>
              <a:rPr lang="en-US" altLang="zh-CN" sz="1800" dirty="0">
                <a:latin typeface="Century Gothic" panose="020B0502020202020204" pitchFamily="34" charset="0"/>
              </a:rPr>
              <a:t>E.g. Consider: </a:t>
            </a:r>
            <a:r>
              <a:rPr lang="en-US" altLang="zh-CN" sz="1800" b="1" dirty="0">
                <a:latin typeface="Century Gothic" panose="020B0502020202020204" pitchFamily="34" charset="0"/>
              </a:rPr>
              <a:t>can party-controlled nominations protect democracy by filtering out extremist candidates? </a:t>
            </a:r>
            <a:r>
              <a:rPr lang="en-US" altLang="zh-CN" sz="1800" dirty="0">
                <a:latin typeface="Century Gothic" panose="020B0502020202020204" pitchFamily="34" charset="0"/>
              </a:rPr>
              <a:t>Do you think it is good, or bad?</a:t>
            </a:r>
          </a:p>
          <a:p>
            <a:pPr lvl="2">
              <a:lnSpc>
                <a:spcPct val="100000"/>
              </a:lnSpc>
            </a:pPr>
            <a:r>
              <a:rPr lang="en-US" altLang="zh-CN" sz="1800" dirty="0">
                <a:latin typeface="Century Gothic" panose="020B0502020202020204" pitchFamily="34" charset="0"/>
              </a:rPr>
              <a:t>By definition it’s a “party nomination”, so who should play a more important role, ordinary party members, or the party convention / caucus?</a:t>
            </a:r>
          </a:p>
        </p:txBody>
      </p:sp>
      <p:graphicFrame>
        <p:nvGraphicFramePr>
          <p:cNvPr id="7" name="表格 6">
            <a:extLst>
              <a:ext uri="{FF2B5EF4-FFF2-40B4-BE49-F238E27FC236}">
                <a16:creationId xmlns:a16="http://schemas.microsoft.com/office/drawing/2014/main" id="{D97C2ED7-AE02-A579-4625-58EB533BB512}"/>
              </a:ext>
            </a:extLst>
          </p:cNvPr>
          <p:cNvGraphicFramePr>
            <a:graphicFrameLocks noGrp="1"/>
          </p:cNvGraphicFramePr>
          <p:nvPr>
            <p:extLst>
              <p:ext uri="{D42A27DB-BD31-4B8C-83A1-F6EECF244321}">
                <p14:modId xmlns:p14="http://schemas.microsoft.com/office/powerpoint/2010/main" val="2847023176"/>
              </p:ext>
            </p:extLst>
          </p:nvPr>
        </p:nvGraphicFramePr>
        <p:xfrm>
          <a:off x="793770" y="2400030"/>
          <a:ext cx="10930144" cy="2407920"/>
        </p:xfrm>
        <a:graphic>
          <a:graphicData uri="http://schemas.openxmlformats.org/drawingml/2006/table">
            <a:tbl>
              <a:tblPr/>
              <a:tblGrid>
                <a:gridCol w="5456275">
                  <a:extLst>
                    <a:ext uri="{9D8B030D-6E8A-4147-A177-3AD203B41FA5}">
                      <a16:colId xmlns:a16="http://schemas.microsoft.com/office/drawing/2014/main" val="1761547696"/>
                    </a:ext>
                  </a:extLst>
                </a:gridCol>
                <a:gridCol w="5473869">
                  <a:extLst>
                    <a:ext uri="{9D8B030D-6E8A-4147-A177-3AD203B41FA5}">
                      <a16:colId xmlns:a16="http://schemas.microsoft.com/office/drawing/2014/main" val="3823982987"/>
                    </a:ext>
                  </a:extLst>
                </a:gridCol>
              </a:tblGrid>
              <a:tr h="0">
                <a:tc>
                  <a:txBody>
                    <a:bodyPr/>
                    <a:lstStyle/>
                    <a:p>
                      <a:pPr>
                        <a:buNone/>
                      </a:pPr>
                      <a:r>
                        <a:rPr lang="en-US" sz="1600" b="1" dirty="0">
                          <a:latin typeface="Constantia" panose="02030602050306030303" pitchFamily="18" charset="0"/>
                        </a:rPr>
                        <a:t>Before 1972</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Constantia" panose="02030602050306030303" pitchFamily="18" charset="0"/>
                        </a:rPr>
                        <a:t>After 1972</a:t>
                      </a:r>
                    </a:p>
                  </a:txBody>
                  <a:tcPr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4669080"/>
                  </a:ext>
                </a:extLst>
              </a:tr>
              <a:tr h="0">
                <a:tc>
                  <a:txBody>
                    <a:bodyPr/>
                    <a:lstStyle/>
                    <a:p>
                      <a:pPr>
                        <a:buNone/>
                      </a:pPr>
                      <a:r>
                        <a:rPr lang="en-US" sz="1600" b="1" dirty="0">
                          <a:latin typeface="Constantia" panose="02030602050306030303" pitchFamily="18" charset="0"/>
                        </a:rPr>
                        <a:t>Party elites </a:t>
                      </a:r>
                      <a:r>
                        <a:rPr lang="en-US" sz="1600" dirty="0">
                          <a:latin typeface="Constantia" panose="02030602050306030303" pitchFamily="18" charset="0"/>
                        </a:rPr>
                        <a:t>controlled delegates and convention outcomes</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buNone/>
                      </a:pPr>
                      <a:r>
                        <a:rPr lang="en-US" sz="1600" b="1" dirty="0">
                          <a:latin typeface="Constantia" panose="02030602050306030303" pitchFamily="18" charset="0"/>
                        </a:rPr>
                        <a:t>Candidates</a:t>
                      </a:r>
                      <a:r>
                        <a:rPr lang="en-US" sz="1600" dirty="0">
                          <a:latin typeface="Constantia" panose="02030602050306030303" pitchFamily="18" charset="0"/>
                        </a:rPr>
                        <a:t> compete directly in primaries and caucuses</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251586591"/>
                  </a:ext>
                </a:extLst>
              </a:tr>
              <a:tr h="0">
                <a:tc>
                  <a:txBody>
                    <a:bodyPr/>
                    <a:lstStyle/>
                    <a:p>
                      <a:pPr>
                        <a:buNone/>
                      </a:pPr>
                      <a:r>
                        <a:rPr lang="en-US" sz="1600">
                          <a:latin typeface="Constantia" panose="02030602050306030303" pitchFamily="18" charset="0"/>
                        </a:rPr>
                        <a:t>National conventions </a:t>
                      </a:r>
                      <a:r>
                        <a:rPr lang="en-US" sz="1600" i="1">
                          <a:latin typeface="Constantia" panose="02030602050306030303" pitchFamily="18" charset="0"/>
                        </a:rPr>
                        <a:t>chose</a:t>
                      </a:r>
                      <a:r>
                        <a:rPr lang="en-US" sz="1600">
                          <a:latin typeface="Constantia" panose="02030602050306030303" pitchFamily="18" charset="0"/>
                        </a:rPr>
                        <a:t> nominees</a:t>
                      </a:r>
                    </a:p>
                  </a:txBody>
                  <a:tcPr anchor="ctr">
                    <a:lnL>
                      <a:noFill/>
                    </a:lnL>
                    <a:lnR>
                      <a:noFill/>
                    </a:lnR>
                    <a:lnT>
                      <a:noFill/>
                    </a:lnT>
                    <a:lnB>
                      <a:noFill/>
                    </a:lnB>
                    <a:noFill/>
                  </a:tcPr>
                </a:tc>
                <a:tc>
                  <a:txBody>
                    <a:bodyPr/>
                    <a:lstStyle/>
                    <a:p>
                      <a:pPr>
                        <a:buNone/>
                      </a:pPr>
                      <a:r>
                        <a:rPr lang="en-US" sz="1600">
                          <a:latin typeface="Constantia" panose="02030602050306030303" pitchFamily="18" charset="0"/>
                        </a:rPr>
                        <a:t>National conventions now </a:t>
                      </a:r>
                      <a:r>
                        <a:rPr lang="en-US" sz="1600" i="1">
                          <a:latin typeface="Constantia" panose="02030602050306030303" pitchFamily="18" charset="0"/>
                        </a:rPr>
                        <a:t>confirm</a:t>
                      </a:r>
                      <a:r>
                        <a:rPr lang="en-US" sz="1600">
                          <a:latin typeface="Constantia" panose="02030602050306030303" pitchFamily="18" charset="0"/>
                        </a:rPr>
                        <a:t> nominees already chosen through primaries</a:t>
                      </a:r>
                    </a:p>
                  </a:txBody>
                  <a:tcPr anchor="ctr">
                    <a:lnL>
                      <a:noFill/>
                    </a:lnL>
                    <a:lnR>
                      <a:noFill/>
                    </a:lnR>
                    <a:lnT>
                      <a:noFill/>
                    </a:lnT>
                    <a:lnB>
                      <a:noFill/>
                    </a:lnB>
                    <a:noFill/>
                  </a:tcPr>
                </a:tc>
                <a:extLst>
                  <a:ext uri="{0D108BD9-81ED-4DB2-BD59-A6C34878D82A}">
                    <a16:rowId xmlns:a16="http://schemas.microsoft.com/office/drawing/2014/main" val="904623709"/>
                  </a:ext>
                </a:extLst>
              </a:tr>
              <a:tr h="0">
                <a:tc>
                  <a:txBody>
                    <a:bodyPr/>
                    <a:lstStyle/>
                    <a:p>
                      <a:pPr>
                        <a:buNone/>
                      </a:pPr>
                      <a:r>
                        <a:rPr lang="en-US" sz="1600" dirty="0">
                          <a:latin typeface="Constantia" panose="02030602050306030303" pitchFamily="18" charset="0"/>
                        </a:rPr>
                        <a:t>Party organization </a:t>
                      </a:r>
                      <a:r>
                        <a:rPr lang="en-US" sz="1600" b="1" dirty="0">
                          <a:latin typeface="Constantia" panose="02030602050306030303" pitchFamily="18" charset="0"/>
                        </a:rPr>
                        <a:t>raised and distributed </a:t>
                      </a:r>
                      <a:r>
                        <a:rPr lang="en-US" sz="1600" dirty="0">
                          <a:latin typeface="Constantia" panose="02030602050306030303" pitchFamily="18" charset="0"/>
                        </a:rPr>
                        <a:t>funds</a:t>
                      </a:r>
                    </a:p>
                  </a:txBody>
                  <a:tcPr anchor="ctr">
                    <a:lnL>
                      <a:noFill/>
                    </a:lnL>
                    <a:lnR>
                      <a:noFill/>
                    </a:lnR>
                    <a:lnT>
                      <a:noFill/>
                    </a:lnT>
                    <a:lnB>
                      <a:noFill/>
                    </a:lnB>
                    <a:noFill/>
                  </a:tcPr>
                </a:tc>
                <a:tc>
                  <a:txBody>
                    <a:bodyPr/>
                    <a:lstStyle/>
                    <a:p>
                      <a:pPr>
                        <a:buNone/>
                      </a:pPr>
                      <a:r>
                        <a:rPr lang="en-US" sz="1600" dirty="0">
                          <a:latin typeface="Constantia" panose="02030602050306030303" pitchFamily="18" charset="0"/>
                        </a:rPr>
                        <a:t>Candidates </a:t>
                      </a:r>
                      <a:r>
                        <a:rPr lang="en-US" sz="1600" b="1" dirty="0">
                          <a:latin typeface="Constantia" panose="02030602050306030303" pitchFamily="18" charset="0"/>
                        </a:rPr>
                        <a:t>build their own fundraising networks </a:t>
                      </a:r>
                      <a:r>
                        <a:rPr lang="en-US" sz="1600" dirty="0">
                          <a:latin typeface="Constantia" panose="02030602050306030303" pitchFamily="18" charset="0"/>
                        </a:rPr>
                        <a:t>(e.g., PACs, small donors)</a:t>
                      </a:r>
                    </a:p>
                  </a:txBody>
                  <a:tcPr anchor="ctr">
                    <a:lnL>
                      <a:noFill/>
                    </a:lnL>
                    <a:lnR>
                      <a:noFill/>
                    </a:lnR>
                    <a:lnT>
                      <a:noFill/>
                    </a:lnT>
                    <a:lnB>
                      <a:noFill/>
                    </a:lnB>
                    <a:noFill/>
                  </a:tcPr>
                </a:tc>
                <a:extLst>
                  <a:ext uri="{0D108BD9-81ED-4DB2-BD59-A6C34878D82A}">
                    <a16:rowId xmlns:a16="http://schemas.microsoft.com/office/drawing/2014/main" val="877330229"/>
                  </a:ext>
                </a:extLst>
              </a:tr>
              <a:tr h="0">
                <a:tc>
                  <a:txBody>
                    <a:bodyPr/>
                    <a:lstStyle/>
                    <a:p>
                      <a:pPr>
                        <a:buNone/>
                      </a:pPr>
                      <a:r>
                        <a:rPr lang="en-US" sz="1600" b="1" dirty="0">
                          <a:latin typeface="Constantia" panose="02030602050306030303" pitchFamily="18" charset="0"/>
                        </a:rPr>
                        <a:t>Party loyalty and hierarchy </a:t>
                      </a:r>
                      <a:r>
                        <a:rPr lang="en-US" sz="1600" dirty="0">
                          <a:latin typeface="Constantia" panose="02030602050306030303" pitchFamily="18" charset="0"/>
                        </a:rPr>
                        <a:t>dominated</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buNone/>
                      </a:pPr>
                      <a:r>
                        <a:rPr lang="en-US" sz="1600" b="1" dirty="0">
                          <a:latin typeface="Constantia" panose="02030602050306030303" pitchFamily="18" charset="0"/>
                        </a:rPr>
                        <a:t>Media exposure, personal image, and campaign strategy </a:t>
                      </a:r>
                      <a:r>
                        <a:rPr lang="en-US" sz="1600" dirty="0">
                          <a:latin typeface="Constantia" panose="02030602050306030303" pitchFamily="18" charset="0"/>
                        </a:rPr>
                        <a:t>dominate</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8060300"/>
                  </a:ext>
                </a:extLst>
              </a:tr>
            </a:tbl>
          </a:graphicData>
        </a:graphic>
      </p:graphicFrame>
    </p:spTree>
    <p:extLst>
      <p:ext uri="{BB962C8B-B14F-4D97-AF65-F5344CB8AC3E}">
        <p14:creationId xmlns:p14="http://schemas.microsoft.com/office/powerpoint/2010/main" val="519519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8AC8E-5995-3226-FCCD-929A268D0CD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17DFA6-BD55-A676-92FF-9CEFE9838238}"/>
              </a:ext>
            </a:extLst>
          </p:cNvPr>
          <p:cNvSpPr>
            <a:spLocks noGrp="1"/>
          </p:cNvSpPr>
          <p:nvPr>
            <p:ph type="title"/>
          </p:nvPr>
        </p:nvSpPr>
        <p:spPr>
          <a:xfrm>
            <a:off x="574158" y="0"/>
            <a:ext cx="10515600" cy="1325563"/>
          </a:xfrm>
        </p:spPr>
        <p:txBody>
          <a:bodyPr>
            <a:normAutofit/>
          </a:bodyPr>
          <a:lstStyle/>
          <a:p>
            <a:r>
              <a:rPr kumimoji="1" lang="en-US" altLang="zh-CN" sz="3600" b="1" dirty="0">
                <a:latin typeface="Century Gothic" panose="020B0502020202020204" pitchFamily="34" charset="0"/>
              </a:rPr>
              <a:t>Nomination (cont`d)</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92D19C63-4D0C-0F0A-DEAD-CC2B8780AE95}"/>
              </a:ext>
            </a:extLst>
          </p:cNvPr>
          <p:cNvSpPr>
            <a:spLocks noGrp="1"/>
          </p:cNvSpPr>
          <p:nvPr>
            <p:ph idx="1"/>
          </p:nvPr>
        </p:nvSpPr>
        <p:spPr>
          <a:xfrm>
            <a:off x="606056" y="1249639"/>
            <a:ext cx="11174818" cy="5752739"/>
          </a:xfrm>
        </p:spPr>
        <p:txBody>
          <a:bodyPr>
            <a:normAutofit/>
          </a:bodyPr>
          <a:lstStyle/>
          <a:p>
            <a:pPr>
              <a:lnSpc>
                <a:spcPct val="100000"/>
              </a:lnSpc>
            </a:pPr>
            <a:r>
              <a:rPr lang="en-US" altLang="zh-CN" sz="2200" b="1" dirty="0">
                <a:latin typeface="Century Gothic" panose="020B0502020202020204" pitchFamily="34" charset="0"/>
              </a:rPr>
              <a:t>Nomination for President</a:t>
            </a:r>
          </a:p>
          <a:p>
            <a:pPr lvl="1">
              <a:lnSpc>
                <a:spcPct val="100000"/>
              </a:lnSpc>
            </a:pPr>
            <a:r>
              <a:rPr lang="en-US" altLang="zh-CN" sz="2000" dirty="0">
                <a:latin typeface="Century Gothic" panose="020B0502020202020204" pitchFamily="34" charset="0"/>
              </a:rPr>
              <a:t>How do the state parties select delegates to their national conventions?</a:t>
            </a:r>
          </a:p>
          <a:p>
            <a:pPr lvl="2">
              <a:lnSpc>
                <a:spcPct val="100000"/>
              </a:lnSpc>
            </a:pPr>
            <a:r>
              <a:rPr lang="en-US" altLang="zh-CN" sz="1800" b="1" dirty="0">
                <a:latin typeface="Century Gothic" panose="020B0502020202020204" pitchFamily="34" charset="0"/>
              </a:rPr>
              <a:t>Presidential primary: </a:t>
            </a:r>
            <a:r>
              <a:rPr lang="en-US" altLang="zh-CN" sz="1800" u="sng" dirty="0">
                <a:latin typeface="Century Gothic" panose="020B0502020202020204" pitchFamily="34" charset="0"/>
              </a:rPr>
              <a:t>proportional</a:t>
            </a:r>
            <a:r>
              <a:rPr lang="en-US" altLang="zh-CN" sz="1800" dirty="0">
                <a:latin typeface="Century Gothic" panose="020B0502020202020204" pitchFamily="34" charset="0"/>
              </a:rPr>
              <a:t> / winner-take-tall; </a:t>
            </a:r>
            <a:r>
              <a:rPr lang="en-US" altLang="zh-CN" sz="1800" u="sng" dirty="0">
                <a:latin typeface="Century Gothic" panose="020B0502020202020204" pitchFamily="34" charset="0"/>
              </a:rPr>
              <a:t>mainstream method</a:t>
            </a:r>
            <a:endParaRPr lang="en-US" altLang="zh-CN" sz="1800" b="1" u="sng" dirty="0">
              <a:latin typeface="Century Gothic" panose="020B0502020202020204" pitchFamily="34" charset="0"/>
            </a:endParaRPr>
          </a:p>
          <a:p>
            <a:pPr lvl="2">
              <a:lnSpc>
                <a:spcPct val="100000"/>
              </a:lnSpc>
            </a:pPr>
            <a:r>
              <a:rPr lang="en-US" altLang="zh-CN" sz="1800" b="1" dirty="0">
                <a:latin typeface="Century Gothic" panose="020B0502020202020204" pitchFamily="34" charset="0"/>
              </a:rPr>
              <a:t>(local) caucus / (state) convention</a:t>
            </a:r>
          </a:p>
          <a:p>
            <a:pPr lvl="2">
              <a:lnSpc>
                <a:spcPct val="100000"/>
              </a:lnSpc>
            </a:pPr>
            <a:r>
              <a:rPr lang="en-US" altLang="zh-CN" sz="1800" dirty="0">
                <a:latin typeface="Century Gothic" panose="020B0502020202020204" pitchFamily="34" charset="0"/>
              </a:rPr>
              <a:t>To gain popular attention, states practice </a:t>
            </a:r>
            <a:r>
              <a:rPr lang="en-US" altLang="zh-CN" sz="1800" b="1" i="1" dirty="0">
                <a:latin typeface="Century Gothic" panose="020B0502020202020204" pitchFamily="34" charset="0"/>
              </a:rPr>
              <a:t>front-loading</a:t>
            </a:r>
            <a:r>
              <a:rPr lang="en-US" altLang="zh-CN" sz="1800" dirty="0">
                <a:latin typeface="Century Gothic" panose="020B0502020202020204" pitchFamily="34" charset="0"/>
              </a:rPr>
              <a:t> strategies.</a:t>
            </a:r>
          </a:p>
          <a:p>
            <a:pPr lvl="2">
              <a:lnSpc>
                <a:spcPct val="100000"/>
              </a:lnSpc>
            </a:pPr>
            <a:endParaRPr lang="en-US" altLang="zh-CN" sz="1800" dirty="0">
              <a:latin typeface="Century Gothic" panose="020B0502020202020204" pitchFamily="34" charset="0"/>
            </a:endParaRPr>
          </a:p>
          <a:p>
            <a:pPr lvl="1">
              <a:lnSpc>
                <a:spcPct val="100000"/>
              </a:lnSpc>
            </a:pPr>
            <a:r>
              <a:rPr lang="en-US" altLang="zh-CN" sz="2000" dirty="0">
                <a:latin typeface="Century Gothic" panose="020B0502020202020204" pitchFamily="34" charset="0"/>
              </a:rPr>
              <a:t>Campaigning for the nomination</a:t>
            </a:r>
          </a:p>
          <a:p>
            <a:pPr lvl="2">
              <a:lnSpc>
                <a:spcPct val="100000"/>
              </a:lnSpc>
            </a:pPr>
            <a:r>
              <a:rPr lang="en-US" altLang="zh-CN" sz="1800" dirty="0">
                <a:latin typeface="Century Gothic" panose="020B0502020202020204" pitchFamily="34" charset="0"/>
              </a:rPr>
              <a:t>First “TESTS” in Iowa (party caucuses) and New Hampshire (primary)</a:t>
            </a:r>
          </a:p>
          <a:p>
            <a:pPr lvl="3">
              <a:lnSpc>
                <a:spcPct val="100000"/>
              </a:lnSpc>
            </a:pPr>
            <a:r>
              <a:rPr lang="en-US" altLang="zh-CN" sz="1600" dirty="0">
                <a:latin typeface="Constantia" panose="02030602050306030303" pitchFamily="18" charset="0"/>
              </a:rPr>
              <a:t>Given that Iowa and New Hampshire are less demographically representative of the U.S. population (mainly white &amp; rural), thus bearing the risk of undermining democratic representation, </a:t>
            </a:r>
            <a:r>
              <a:rPr lang="en-US" altLang="zh-CN" sz="1600" b="1" dirty="0">
                <a:solidFill>
                  <a:srgbClr val="FF0000"/>
                </a:solidFill>
                <a:latin typeface="Constantia" panose="02030602050306030303" pitchFamily="18" charset="0"/>
              </a:rPr>
              <a:t>why could this happen in past decades? If you could redesign the nomination calendar, which states would you put first?</a:t>
            </a:r>
          </a:p>
          <a:p>
            <a:pPr lvl="3">
              <a:lnSpc>
                <a:spcPct val="100000"/>
              </a:lnSpc>
            </a:pPr>
            <a:r>
              <a:rPr lang="en-US" altLang="zh-CN" sz="1600" b="1" dirty="0">
                <a:latin typeface="Century Gothic" panose="020B0502020202020204" pitchFamily="34" charset="0"/>
              </a:rPr>
              <a:t>Path</a:t>
            </a:r>
            <a:r>
              <a:rPr lang="zh-CN" altLang="en-US" sz="1600" b="1" dirty="0">
                <a:latin typeface="Century Gothic" panose="020B0502020202020204" pitchFamily="34" charset="0"/>
              </a:rPr>
              <a:t> </a:t>
            </a:r>
            <a:r>
              <a:rPr lang="en-US" altLang="zh-CN" sz="1600" b="1" dirty="0">
                <a:latin typeface="Century Gothic" panose="020B0502020202020204" pitchFamily="34" charset="0"/>
              </a:rPr>
              <a:t>Dependence, “Lock-in” Effect, vested interests</a:t>
            </a:r>
          </a:p>
          <a:p>
            <a:pPr lvl="2">
              <a:lnSpc>
                <a:spcPct val="100000"/>
              </a:lnSpc>
            </a:pPr>
            <a:r>
              <a:rPr lang="en-US" altLang="zh-CN" sz="1800" dirty="0">
                <a:latin typeface="Century Gothic" panose="020B0502020202020204" pitchFamily="34" charset="0"/>
              </a:rPr>
              <a:t>Campaigning results in several consequences / fun facts</a:t>
            </a:r>
          </a:p>
          <a:p>
            <a:pPr lvl="3">
              <a:lnSpc>
                <a:spcPct val="100000"/>
              </a:lnSpc>
            </a:pPr>
            <a:r>
              <a:rPr lang="en-US" altLang="zh-CN" sz="1600" dirty="0">
                <a:latin typeface="Constantia" panose="02030602050306030303" pitchFamily="18" charset="0"/>
              </a:rPr>
              <a:t>No incumbent president seeking for reelection -&gt; fierce competition in both parties</a:t>
            </a:r>
          </a:p>
          <a:p>
            <a:pPr lvl="4">
              <a:lnSpc>
                <a:spcPct val="100000"/>
              </a:lnSpc>
            </a:pPr>
            <a:r>
              <a:rPr lang="en-US" altLang="zh-CN" sz="1600" dirty="0">
                <a:latin typeface="Constantia" panose="02030602050306030303" pitchFamily="18" charset="0"/>
              </a:rPr>
              <a:t>Dispersed / fragmented resources, discourses, powers, …</a:t>
            </a:r>
          </a:p>
          <a:p>
            <a:pPr lvl="3">
              <a:lnSpc>
                <a:spcPct val="100000"/>
              </a:lnSpc>
            </a:pPr>
            <a:r>
              <a:rPr lang="en-US" altLang="zh-CN" sz="1600" dirty="0">
                <a:latin typeface="Constantia" panose="02030602050306030303" pitchFamily="18" charset="0"/>
              </a:rPr>
              <a:t>An incumbent president can usually be renominated within the party</a:t>
            </a:r>
            <a:r>
              <a:rPr lang="zh-CN" altLang="en-US" sz="1600" dirty="0">
                <a:latin typeface="Constantia" panose="02030602050306030303" pitchFamily="18" charset="0"/>
              </a:rPr>
              <a:t> </a:t>
            </a:r>
            <a:endParaRPr lang="en-US" altLang="zh-CN" sz="1600" dirty="0">
              <a:latin typeface="Constantia" panose="02030602050306030303" pitchFamily="18" charset="0"/>
            </a:endParaRPr>
          </a:p>
          <a:p>
            <a:pPr lvl="3">
              <a:lnSpc>
                <a:spcPct val="100000"/>
              </a:lnSpc>
            </a:pPr>
            <a:r>
              <a:rPr lang="en-US" altLang="zh-CN" sz="1600" dirty="0">
                <a:latin typeface="Constantia" panose="02030602050306030303" pitchFamily="18" charset="0"/>
              </a:rPr>
              <a:t>In the nonincumbent party, numerous hopefuls seek the presidential nomination</a:t>
            </a:r>
          </a:p>
          <a:p>
            <a:pPr lvl="3">
              <a:lnSpc>
                <a:spcPct val="100000"/>
              </a:lnSpc>
            </a:pPr>
            <a:endParaRPr lang="en-US" altLang="zh-CN" sz="1600" dirty="0">
              <a:latin typeface="Constantia" panose="02030602050306030303" pitchFamily="18" charset="0"/>
            </a:endParaRPr>
          </a:p>
        </p:txBody>
      </p:sp>
    </p:spTree>
    <p:extLst>
      <p:ext uri="{BB962C8B-B14F-4D97-AF65-F5344CB8AC3E}">
        <p14:creationId xmlns:p14="http://schemas.microsoft.com/office/powerpoint/2010/main" val="504414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584C80-8E73-E5F8-D9F4-4C2BC4AE5A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B01C8C3-6A86-999E-FF0F-8EC0AF9715D1}"/>
              </a:ext>
            </a:extLst>
          </p:cNvPr>
          <p:cNvSpPr>
            <a:spLocks noGrp="1"/>
          </p:cNvSpPr>
          <p:nvPr>
            <p:ph type="title"/>
          </p:nvPr>
        </p:nvSpPr>
        <p:spPr>
          <a:xfrm>
            <a:off x="691242" y="0"/>
            <a:ext cx="10515600" cy="1325563"/>
          </a:xfrm>
        </p:spPr>
        <p:txBody>
          <a:bodyPr>
            <a:normAutofit/>
          </a:bodyPr>
          <a:lstStyle/>
          <a:p>
            <a:r>
              <a:rPr kumimoji="1" lang="en-US" altLang="zh-CN" sz="3600" b="1" dirty="0">
                <a:latin typeface="Century Gothic" panose="020B0502020202020204" pitchFamily="34" charset="0"/>
              </a:rPr>
              <a:t>Presidential Elections</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D5AFEB7B-198A-A156-A85F-C6ED3D26E7F3}"/>
              </a:ext>
            </a:extLst>
          </p:cNvPr>
          <p:cNvSpPr>
            <a:spLocks noGrp="1"/>
          </p:cNvSpPr>
          <p:nvPr>
            <p:ph idx="1"/>
          </p:nvPr>
        </p:nvSpPr>
        <p:spPr>
          <a:xfrm>
            <a:off x="691242" y="1325562"/>
            <a:ext cx="11083663" cy="5363995"/>
          </a:xfrm>
        </p:spPr>
        <p:txBody>
          <a:bodyPr>
            <a:normAutofit/>
          </a:bodyPr>
          <a:lstStyle/>
          <a:p>
            <a:pPr>
              <a:lnSpc>
                <a:spcPct val="100000"/>
              </a:lnSpc>
            </a:pPr>
            <a:r>
              <a:rPr lang="en-US" altLang="zh-CN" sz="2200" dirty="0">
                <a:latin typeface="Century Gothic" panose="020B0502020202020204" pitchFamily="34" charset="0"/>
              </a:rPr>
              <a:t>A president is elected not in a national election, but in a </a:t>
            </a:r>
            <a:r>
              <a:rPr lang="en-US" altLang="zh-CN" sz="2200" b="1" i="1" dirty="0">
                <a:latin typeface="Century Gothic" panose="020B0502020202020204" pitchFamily="34" charset="0"/>
              </a:rPr>
              <a:t>federal</a:t>
            </a:r>
            <a:r>
              <a:rPr lang="en-US" altLang="zh-CN" sz="2200" dirty="0">
                <a:latin typeface="Century Gothic" panose="020B0502020202020204" pitchFamily="34" charset="0"/>
              </a:rPr>
              <a:t> election. </a:t>
            </a:r>
          </a:p>
          <a:p>
            <a:pPr lvl="1">
              <a:lnSpc>
                <a:spcPct val="100000"/>
              </a:lnSpc>
            </a:pPr>
            <a:r>
              <a:rPr lang="en-US" altLang="zh-CN" sz="2000" b="1" dirty="0">
                <a:solidFill>
                  <a:srgbClr val="FF0000"/>
                </a:solidFill>
                <a:latin typeface="Century Gothic" panose="020B0502020202020204" pitchFamily="34" charset="0"/>
              </a:rPr>
              <a:t>Interesting for me! </a:t>
            </a:r>
            <a:r>
              <a:rPr lang="en-US" altLang="zh-CN" sz="2000" dirty="0">
                <a:latin typeface="Century Gothic" panose="020B0502020202020204" pitchFamily="34" charset="0"/>
              </a:rPr>
              <a:t>The key to win a presidential election lies in </a:t>
            </a:r>
            <a:r>
              <a:rPr lang="en-US" altLang="zh-CN" sz="2000" b="1" dirty="0">
                <a:latin typeface="Century Gothic" panose="020B0502020202020204" pitchFamily="34" charset="0"/>
              </a:rPr>
              <a:t>the state level</a:t>
            </a:r>
            <a:r>
              <a:rPr lang="en-US" altLang="zh-CN" sz="2000" dirty="0">
                <a:latin typeface="Century Gothic" panose="020B0502020202020204" pitchFamily="34" charset="0"/>
              </a:rPr>
              <a:t>, not </a:t>
            </a:r>
            <a:r>
              <a:rPr lang="en-US" altLang="zh-CN" sz="2000" b="1" dirty="0">
                <a:latin typeface="Century Gothic" panose="020B0502020202020204" pitchFamily="34" charset="0"/>
              </a:rPr>
              <a:t>the individual level</a:t>
            </a:r>
            <a:r>
              <a:rPr lang="en-US" altLang="zh-CN" sz="2000" dirty="0">
                <a:latin typeface="Century Gothic" panose="020B0502020202020204" pitchFamily="34" charset="0"/>
              </a:rPr>
              <a:t>, which shows differences between </a:t>
            </a:r>
            <a:r>
              <a:rPr lang="en-US" altLang="zh-CN" sz="2000" b="1" dirty="0">
                <a:latin typeface="Century Gothic" panose="020B0502020202020204" pitchFamily="34" charset="0"/>
              </a:rPr>
              <a:t>unitary and federal </a:t>
            </a:r>
            <a:r>
              <a:rPr lang="en-US" altLang="zh-CN" sz="2000" dirty="0">
                <a:latin typeface="Century Gothic" panose="020B0502020202020204" pitchFamily="34" charset="0"/>
              </a:rPr>
              <a:t>system.</a:t>
            </a:r>
          </a:p>
          <a:p>
            <a:pPr>
              <a:lnSpc>
                <a:spcPct val="100000"/>
              </a:lnSpc>
            </a:pPr>
            <a:r>
              <a:rPr lang="en-US" altLang="zh-CN" sz="2200" b="1" dirty="0">
                <a:latin typeface="Century Gothic" panose="020B0502020202020204" pitchFamily="34" charset="0"/>
              </a:rPr>
              <a:t>The electoral college</a:t>
            </a:r>
          </a:p>
          <a:p>
            <a:pPr lvl="1">
              <a:lnSpc>
                <a:spcPct val="100000"/>
              </a:lnSpc>
            </a:pPr>
            <a:r>
              <a:rPr lang="en-US" altLang="zh-CN" sz="2000" b="1" dirty="0">
                <a:latin typeface="Century Gothic" panose="020B0502020202020204" pitchFamily="34" charset="0"/>
              </a:rPr>
              <a:t>538</a:t>
            </a:r>
            <a:r>
              <a:rPr lang="en-US" altLang="zh-CN" sz="2000" dirty="0">
                <a:latin typeface="Century Gothic" panose="020B0502020202020204" pitchFamily="34" charset="0"/>
              </a:rPr>
              <a:t> electoral votes: one vote for each Congress member +</a:t>
            </a:r>
            <a:r>
              <a:rPr lang="zh-CN" altLang="en-US" sz="2000" dirty="0">
                <a:latin typeface="Century Gothic" panose="020B0502020202020204" pitchFamily="34" charset="0"/>
              </a:rPr>
              <a:t> </a:t>
            </a:r>
            <a:r>
              <a:rPr lang="en-US" altLang="zh-CN" sz="2000" dirty="0">
                <a:latin typeface="Century Gothic" panose="020B0502020202020204" pitchFamily="34" charset="0"/>
              </a:rPr>
              <a:t>the District of Columbia</a:t>
            </a:r>
          </a:p>
          <a:p>
            <a:pPr lvl="1">
              <a:lnSpc>
                <a:spcPct val="100000"/>
              </a:lnSpc>
            </a:pPr>
            <a:r>
              <a:rPr lang="en-US" altLang="zh-CN" sz="2000" dirty="0">
                <a:latin typeface="Century Gothic" panose="020B0502020202020204" pitchFamily="34" charset="0"/>
              </a:rPr>
              <a:t>Each state selects their electors through </a:t>
            </a:r>
            <a:r>
              <a:rPr lang="en-US" altLang="zh-CN" sz="2000" b="1" dirty="0">
                <a:latin typeface="Century Gothic" panose="020B0502020202020204" pitchFamily="34" charset="0"/>
              </a:rPr>
              <a:t>popular vote</a:t>
            </a:r>
            <a:r>
              <a:rPr lang="en-US" altLang="zh-CN" sz="2000" dirty="0">
                <a:latin typeface="Century Gothic" panose="020B0502020202020204" pitchFamily="34" charset="0"/>
              </a:rPr>
              <a:t>. </a:t>
            </a:r>
          </a:p>
          <a:p>
            <a:pPr lvl="1">
              <a:lnSpc>
                <a:spcPct val="100000"/>
              </a:lnSpc>
            </a:pPr>
            <a:r>
              <a:rPr lang="en-US" altLang="zh-CN" sz="2000" dirty="0">
                <a:latin typeface="Century Gothic" panose="020B0502020202020204" pitchFamily="34" charset="0"/>
              </a:rPr>
              <a:t>From “independent” to “pledged” electors – party dominates!</a:t>
            </a:r>
          </a:p>
          <a:p>
            <a:pPr lvl="2">
              <a:lnSpc>
                <a:spcPct val="100000"/>
              </a:lnSpc>
            </a:pPr>
            <a:r>
              <a:rPr lang="en-US" altLang="zh-CN" sz="1800" i="1" dirty="0" err="1">
                <a:latin typeface="Century Gothic" panose="020B0502020202020204" pitchFamily="34" charset="0"/>
              </a:rPr>
              <a:t>Chiafalo</a:t>
            </a:r>
            <a:r>
              <a:rPr lang="en-US" altLang="zh-CN" sz="1800" i="1" dirty="0">
                <a:latin typeface="Century Gothic" panose="020B0502020202020204" pitchFamily="34" charset="0"/>
              </a:rPr>
              <a:t> v. Washington (2020)</a:t>
            </a:r>
            <a:r>
              <a:rPr lang="en-US" altLang="zh-CN" sz="1800" dirty="0">
                <a:latin typeface="Century Gothic" panose="020B0502020202020204" pitchFamily="34" charset="0"/>
              </a:rPr>
              <a:t>: States can require electors to follow the popular vote.</a:t>
            </a:r>
            <a:endParaRPr lang="en-US" altLang="zh-CN" sz="1800" i="1" dirty="0">
              <a:latin typeface="Century Gothic" panose="020B0502020202020204" pitchFamily="34" charset="0"/>
            </a:endParaRPr>
          </a:p>
          <a:p>
            <a:pPr lvl="1">
              <a:lnSpc>
                <a:spcPct val="100000"/>
              </a:lnSpc>
            </a:pPr>
            <a:r>
              <a:rPr kumimoji="1" lang="en-US" altLang="zh-CN" sz="2000" b="1" i="1" dirty="0">
                <a:latin typeface="Century Gothic" panose="020B0502020202020204" pitchFamily="34" charset="0"/>
              </a:rPr>
              <a:t>Why should we have the electoral votes system?</a:t>
            </a:r>
          </a:p>
          <a:p>
            <a:pPr lvl="2">
              <a:lnSpc>
                <a:spcPct val="100000"/>
              </a:lnSpc>
            </a:pPr>
            <a:r>
              <a:rPr kumimoji="1" lang="en-US" altLang="zh-CN" sz="1800" dirty="0">
                <a:latin typeface="Century Gothic" panose="020B0502020202020204" pitchFamily="34" charset="0"/>
              </a:rPr>
              <a:t>The federal form of government</a:t>
            </a:r>
          </a:p>
          <a:p>
            <a:pPr lvl="2">
              <a:lnSpc>
                <a:spcPct val="100000"/>
              </a:lnSpc>
            </a:pPr>
            <a:r>
              <a:rPr kumimoji="1" lang="en-US" altLang="zh-CN" sz="1800" dirty="0">
                <a:latin typeface="Century Gothic" panose="020B0502020202020204" pitchFamily="34" charset="0"/>
              </a:rPr>
              <a:t>Balancing candidates’ attention between large and small states, urban and rural areas, people of different SES; avoiding being captured by a few easily accessible groups</a:t>
            </a:r>
          </a:p>
          <a:p>
            <a:pPr lvl="2">
              <a:lnSpc>
                <a:spcPct val="100000"/>
              </a:lnSpc>
            </a:pPr>
            <a:r>
              <a:rPr kumimoji="1" lang="en-US" altLang="zh-CN" sz="1800" dirty="0">
                <a:latin typeface="Century Gothic" panose="020B0502020202020204" pitchFamily="34" charset="0"/>
              </a:rPr>
              <a:t>Lower administrative cost: potential risk of a nationwide recount in a close election</a:t>
            </a:r>
          </a:p>
          <a:p>
            <a:pPr marL="914400" lvl="2" indent="0">
              <a:lnSpc>
                <a:spcPct val="100000"/>
              </a:lnSpc>
              <a:buNone/>
            </a:pPr>
            <a:r>
              <a:rPr kumimoji="1" lang="en-US" altLang="zh-CN" sz="1800" b="1" dirty="0">
                <a:solidFill>
                  <a:srgbClr val="FF0000"/>
                </a:solidFill>
                <a:latin typeface="Century Gothic" panose="020B0502020202020204" pitchFamily="34" charset="0"/>
              </a:rPr>
              <a:t>Are these ideas convincing enough for you? Should we (attention: not “Do we”) continue to have the electoral votes system? Why or why not?</a:t>
            </a:r>
          </a:p>
        </p:txBody>
      </p:sp>
    </p:spTree>
    <p:extLst>
      <p:ext uri="{BB962C8B-B14F-4D97-AF65-F5344CB8AC3E}">
        <p14:creationId xmlns:p14="http://schemas.microsoft.com/office/powerpoint/2010/main" val="2552372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86F16-9FF2-0C95-D10C-7464FE9C74D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9E344E-C485-BD9A-0D2F-144EA77D9CC2}"/>
              </a:ext>
            </a:extLst>
          </p:cNvPr>
          <p:cNvSpPr>
            <a:spLocks noGrp="1"/>
          </p:cNvSpPr>
          <p:nvPr>
            <p:ph type="title"/>
          </p:nvPr>
        </p:nvSpPr>
        <p:spPr>
          <a:xfrm>
            <a:off x="838200" y="0"/>
            <a:ext cx="10515600" cy="1325563"/>
          </a:xfrm>
        </p:spPr>
        <p:txBody>
          <a:bodyPr>
            <a:normAutofit/>
          </a:bodyPr>
          <a:lstStyle/>
          <a:p>
            <a:r>
              <a:rPr kumimoji="1" lang="en-US" altLang="zh-CN" sz="3600" b="1" dirty="0">
                <a:latin typeface="Century Gothic" panose="020B0502020202020204" pitchFamily="34" charset="0"/>
              </a:rPr>
              <a:t>Congressional Elections</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234BEA0A-7F6B-738C-2DB6-849C854CE64D}"/>
              </a:ext>
            </a:extLst>
          </p:cNvPr>
          <p:cNvSpPr>
            <a:spLocks noGrp="1"/>
          </p:cNvSpPr>
          <p:nvPr>
            <p:ph idx="1"/>
          </p:nvPr>
        </p:nvSpPr>
        <p:spPr>
          <a:xfrm>
            <a:off x="838200" y="1325562"/>
            <a:ext cx="10639926" cy="5396079"/>
          </a:xfrm>
        </p:spPr>
        <p:txBody>
          <a:bodyPr>
            <a:normAutofit/>
          </a:bodyPr>
          <a:lstStyle/>
          <a:p>
            <a:pPr>
              <a:lnSpc>
                <a:spcPct val="100000"/>
              </a:lnSpc>
            </a:pPr>
            <a:r>
              <a:rPr kumimoji="1" lang="en-US" altLang="zh-CN" sz="2200" dirty="0">
                <a:latin typeface="Century Gothic" panose="020B0502020202020204" pitchFamily="34" charset="0"/>
              </a:rPr>
              <a:t>General election (</a:t>
            </a:r>
            <a:r>
              <a:rPr kumimoji="1" lang="en-US" altLang="zh-CN" sz="2000" dirty="0">
                <a:latin typeface="Constantia" panose="02030602050306030303" pitchFamily="18" charset="0"/>
              </a:rPr>
              <a:t>presidential election; congressional / midterm / off-year elections</a:t>
            </a:r>
            <a:r>
              <a:rPr kumimoji="1" lang="en-US" altLang="zh-CN" sz="2200" dirty="0">
                <a:latin typeface="Century Gothic" panose="020B0502020202020204" pitchFamily="34" charset="0"/>
              </a:rPr>
              <a:t>)</a:t>
            </a:r>
          </a:p>
          <a:p>
            <a:pPr>
              <a:lnSpc>
                <a:spcPct val="100000"/>
              </a:lnSpc>
            </a:pPr>
            <a:r>
              <a:rPr kumimoji="1" lang="en-US" altLang="zh-CN" sz="2200" dirty="0">
                <a:latin typeface="Century Gothic" panose="020B0502020202020204" pitchFamily="34" charset="0"/>
              </a:rPr>
              <a:t>Party affiliation now dominates, but it was NOT this way.</a:t>
            </a:r>
          </a:p>
          <a:p>
            <a:pPr lvl="1">
              <a:lnSpc>
                <a:spcPct val="100000"/>
              </a:lnSpc>
            </a:pPr>
            <a:r>
              <a:rPr kumimoji="1" lang="en-US" altLang="zh-CN" sz="2000" b="1" dirty="0">
                <a:latin typeface="Century Gothic" panose="020B0502020202020204" pitchFamily="34" charset="0"/>
              </a:rPr>
              <a:t>Straight ticket</a:t>
            </a:r>
            <a:r>
              <a:rPr kumimoji="1" lang="en-US" altLang="zh-CN" sz="2000" dirty="0">
                <a:latin typeface="Century Gothic" panose="020B0502020202020204" pitchFamily="34" charset="0"/>
              </a:rPr>
              <a:t>: Voting for a single party’s candidates for all the offices.</a:t>
            </a:r>
          </a:p>
          <a:p>
            <a:pPr lvl="1">
              <a:lnSpc>
                <a:spcPct val="100000"/>
              </a:lnSpc>
            </a:pPr>
            <a:r>
              <a:rPr kumimoji="1" lang="en-US" altLang="zh-CN" sz="2000" b="1" dirty="0">
                <a:latin typeface="Century Gothic" panose="020B0502020202020204" pitchFamily="34" charset="0"/>
              </a:rPr>
              <a:t>Split ticket</a:t>
            </a:r>
            <a:r>
              <a:rPr kumimoji="1" lang="en-US" altLang="zh-CN" sz="2000" dirty="0">
                <a:latin typeface="Century Gothic" panose="020B0502020202020204" pitchFamily="34" charset="0"/>
              </a:rPr>
              <a:t>: Voting for candidates from different parties for different offices.</a:t>
            </a:r>
          </a:p>
          <a:p>
            <a:pPr marL="457200" lvl="1" indent="0">
              <a:lnSpc>
                <a:spcPct val="100000"/>
              </a:lnSpc>
              <a:buNone/>
            </a:pPr>
            <a:r>
              <a:rPr lang="en-US" altLang="zh-CN" sz="2000" b="1" dirty="0">
                <a:solidFill>
                  <a:srgbClr val="FF0000"/>
                </a:solidFill>
                <a:latin typeface="Constantia" panose="02030602050306030303" pitchFamily="18" charset="0"/>
              </a:rPr>
              <a:t>Split-ticket voting suggests that voters may trust different parties for different levels of government. Does it make sense, or seem ridiculous to you?</a:t>
            </a:r>
            <a:endParaRPr kumimoji="1" lang="en-US" altLang="zh-CN" sz="2000" b="1" dirty="0">
              <a:solidFill>
                <a:srgbClr val="FF0000"/>
              </a:solidFill>
              <a:latin typeface="Constantia" panose="02030602050306030303" pitchFamily="18" charset="0"/>
            </a:endParaRPr>
          </a:p>
          <a:p>
            <a:pPr>
              <a:lnSpc>
                <a:spcPct val="100000"/>
              </a:lnSpc>
            </a:pPr>
            <a:r>
              <a:rPr kumimoji="1" lang="en-US" altLang="zh-CN" sz="2200" dirty="0">
                <a:latin typeface="Century Gothic" panose="020B0502020202020204" pitchFamily="34" charset="0"/>
              </a:rPr>
              <a:t>There can be sizable discrepancies between </a:t>
            </a:r>
            <a:r>
              <a:rPr kumimoji="1" lang="en-US" altLang="zh-CN" sz="2200" b="1" dirty="0">
                <a:latin typeface="Century Gothic" panose="020B0502020202020204" pitchFamily="34" charset="0"/>
              </a:rPr>
              <a:t>votes won </a:t>
            </a:r>
            <a:r>
              <a:rPr kumimoji="1" lang="en-US" altLang="zh-CN" sz="2200" dirty="0">
                <a:latin typeface="Century Gothic" panose="020B0502020202020204" pitchFamily="34" charset="0"/>
              </a:rPr>
              <a:t>and </a:t>
            </a:r>
            <a:r>
              <a:rPr kumimoji="1" lang="en-US" altLang="zh-CN" sz="2200" b="1" dirty="0">
                <a:latin typeface="Century Gothic" panose="020B0502020202020204" pitchFamily="34" charset="0"/>
              </a:rPr>
              <a:t>seats won</a:t>
            </a:r>
            <a:r>
              <a:rPr kumimoji="1" lang="en-US" altLang="zh-CN" sz="2200" dirty="0">
                <a:latin typeface="Century Gothic" panose="020B0502020202020204" pitchFamily="34" charset="0"/>
              </a:rPr>
              <a:t>.</a:t>
            </a:r>
          </a:p>
          <a:p>
            <a:pPr lvl="1">
              <a:lnSpc>
                <a:spcPct val="100000"/>
              </a:lnSpc>
            </a:pPr>
            <a:r>
              <a:rPr kumimoji="1" lang="en-US" altLang="zh-CN" sz="2000" b="1" dirty="0">
                <a:latin typeface="Century Gothic" panose="020B0502020202020204" pitchFamily="34" charset="0"/>
              </a:rPr>
              <a:t>First-past-the-post elections:</a:t>
            </a:r>
            <a:r>
              <a:rPr kumimoji="1" lang="en-US" altLang="zh-CN" sz="2000" b="1" dirty="0">
                <a:latin typeface="Century Gothic" panose="020B0502020202020204" pitchFamily="34" charset="0"/>
                <a:sym typeface="Wingdings" pitchFamily="2" charset="2"/>
              </a:rPr>
              <a:t> </a:t>
            </a:r>
            <a:r>
              <a:rPr kumimoji="1" lang="en-US" altLang="zh-CN" sz="2000" dirty="0">
                <a:latin typeface="Century Gothic" panose="020B0502020202020204" pitchFamily="34" charset="0"/>
                <a:sym typeface="Wingdings" pitchFamily="2" charset="2"/>
              </a:rPr>
              <a:t>elections conducted in single-member districts that award victory to the candidate with the most votes. (no need to be more than 50%; relative majority, not absolute majority)</a:t>
            </a:r>
          </a:p>
          <a:p>
            <a:pPr lvl="1">
              <a:lnSpc>
                <a:spcPct val="100000"/>
              </a:lnSpc>
            </a:pPr>
            <a:r>
              <a:rPr kumimoji="1" lang="en-US" altLang="zh-CN" sz="2000" b="1" dirty="0">
                <a:latin typeface="Century Gothic" panose="020B0502020202020204" pitchFamily="34" charset="0"/>
                <a:sym typeface="Wingdings" pitchFamily="2" charset="2"/>
              </a:rPr>
              <a:t>Extreme example: </a:t>
            </a:r>
            <a:r>
              <a:rPr kumimoji="1" lang="en-US" altLang="zh-CN" sz="2000" dirty="0">
                <a:latin typeface="Century Gothic" panose="020B0502020202020204" pitchFamily="34" charset="0"/>
                <a:sym typeface="Wingdings" pitchFamily="2" charset="2"/>
              </a:rPr>
              <a:t>a party got </a:t>
            </a:r>
            <a:r>
              <a:rPr kumimoji="1" lang="en-US" altLang="zh-CN" sz="2000" b="1" dirty="0">
                <a:latin typeface="Century Gothic" panose="020B0502020202020204" pitchFamily="34" charset="0"/>
                <a:sym typeface="Wingdings" pitchFamily="2" charset="2"/>
              </a:rPr>
              <a:t>45% </a:t>
            </a:r>
            <a:r>
              <a:rPr kumimoji="1" lang="en-US" altLang="zh-CN" sz="2000" dirty="0">
                <a:latin typeface="Century Gothic" panose="020B0502020202020204" pitchFamily="34" charset="0"/>
                <a:sym typeface="Wingdings" pitchFamily="2" charset="2"/>
              </a:rPr>
              <a:t>of the votes in all the</a:t>
            </a:r>
            <a:r>
              <a:rPr kumimoji="1" lang="zh-CN" altLang="en-US" sz="2000" dirty="0">
                <a:latin typeface="Century Gothic" panose="020B0502020202020204" pitchFamily="34" charset="0"/>
                <a:sym typeface="Wingdings" pitchFamily="2" charset="2"/>
              </a:rPr>
              <a:t> </a:t>
            </a:r>
            <a:r>
              <a:rPr kumimoji="1" lang="en-US" altLang="zh-CN" sz="2000" dirty="0">
                <a:latin typeface="Century Gothic" panose="020B0502020202020204" pitchFamily="34" charset="0"/>
                <a:sym typeface="Wingdings" pitchFamily="2" charset="2"/>
              </a:rPr>
              <a:t>districts, where it was always the one with the most votes, then it could get all </a:t>
            </a:r>
            <a:r>
              <a:rPr kumimoji="1" lang="en-US" altLang="zh-CN" sz="2000" b="1" dirty="0">
                <a:latin typeface="Century Gothic" panose="020B0502020202020204" pitchFamily="34" charset="0"/>
                <a:sym typeface="Wingdings" pitchFamily="2" charset="2"/>
              </a:rPr>
              <a:t>(100%) </a:t>
            </a:r>
            <a:r>
              <a:rPr kumimoji="1" lang="en-US" altLang="zh-CN" sz="2000" dirty="0">
                <a:latin typeface="Century Gothic" panose="020B0502020202020204" pitchFamily="34" charset="0"/>
                <a:sym typeface="Wingdings" pitchFamily="2" charset="2"/>
              </a:rPr>
              <a:t>the seats.</a:t>
            </a:r>
          </a:p>
          <a:p>
            <a:pPr marL="457200" lvl="1" indent="0">
              <a:lnSpc>
                <a:spcPct val="100000"/>
              </a:lnSpc>
              <a:buNone/>
            </a:pPr>
            <a:r>
              <a:rPr lang="en-US" altLang="zh-CN" sz="2000" b="1" dirty="0">
                <a:solidFill>
                  <a:srgbClr val="FF0000"/>
                </a:solidFill>
                <a:latin typeface="Constantia" panose="02030602050306030303" pitchFamily="18" charset="0"/>
              </a:rPr>
              <a:t>If you could redesign the congressional election system, would you keep the single-member, first-past-the-post model or replace it with proportional representation? Why?</a:t>
            </a:r>
            <a:endParaRPr kumimoji="1" lang="en-US" altLang="zh-CN" sz="2000" b="1" dirty="0">
              <a:solidFill>
                <a:srgbClr val="FF0000"/>
              </a:solidFill>
              <a:latin typeface="Constantia" panose="02030602050306030303" pitchFamily="18" charset="0"/>
              <a:sym typeface="Wingdings" pitchFamily="2" charset="2"/>
            </a:endParaRPr>
          </a:p>
          <a:p>
            <a:pPr>
              <a:lnSpc>
                <a:spcPct val="100000"/>
              </a:lnSpc>
            </a:pPr>
            <a:endParaRPr kumimoji="1" lang="en-US" altLang="zh-CN" sz="2200" dirty="0">
              <a:latin typeface="Century Gothic" panose="020B0502020202020204" pitchFamily="34" charset="0"/>
            </a:endParaRPr>
          </a:p>
          <a:p>
            <a:pPr>
              <a:lnSpc>
                <a:spcPct val="100000"/>
              </a:lnSpc>
            </a:pPr>
            <a:endParaRPr kumimoji="1" lang="en-US" altLang="zh-CN" sz="2200" dirty="0">
              <a:latin typeface="Century Gothic" panose="020B0502020202020204" pitchFamily="34" charset="0"/>
            </a:endParaRPr>
          </a:p>
        </p:txBody>
      </p:sp>
    </p:spTree>
    <p:extLst>
      <p:ext uri="{BB962C8B-B14F-4D97-AF65-F5344CB8AC3E}">
        <p14:creationId xmlns:p14="http://schemas.microsoft.com/office/powerpoint/2010/main" val="3096586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7828F-98B4-0444-DF92-C3D4A45A147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247DF19-AE2F-E17B-5060-D172DE001C8F}"/>
              </a:ext>
            </a:extLst>
          </p:cNvPr>
          <p:cNvSpPr>
            <a:spLocks noGrp="1"/>
          </p:cNvSpPr>
          <p:nvPr>
            <p:ph type="title"/>
          </p:nvPr>
        </p:nvSpPr>
        <p:spPr>
          <a:xfrm>
            <a:off x="838200" y="18255"/>
            <a:ext cx="10808368" cy="1325563"/>
          </a:xfrm>
        </p:spPr>
        <p:txBody>
          <a:bodyPr>
            <a:normAutofit/>
          </a:bodyPr>
          <a:lstStyle/>
          <a:p>
            <a:r>
              <a:rPr kumimoji="1" lang="en-US" altLang="zh-CN" sz="3600" b="1" dirty="0">
                <a:latin typeface="Century Gothic" panose="020B0502020202020204" pitchFamily="34" charset="0"/>
              </a:rPr>
              <a:t>Campaigns</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AA34461B-7676-BF5C-15AD-6B279E37D30A}"/>
              </a:ext>
            </a:extLst>
          </p:cNvPr>
          <p:cNvSpPr>
            <a:spLocks noGrp="1"/>
          </p:cNvSpPr>
          <p:nvPr>
            <p:ph idx="1"/>
          </p:nvPr>
        </p:nvSpPr>
        <p:spPr>
          <a:xfrm>
            <a:off x="838201" y="1199438"/>
            <a:ext cx="10808367" cy="5658561"/>
          </a:xfrm>
        </p:spPr>
        <p:txBody>
          <a:bodyPr>
            <a:normAutofit/>
          </a:bodyPr>
          <a:lstStyle/>
          <a:p>
            <a:pPr>
              <a:lnSpc>
                <a:spcPct val="100000"/>
              </a:lnSpc>
            </a:pPr>
            <a:r>
              <a:rPr lang="en-US" altLang="zh-CN" sz="2200" b="1" dirty="0">
                <a:latin typeface="Century Gothic" panose="020B0502020202020204" pitchFamily="34" charset="0"/>
              </a:rPr>
              <a:t>Goals of an election campaign</a:t>
            </a:r>
            <a:endParaRPr lang="en-US" altLang="zh-CN" sz="2200" dirty="0">
              <a:latin typeface="Century Gothic" panose="020B0502020202020204" pitchFamily="34" charset="0"/>
            </a:endParaRPr>
          </a:p>
          <a:p>
            <a:pPr lvl="1">
              <a:lnSpc>
                <a:spcPct val="100000"/>
              </a:lnSpc>
            </a:pPr>
            <a:r>
              <a:rPr lang="en-US" altLang="zh-CN" sz="2000" dirty="0">
                <a:latin typeface="Century Gothic" panose="020B0502020202020204" pitchFamily="34" charset="0"/>
              </a:rPr>
              <a:t>Acquiring and analyzing information about voters’ interests (via opinion polls)</a:t>
            </a:r>
          </a:p>
          <a:p>
            <a:pPr lvl="1">
              <a:lnSpc>
                <a:spcPct val="100000"/>
              </a:lnSpc>
            </a:pPr>
            <a:r>
              <a:rPr lang="en-US" altLang="zh-CN" sz="2000" dirty="0">
                <a:latin typeface="Century Gothic" panose="020B0502020202020204" pitchFamily="34" charset="0"/>
              </a:rPr>
              <a:t>Developing a strategy and corresponding tactics to appeal to these interests</a:t>
            </a:r>
          </a:p>
          <a:p>
            <a:pPr lvl="1">
              <a:lnSpc>
                <a:spcPct val="100000"/>
              </a:lnSpc>
            </a:pPr>
            <a:r>
              <a:rPr lang="en-US" altLang="zh-CN" sz="2000" dirty="0">
                <a:latin typeface="Century Gothic" panose="020B0502020202020204" pitchFamily="34" charset="0"/>
              </a:rPr>
              <a:t>Delivering the candidate’s message to the voters (via mass / social media)</a:t>
            </a:r>
          </a:p>
          <a:p>
            <a:pPr lvl="1">
              <a:lnSpc>
                <a:spcPct val="100000"/>
              </a:lnSpc>
            </a:pPr>
            <a:r>
              <a:rPr lang="en-US" altLang="zh-CN" sz="2000" dirty="0">
                <a:latin typeface="Century Gothic" panose="020B0502020202020204" pitchFamily="34" charset="0"/>
              </a:rPr>
              <a:t>Getting voters to cast their ballots</a:t>
            </a:r>
          </a:p>
          <a:p>
            <a:pPr marL="457200" lvl="1" indent="0">
              <a:lnSpc>
                <a:spcPct val="100000"/>
              </a:lnSpc>
              <a:buNone/>
            </a:pPr>
            <a:endParaRPr lang="en-US" altLang="zh-CN" sz="2000" dirty="0">
              <a:latin typeface="Century Gothic" panose="020B0502020202020204" pitchFamily="34" charset="0"/>
            </a:endParaRPr>
          </a:p>
          <a:p>
            <a:pPr>
              <a:lnSpc>
                <a:spcPct val="100000"/>
              </a:lnSpc>
            </a:pPr>
            <a:r>
              <a:rPr lang="en-US" altLang="zh-CN" sz="2200" b="1" dirty="0">
                <a:latin typeface="Century Gothic" panose="020B0502020202020204" pitchFamily="34" charset="0"/>
              </a:rPr>
              <a:t>What influences the achievement of such goals?</a:t>
            </a:r>
          </a:p>
          <a:p>
            <a:pPr lvl="1">
              <a:lnSpc>
                <a:spcPct val="100000"/>
              </a:lnSpc>
              <a:buFont typeface="Wingdings" pitchFamily="2" charset="2"/>
              <a:buChar char="Ø"/>
            </a:pPr>
            <a:r>
              <a:rPr lang="en-US" altLang="zh-CN" sz="2200" dirty="0">
                <a:latin typeface="Century Gothic" panose="020B0502020202020204" pitchFamily="34" charset="0"/>
              </a:rPr>
              <a:t> </a:t>
            </a:r>
            <a:r>
              <a:rPr lang="en-US" altLang="zh-CN" sz="2200" b="1" dirty="0">
                <a:latin typeface="Century Gothic" panose="020B0502020202020204" pitchFamily="34" charset="0"/>
              </a:rPr>
              <a:t>Political context</a:t>
            </a:r>
          </a:p>
          <a:p>
            <a:pPr lvl="2">
              <a:lnSpc>
                <a:spcPct val="100000"/>
              </a:lnSpc>
            </a:pPr>
            <a:r>
              <a:rPr lang="en-US" altLang="zh-CN" dirty="0">
                <a:latin typeface="Century Gothic" panose="020B0502020202020204" pitchFamily="34" charset="0"/>
              </a:rPr>
              <a:t>Role: incumbent or challenger (</a:t>
            </a:r>
            <a:r>
              <a:rPr lang="en-US" altLang="zh-CN" b="1" dirty="0">
                <a:latin typeface="Century Gothic" panose="020B0502020202020204" pitchFamily="34" charset="0"/>
              </a:rPr>
              <a:t>open election </a:t>
            </a:r>
            <a:r>
              <a:rPr lang="en-US" altLang="zh-CN" dirty="0">
                <a:latin typeface="Century Gothic" panose="020B0502020202020204" pitchFamily="34" charset="0"/>
              </a:rPr>
              <a:t>is one lacking an incumbent.)</a:t>
            </a:r>
          </a:p>
          <a:p>
            <a:pPr lvl="2">
              <a:lnSpc>
                <a:spcPct val="100000"/>
              </a:lnSpc>
            </a:pPr>
            <a:r>
              <a:rPr lang="en-US" altLang="zh-CN" dirty="0">
                <a:latin typeface="Century Gothic" panose="020B0502020202020204" pitchFamily="34" charset="0"/>
              </a:rPr>
              <a:t>The office the candidate is seeking: geographical / demographical / professional characteristics? Preferences of the electorate / constituents?</a:t>
            </a:r>
          </a:p>
          <a:p>
            <a:pPr lvl="2">
              <a:lnSpc>
                <a:spcPct val="100000"/>
              </a:lnSpc>
            </a:pPr>
            <a:r>
              <a:rPr lang="en-US" altLang="zh-CN" dirty="0">
                <a:latin typeface="Century Gothic" panose="020B0502020202020204" pitchFamily="34" charset="0"/>
              </a:rPr>
              <a:t>Significant political issues (economic recession, personal scandals, war, COVID, …)</a:t>
            </a:r>
          </a:p>
          <a:p>
            <a:pPr lvl="3">
              <a:lnSpc>
                <a:spcPct val="100000"/>
              </a:lnSpc>
            </a:pPr>
            <a:r>
              <a:rPr lang="en-US" altLang="zh-CN" dirty="0">
                <a:latin typeface="Century Gothic" panose="020B0502020202020204" pitchFamily="34" charset="0"/>
              </a:rPr>
              <a:t>Especially unfriendly to incumbents (2016, 2020, 2024)</a:t>
            </a:r>
          </a:p>
          <a:p>
            <a:pPr lvl="3">
              <a:lnSpc>
                <a:spcPct val="100000"/>
              </a:lnSpc>
            </a:pPr>
            <a:r>
              <a:rPr lang="en-US" altLang="zh-CN" b="1" dirty="0">
                <a:latin typeface="Century Gothic" panose="020B0502020202020204" pitchFamily="34" charset="0"/>
              </a:rPr>
              <a:t>Fundamentals can have a lag to them. (e.g. inflation)</a:t>
            </a:r>
          </a:p>
          <a:p>
            <a:pPr lvl="2">
              <a:lnSpc>
                <a:spcPct val="100000"/>
              </a:lnSpc>
            </a:pPr>
            <a:endParaRPr lang="en-US" altLang="zh-CN"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813278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FAF5E-D570-B5BE-4D22-4144DFF6C5A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39C1C78-0A66-128F-184D-54F644B58DEC}"/>
              </a:ext>
            </a:extLst>
          </p:cNvPr>
          <p:cNvSpPr>
            <a:spLocks noGrp="1"/>
          </p:cNvSpPr>
          <p:nvPr>
            <p:ph type="title"/>
          </p:nvPr>
        </p:nvSpPr>
        <p:spPr>
          <a:xfrm>
            <a:off x="549441" y="-142166"/>
            <a:ext cx="10808368" cy="1325563"/>
          </a:xfrm>
        </p:spPr>
        <p:txBody>
          <a:bodyPr>
            <a:normAutofit/>
          </a:bodyPr>
          <a:lstStyle/>
          <a:p>
            <a:r>
              <a:rPr kumimoji="1" lang="en-US" altLang="zh-CN" sz="3600" b="1" dirty="0">
                <a:latin typeface="Century Gothic" panose="020B0502020202020204" pitchFamily="34" charset="0"/>
              </a:rPr>
              <a:t>Campaigns (cont`d)</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57CC641D-A8B5-883C-8414-9029EBDAE497}"/>
              </a:ext>
            </a:extLst>
          </p:cNvPr>
          <p:cNvSpPr>
            <a:spLocks noGrp="1"/>
          </p:cNvSpPr>
          <p:nvPr>
            <p:ph idx="1"/>
          </p:nvPr>
        </p:nvSpPr>
        <p:spPr>
          <a:xfrm>
            <a:off x="549441" y="972637"/>
            <a:ext cx="11470105" cy="6198184"/>
          </a:xfrm>
        </p:spPr>
        <p:txBody>
          <a:bodyPr>
            <a:normAutofit/>
          </a:bodyPr>
          <a:lstStyle/>
          <a:p>
            <a:pPr>
              <a:lnSpc>
                <a:spcPct val="100000"/>
              </a:lnSpc>
              <a:buFont typeface="Wingdings" pitchFamily="2" charset="2"/>
              <a:buChar char="Ø"/>
            </a:pPr>
            <a:r>
              <a:rPr lang="en-US" altLang="zh-CN" sz="2200" b="1" dirty="0">
                <a:latin typeface="Century Gothic" panose="020B0502020202020204" pitchFamily="34" charset="0"/>
              </a:rPr>
              <a:t> Financing</a:t>
            </a:r>
            <a:endParaRPr lang="en-US" altLang="zh-CN" sz="2200" dirty="0">
              <a:latin typeface="Century Gothic" panose="020B0502020202020204" pitchFamily="34" charset="0"/>
            </a:endParaRPr>
          </a:p>
          <a:p>
            <a:pPr lvl="1">
              <a:lnSpc>
                <a:spcPct val="100000"/>
              </a:lnSpc>
            </a:pPr>
            <a:r>
              <a:rPr lang="en-US" altLang="zh-CN" sz="2000" dirty="0">
                <a:latin typeface="Century Gothic" panose="020B0502020202020204" pitchFamily="34" charset="0"/>
              </a:rPr>
              <a:t>Regulating campaign financing</a:t>
            </a:r>
          </a:p>
          <a:p>
            <a:pPr lvl="2">
              <a:lnSpc>
                <a:spcPct val="100000"/>
              </a:lnSpc>
            </a:pPr>
            <a:r>
              <a:rPr lang="en-US" altLang="zh-CN" sz="1800" b="1" dirty="0">
                <a:latin typeface="Century Gothic" panose="020B0502020202020204" pitchFamily="34" charset="0"/>
              </a:rPr>
              <a:t>1971, the Federal Election Campaign Act (FECA): </a:t>
            </a:r>
            <a:r>
              <a:rPr lang="en-US" altLang="zh-CN" sz="1800" dirty="0">
                <a:latin typeface="Century Gothic" panose="020B0502020202020204" pitchFamily="34" charset="0"/>
              </a:rPr>
              <a:t>party-reform era; limiting media spending and imposing new rules for full reporting of campaign contributions &amp; expenditures</a:t>
            </a:r>
          </a:p>
          <a:p>
            <a:pPr lvl="2">
              <a:lnSpc>
                <a:spcPct val="100000"/>
              </a:lnSpc>
            </a:pPr>
            <a:r>
              <a:rPr lang="en-US" altLang="zh-CN" sz="1800" b="1" dirty="0">
                <a:latin typeface="Century Gothic" panose="020B0502020202020204" pitchFamily="34" charset="0"/>
              </a:rPr>
              <a:t>1974, the Federal Election Commission (FEC): </a:t>
            </a:r>
            <a:r>
              <a:rPr lang="en-US" altLang="zh-CN" sz="1800" dirty="0">
                <a:latin typeface="Century Gothic" panose="020B0502020202020204" pitchFamily="34" charset="0"/>
              </a:rPr>
              <a:t>an independent agency that oversees the financing of national election campaigns (but hardly “independent”)</a:t>
            </a:r>
          </a:p>
          <a:p>
            <a:pPr lvl="2">
              <a:lnSpc>
                <a:spcPct val="100000"/>
              </a:lnSpc>
            </a:pPr>
            <a:r>
              <a:rPr lang="en-US" altLang="zh-CN" sz="1800" b="1" dirty="0">
                <a:latin typeface="Century Gothic" panose="020B0502020202020204" pitchFamily="34" charset="0"/>
              </a:rPr>
              <a:t>Political action committees (PACs):  </a:t>
            </a:r>
            <a:r>
              <a:rPr lang="en-US" altLang="zh-CN" sz="1800" dirty="0">
                <a:latin typeface="Century Gothic" panose="020B0502020202020204" pitchFamily="34" charset="0"/>
              </a:rPr>
              <a:t>under limits, it can collect campaign contributions from group members and donates them to candidates for political office</a:t>
            </a:r>
          </a:p>
          <a:p>
            <a:pPr lvl="2">
              <a:lnSpc>
                <a:spcPct val="100000"/>
              </a:lnSpc>
            </a:pPr>
            <a:r>
              <a:rPr lang="en-US" altLang="zh-CN" sz="1800" b="1" dirty="0">
                <a:latin typeface="Century Gothic" panose="020B0502020202020204" pitchFamily="34" charset="0"/>
              </a:rPr>
              <a:t>1976, SC </a:t>
            </a:r>
            <a:r>
              <a:rPr lang="en-US" altLang="zh-CN" sz="1800" dirty="0">
                <a:latin typeface="Century Gothic" panose="020B0502020202020204" pitchFamily="34" charset="0"/>
              </a:rPr>
              <a:t>upheld limits on </a:t>
            </a:r>
            <a:r>
              <a:rPr lang="en-US" altLang="zh-CN" sz="1800" b="1" dirty="0">
                <a:latin typeface="Century Gothic" panose="020B0502020202020204" pitchFamily="34" charset="0"/>
              </a:rPr>
              <a:t>contributions</a:t>
            </a:r>
            <a:r>
              <a:rPr lang="en-US" altLang="zh-CN" sz="1800" dirty="0">
                <a:latin typeface="Century Gothic" panose="020B0502020202020204" pitchFamily="34" charset="0"/>
              </a:rPr>
              <a:t> while striking down limits on </a:t>
            </a:r>
            <a:r>
              <a:rPr lang="en-US" altLang="zh-CN" sz="1800" b="1" dirty="0">
                <a:latin typeface="Century Gothic" panose="020B0502020202020204" pitchFamily="34" charset="0"/>
              </a:rPr>
              <a:t>spending by individuals or organizations made independently</a:t>
            </a:r>
            <a:r>
              <a:rPr lang="en-US" altLang="zh-CN" sz="1800" dirty="0">
                <a:latin typeface="Century Gothic" panose="020B0502020202020204" pitchFamily="34" charset="0"/>
              </a:rPr>
              <a:t> on behalf of national candidate (free speech)</a:t>
            </a:r>
          </a:p>
          <a:p>
            <a:pPr lvl="2">
              <a:lnSpc>
                <a:spcPct val="100000"/>
              </a:lnSpc>
            </a:pPr>
            <a:r>
              <a:rPr lang="en-US" altLang="zh-CN" sz="1800" b="1" dirty="0">
                <a:latin typeface="Century Gothic" panose="020B0502020202020204" pitchFamily="34" charset="0"/>
              </a:rPr>
              <a:t>2002</a:t>
            </a:r>
            <a:r>
              <a:rPr lang="en-US" altLang="zh-CN" sz="1800" dirty="0">
                <a:latin typeface="Century Gothic" panose="020B0502020202020204" pitchFamily="34" charset="0"/>
              </a:rPr>
              <a:t>, the Bipartisan Campaign Reform Act (BCRA) raised old limits on individual spending.</a:t>
            </a:r>
          </a:p>
          <a:p>
            <a:pPr lvl="2">
              <a:lnSpc>
                <a:spcPct val="100000"/>
              </a:lnSpc>
            </a:pPr>
            <a:r>
              <a:rPr lang="en-US" altLang="zh-CN" sz="1800" b="1" dirty="0">
                <a:latin typeface="Century Gothic" panose="020B0502020202020204" pitchFamily="34" charset="0"/>
              </a:rPr>
              <a:t>2007, SC </a:t>
            </a:r>
            <a:r>
              <a:rPr lang="en-US" altLang="zh-CN" sz="1800" dirty="0">
                <a:latin typeface="Century Gothic" panose="020B0502020202020204" pitchFamily="34" charset="0"/>
              </a:rPr>
              <a:t>struck down BCRA’s ban of issue ads run before elections</a:t>
            </a:r>
          </a:p>
          <a:p>
            <a:pPr lvl="2">
              <a:lnSpc>
                <a:spcPct val="100000"/>
              </a:lnSpc>
            </a:pPr>
            <a:r>
              <a:rPr lang="en-US" altLang="zh-CN" sz="1800" b="1" dirty="0">
                <a:latin typeface="Century Gothic" panose="020B0502020202020204" pitchFamily="34" charset="0"/>
              </a:rPr>
              <a:t>2010, SC </a:t>
            </a:r>
            <a:r>
              <a:rPr lang="en-US" altLang="zh-CN" sz="1800" dirty="0">
                <a:latin typeface="Century Gothic" panose="020B0502020202020204" pitchFamily="34" charset="0"/>
              </a:rPr>
              <a:t>ruled against BCRA’s ban on spending by corporations in candidate elections</a:t>
            </a:r>
          </a:p>
          <a:p>
            <a:pPr lvl="2">
              <a:lnSpc>
                <a:spcPct val="100000"/>
              </a:lnSpc>
            </a:pPr>
            <a:r>
              <a:rPr lang="en-US" altLang="zh-CN" sz="1800" b="1" dirty="0">
                <a:latin typeface="Century Gothic" panose="020B0502020202020204" pitchFamily="34" charset="0"/>
              </a:rPr>
              <a:t>2010, SC </a:t>
            </a:r>
            <a:r>
              <a:rPr lang="en-US" altLang="zh-CN" sz="1800" dirty="0">
                <a:latin typeface="Century Gothic" panose="020B0502020202020204" pitchFamily="34" charset="0"/>
              </a:rPr>
              <a:t>legalized Super PACs – No limit on independent private money</a:t>
            </a:r>
          </a:p>
          <a:p>
            <a:pPr lvl="2">
              <a:lnSpc>
                <a:spcPct val="100000"/>
              </a:lnSpc>
            </a:pPr>
            <a:r>
              <a:rPr lang="en-US" altLang="zh-CN" sz="1800" b="1" dirty="0">
                <a:latin typeface="Century Gothic" panose="020B0502020202020204" pitchFamily="34" charset="0"/>
              </a:rPr>
              <a:t>2014, SC </a:t>
            </a:r>
            <a:r>
              <a:rPr lang="en-US" altLang="zh-CN" sz="1800" dirty="0">
                <a:latin typeface="Century Gothic" panose="020B0502020202020204" pitchFamily="34" charset="0"/>
              </a:rPr>
              <a:t>struck down all limits on contributions</a:t>
            </a:r>
          </a:p>
          <a:p>
            <a:pPr marL="457200" lvl="1" indent="0">
              <a:lnSpc>
                <a:spcPct val="100000"/>
              </a:lnSpc>
              <a:buNone/>
            </a:pPr>
            <a:r>
              <a:rPr lang="en-US" altLang="zh-CN" sz="2000" b="1" dirty="0">
                <a:solidFill>
                  <a:srgbClr val="FF0000"/>
                </a:solidFill>
                <a:latin typeface="Constantia" panose="02030602050306030303" pitchFamily="18" charset="0"/>
              </a:rPr>
              <a:t>Early reforms in the 1970s aimed to limit the role of money in politics, yet Supreme Court rulings since then have repeatedly weakened these restrictions. Why does U.S. campaign finance reform move “two steps forward, one step back”?</a:t>
            </a:r>
          </a:p>
          <a:p>
            <a:pPr lvl="2">
              <a:lnSpc>
                <a:spcPct val="100000"/>
              </a:lnSpc>
            </a:pPr>
            <a:endParaRPr lang="en-US" altLang="zh-CN"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4018986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E340D-1C03-AD22-729D-231CA144F6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2586552-BE1A-B404-8948-7BE533162351}"/>
              </a:ext>
            </a:extLst>
          </p:cNvPr>
          <p:cNvSpPr>
            <a:spLocks noGrp="1"/>
          </p:cNvSpPr>
          <p:nvPr>
            <p:ph type="title"/>
          </p:nvPr>
        </p:nvSpPr>
        <p:spPr>
          <a:xfrm>
            <a:off x="838200" y="18255"/>
            <a:ext cx="10808368" cy="1325563"/>
          </a:xfrm>
        </p:spPr>
        <p:txBody>
          <a:bodyPr>
            <a:normAutofit/>
          </a:bodyPr>
          <a:lstStyle/>
          <a:p>
            <a:r>
              <a:rPr kumimoji="1" lang="en-US" altLang="zh-CN" sz="3600" b="1" dirty="0">
                <a:latin typeface="Century Gothic" panose="020B0502020202020204" pitchFamily="34" charset="0"/>
              </a:rPr>
              <a:t>Campaigns</a:t>
            </a:r>
            <a:r>
              <a:rPr kumimoji="1" lang="zh-CN" altLang="en-US" sz="3600" b="1" dirty="0">
                <a:latin typeface="Century Gothic" panose="020B0502020202020204" pitchFamily="34" charset="0"/>
              </a:rPr>
              <a:t> </a:t>
            </a:r>
            <a:r>
              <a:rPr kumimoji="1" lang="en-US" altLang="zh-CN" sz="3600" b="1" dirty="0">
                <a:latin typeface="Century Gothic" panose="020B0502020202020204" pitchFamily="34" charset="0"/>
              </a:rPr>
              <a:t>(cont`d)</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A83DC5EA-B387-223C-FAC5-75B31A05BF02}"/>
              </a:ext>
            </a:extLst>
          </p:cNvPr>
          <p:cNvSpPr>
            <a:spLocks noGrp="1"/>
          </p:cNvSpPr>
          <p:nvPr>
            <p:ph idx="1"/>
          </p:nvPr>
        </p:nvSpPr>
        <p:spPr>
          <a:xfrm>
            <a:off x="838201" y="1199438"/>
            <a:ext cx="11000873" cy="5658561"/>
          </a:xfrm>
        </p:spPr>
        <p:txBody>
          <a:bodyPr>
            <a:normAutofit/>
          </a:bodyPr>
          <a:lstStyle/>
          <a:p>
            <a:pPr>
              <a:lnSpc>
                <a:spcPct val="100000"/>
              </a:lnSpc>
              <a:buFont typeface="Wingdings" pitchFamily="2" charset="2"/>
              <a:buChar char="Ø"/>
            </a:pPr>
            <a:r>
              <a:rPr lang="en-US" altLang="zh-CN" sz="2200" b="1" dirty="0">
                <a:latin typeface="Century Gothic" panose="020B0502020202020204" pitchFamily="34" charset="0"/>
              </a:rPr>
              <a:t> Financing</a:t>
            </a:r>
            <a:endParaRPr lang="en-US" altLang="zh-CN" sz="2200" dirty="0">
              <a:latin typeface="Century Gothic" panose="020B0502020202020204" pitchFamily="34" charset="0"/>
            </a:endParaRPr>
          </a:p>
          <a:p>
            <a:pPr lvl="1">
              <a:lnSpc>
                <a:spcPct val="100000"/>
              </a:lnSpc>
            </a:pPr>
            <a:r>
              <a:rPr lang="en-US" altLang="zh-CN" sz="2000" b="1" dirty="0">
                <a:latin typeface="Century Gothic" panose="020B0502020202020204" pitchFamily="34" charset="0"/>
              </a:rPr>
              <a:t>Public financing of presidential campaigns (originated from the 1974 FECA)</a:t>
            </a:r>
          </a:p>
          <a:p>
            <a:pPr lvl="2">
              <a:lnSpc>
                <a:spcPct val="100000"/>
              </a:lnSpc>
            </a:pPr>
            <a:r>
              <a:rPr lang="en-US" altLang="zh-CN" sz="1800" dirty="0">
                <a:latin typeface="Century Gothic" panose="020B0502020202020204" pitchFamily="34" charset="0"/>
              </a:rPr>
              <a:t>It has become much less important this century, both in primaries and general elections.</a:t>
            </a:r>
          </a:p>
          <a:p>
            <a:pPr lvl="2">
              <a:lnSpc>
                <a:spcPct val="100000"/>
              </a:lnSpc>
            </a:pPr>
            <a:r>
              <a:rPr lang="en-US" altLang="zh-CN" sz="1800" dirty="0">
                <a:latin typeface="Century Gothic" panose="020B0502020202020204" pitchFamily="34" charset="0"/>
              </a:rPr>
              <a:t>The president candidate can </a:t>
            </a:r>
            <a:r>
              <a:rPr lang="en-US" altLang="zh-CN" sz="1800" b="1" dirty="0">
                <a:latin typeface="Century Gothic" panose="020B0502020202020204" pitchFamily="34" charset="0"/>
              </a:rPr>
              <a:t>EITHER</a:t>
            </a:r>
            <a:r>
              <a:rPr lang="en-US" altLang="zh-CN" sz="1800" dirty="0">
                <a:latin typeface="Century Gothic" panose="020B0502020202020204" pitchFamily="34" charset="0"/>
              </a:rPr>
              <a:t> get public funds </a:t>
            </a:r>
            <a:r>
              <a:rPr lang="en-US" altLang="zh-CN" sz="1800" b="1" dirty="0">
                <a:latin typeface="Century Gothic" panose="020B0502020202020204" pitchFamily="34" charset="0"/>
              </a:rPr>
              <a:t>OR</a:t>
            </a:r>
            <a:r>
              <a:rPr lang="en-US" altLang="zh-CN" sz="1800" dirty="0">
                <a:latin typeface="Century Gothic" panose="020B0502020202020204" pitchFamily="34" charset="0"/>
              </a:rPr>
              <a:t> receive private money.</a:t>
            </a:r>
          </a:p>
          <a:p>
            <a:pPr lvl="2">
              <a:lnSpc>
                <a:spcPct val="100000"/>
              </a:lnSpc>
            </a:pPr>
            <a:r>
              <a:rPr lang="en-US" altLang="zh-CN" sz="1800" dirty="0">
                <a:latin typeface="Century Gothic" panose="020B0502020202020204" pitchFamily="34" charset="0"/>
              </a:rPr>
              <a:t>In a word, public financing is insufficient to cover a big election campaign, and tends to be abandoned in practice.</a:t>
            </a:r>
          </a:p>
          <a:p>
            <a:pPr lvl="2">
              <a:lnSpc>
                <a:spcPct val="100000"/>
              </a:lnSpc>
            </a:pPr>
            <a:endParaRPr lang="en-US" altLang="zh-CN" sz="1000" dirty="0">
              <a:latin typeface="Century Gothic" panose="020B0502020202020204" pitchFamily="34" charset="0"/>
            </a:endParaRPr>
          </a:p>
          <a:p>
            <a:pPr lvl="1">
              <a:lnSpc>
                <a:spcPct val="100000"/>
              </a:lnSpc>
            </a:pPr>
            <a:r>
              <a:rPr lang="en-US" altLang="zh-CN" sz="2000" b="1" dirty="0">
                <a:latin typeface="Century Gothic" panose="020B0502020202020204" pitchFamily="34" charset="0"/>
              </a:rPr>
              <a:t>Private financing of congressional campaigns</a:t>
            </a:r>
          </a:p>
          <a:p>
            <a:pPr lvl="2">
              <a:lnSpc>
                <a:spcPct val="100000"/>
              </a:lnSpc>
            </a:pPr>
            <a:r>
              <a:rPr lang="en-US" altLang="zh-CN" sz="1800" dirty="0">
                <a:latin typeface="Century Gothic" panose="020B0502020202020204" pitchFamily="34" charset="0"/>
              </a:rPr>
              <a:t>Each party has separate House and Senate campaign committees that aid its congressional candidates.</a:t>
            </a:r>
          </a:p>
          <a:p>
            <a:pPr lvl="2">
              <a:lnSpc>
                <a:spcPct val="100000"/>
              </a:lnSpc>
            </a:pPr>
            <a:r>
              <a:rPr lang="en-US" altLang="zh-CN" sz="1800" dirty="0">
                <a:latin typeface="Century Gothic" panose="020B0502020202020204" pitchFamily="34" charset="0"/>
              </a:rPr>
              <a:t>Candidates can also raise campaign funds themselves, and typically they get more than that from the committees.</a:t>
            </a:r>
          </a:p>
          <a:p>
            <a:pPr marL="914400" lvl="2" indent="0">
              <a:lnSpc>
                <a:spcPct val="100000"/>
              </a:lnSpc>
              <a:buNone/>
            </a:pPr>
            <a:endParaRPr lang="en-US" altLang="zh-CN" sz="1000" dirty="0">
              <a:latin typeface="Century Gothic" panose="020B0502020202020204" pitchFamily="34" charset="0"/>
            </a:endParaRPr>
          </a:p>
          <a:p>
            <a:pPr marL="457200" lvl="1" indent="0">
              <a:lnSpc>
                <a:spcPct val="100000"/>
              </a:lnSpc>
              <a:buNone/>
            </a:pPr>
            <a:r>
              <a:rPr lang="en-US" altLang="zh-CN" sz="2000" b="1" dirty="0">
                <a:solidFill>
                  <a:srgbClr val="FF0000"/>
                </a:solidFill>
                <a:latin typeface="Constantia" panose="02030602050306030303" pitchFamily="18" charset="0"/>
              </a:rPr>
              <a:t>Why are presidential candidates in the United States prohibited from receiving both public funding and private contributions, while congressional candidates are allowed to accept funds from both individuals and political committees?</a:t>
            </a:r>
          </a:p>
          <a:p>
            <a:pPr lvl="1">
              <a:lnSpc>
                <a:spcPct val="100000"/>
              </a:lnSpc>
            </a:pPr>
            <a:endParaRPr lang="en-US" altLang="zh-CN" sz="2000" dirty="0">
              <a:latin typeface="Century Gothic" panose="020B0502020202020204" pitchFamily="34" charset="0"/>
            </a:endParaRPr>
          </a:p>
          <a:p>
            <a:pPr lvl="1">
              <a:lnSpc>
                <a:spcPct val="100000"/>
              </a:lnSpc>
            </a:pPr>
            <a:endParaRPr lang="en-US" altLang="zh-CN" sz="20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26685630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6A159-6E09-DF20-2CF9-5B674EF48B2E}"/>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204DB59-FBA6-E571-4BCA-B4175B80B8C1}"/>
              </a:ext>
            </a:extLst>
          </p:cNvPr>
          <p:cNvSpPr>
            <a:spLocks noGrp="1"/>
          </p:cNvSpPr>
          <p:nvPr>
            <p:ph idx="1"/>
          </p:nvPr>
        </p:nvSpPr>
        <p:spPr>
          <a:xfrm>
            <a:off x="548251" y="1085339"/>
            <a:ext cx="10959808" cy="5772661"/>
          </a:xfrm>
        </p:spPr>
        <p:txBody>
          <a:bodyPr>
            <a:normAutofit/>
          </a:bodyPr>
          <a:lstStyle/>
          <a:p>
            <a:pPr>
              <a:lnSpc>
                <a:spcPct val="100000"/>
              </a:lnSpc>
              <a:buFont typeface="Wingdings" pitchFamily="2" charset="2"/>
              <a:buChar char="Ø"/>
            </a:pPr>
            <a:r>
              <a:rPr lang="en-US" altLang="zh-CN" sz="2200" b="1" dirty="0">
                <a:latin typeface="Century Gothic" panose="020B0502020202020204" pitchFamily="34" charset="0"/>
              </a:rPr>
              <a:t> Strategies</a:t>
            </a:r>
            <a:endParaRPr lang="en-US" altLang="zh-CN" sz="2200" dirty="0">
              <a:latin typeface="Century Gothic" panose="020B0502020202020204" pitchFamily="34" charset="0"/>
            </a:endParaRPr>
          </a:p>
          <a:p>
            <a:pPr lvl="1">
              <a:lnSpc>
                <a:spcPct val="120000"/>
              </a:lnSpc>
            </a:pPr>
            <a:r>
              <a:rPr lang="en-US" altLang="zh-CN" sz="2000" b="1" dirty="0">
                <a:latin typeface="Century Gothic" panose="020B0502020202020204" pitchFamily="34" charset="0"/>
              </a:rPr>
              <a:t>Party-centered strategy</a:t>
            </a:r>
            <a:r>
              <a:rPr lang="en-US" altLang="zh-CN" sz="2000" dirty="0">
                <a:latin typeface="Century Gothic" panose="020B0502020202020204" pitchFamily="34" charset="0"/>
              </a:rPr>
              <a:t>: relying on voters’ party identification</a:t>
            </a:r>
          </a:p>
          <a:p>
            <a:pPr lvl="1">
              <a:lnSpc>
                <a:spcPct val="120000"/>
              </a:lnSpc>
            </a:pPr>
            <a:r>
              <a:rPr lang="en-US" altLang="zh-CN" sz="2000" b="1" dirty="0">
                <a:latin typeface="Century Gothic" panose="020B0502020202020204" pitchFamily="34" charset="0"/>
              </a:rPr>
              <a:t>Issue-oriented strategy</a:t>
            </a:r>
            <a:r>
              <a:rPr lang="en-US" altLang="zh-CN" sz="2000" dirty="0">
                <a:latin typeface="Century Gothic" panose="020B0502020202020204" pitchFamily="34" charset="0"/>
              </a:rPr>
              <a:t>: talking about substantive policies</a:t>
            </a:r>
          </a:p>
          <a:p>
            <a:pPr lvl="1">
              <a:lnSpc>
                <a:spcPct val="120000"/>
              </a:lnSpc>
            </a:pPr>
            <a:r>
              <a:rPr lang="en-US" altLang="zh-CN" sz="2000" b="1" dirty="0">
                <a:latin typeface="Century Gothic" panose="020B0502020202020204" pitchFamily="34" charset="0"/>
              </a:rPr>
              <a:t>Candidate-oriented strategy</a:t>
            </a:r>
            <a:r>
              <a:rPr lang="en-US" altLang="zh-CN" sz="2000" dirty="0">
                <a:latin typeface="Century Gothic" panose="020B0502020202020204" pitchFamily="34" charset="0"/>
              </a:rPr>
              <a:t>: the candidate’s perceived personal qualities</a:t>
            </a:r>
          </a:p>
          <a:p>
            <a:pPr>
              <a:lnSpc>
                <a:spcPct val="100000"/>
              </a:lnSpc>
              <a:buFont typeface="Wingdings" pitchFamily="2" charset="2"/>
              <a:buChar char="Ø"/>
            </a:pPr>
            <a:r>
              <a:rPr lang="en-US" altLang="zh-CN" sz="2200" b="1" dirty="0">
                <a:latin typeface="Century Gothic" panose="020B0502020202020204" pitchFamily="34" charset="0"/>
              </a:rPr>
              <a:t> Tactics</a:t>
            </a:r>
            <a:endParaRPr lang="en-US" altLang="zh-CN" sz="2200" dirty="0">
              <a:latin typeface="Century Gothic" panose="020B0502020202020204" pitchFamily="34" charset="0"/>
            </a:endParaRPr>
          </a:p>
          <a:p>
            <a:pPr lvl="1">
              <a:lnSpc>
                <a:spcPct val="100000"/>
              </a:lnSpc>
            </a:pPr>
            <a:r>
              <a:rPr lang="en-US" altLang="zh-CN" sz="2000" b="1" dirty="0">
                <a:latin typeface="Century Gothic" panose="020B0502020202020204" pitchFamily="34" charset="0"/>
              </a:rPr>
              <a:t>Making the news: </a:t>
            </a:r>
            <a:r>
              <a:rPr lang="en-US" altLang="zh-CN" sz="2000" dirty="0">
                <a:latin typeface="Century Gothic" panose="020B0502020202020204" pitchFamily="34" charset="0"/>
              </a:rPr>
              <a:t>free, and seems objective to the audience</a:t>
            </a:r>
          </a:p>
          <a:p>
            <a:pPr lvl="1">
              <a:lnSpc>
                <a:spcPct val="100000"/>
              </a:lnSpc>
            </a:pPr>
            <a:r>
              <a:rPr lang="en-US" altLang="zh-CN" sz="2000" b="1" dirty="0">
                <a:latin typeface="Century Gothic" panose="020B0502020202020204" pitchFamily="34" charset="0"/>
              </a:rPr>
              <a:t>Advertising the candidate: </a:t>
            </a:r>
            <a:r>
              <a:rPr lang="en-US" altLang="zh-CN" sz="2000" dirty="0">
                <a:latin typeface="Century Gothic" panose="020B0502020202020204" pitchFamily="34" charset="0"/>
              </a:rPr>
              <a:t>raising name recognition, presenting their virtues, and attacking one’s opponent or playing on emotions</a:t>
            </a:r>
          </a:p>
          <a:p>
            <a:pPr lvl="1">
              <a:lnSpc>
                <a:spcPct val="100000"/>
              </a:lnSpc>
            </a:pPr>
            <a:r>
              <a:rPr lang="en-US" altLang="zh-CN" sz="2000" b="1" dirty="0">
                <a:latin typeface="Century Gothic" panose="020B0502020202020204" pitchFamily="34" charset="0"/>
              </a:rPr>
              <a:t>Using the Internet and social media: </a:t>
            </a:r>
            <a:r>
              <a:rPr lang="en-US" altLang="zh-CN" sz="2000" dirty="0">
                <a:latin typeface="Century Gothic" panose="020B0502020202020204" pitchFamily="34" charset="0"/>
              </a:rPr>
              <a:t>cheap, timely targeted ads; sometimes leading to junk news</a:t>
            </a:r>
          </a:p>
          <a:p>
            <a:pPr lvl="1">
              <a:lnSpc>
                <a:spcPct val="100000"/>
              </a:lnSpc>
            </a:pPr>
            <a:endParaRPr lang="en-US" altLang="zh-CN" sz="1000" dirty="0">
              <a:latin typeface="Century Gothic" panose="020B0502020202020204" pitchFamily="34" charset="0"/>
            </a:endParaRPr>
          </a:p>
          <a:p>
            <a:pPr marL="0" indent="0">
              <a:lnSpc>
                <a:spcPct val="100000"/>
              </a:lnSpc>
              <a:buNone/>
            </a:pPr>
            <a:r>
              <a:rPr lang="en-US" altLang="zh-CN" sz="2000" b="1" dirty="0">
                <a:solidFill>
                  <a:srgbClr val="FF0000"/>
                </a:solidFill>
                <a:highlight>
                  <a:srgbClr val="FFFF00"/>
                </a:highlight>
                <a:latin typeface="Constantia" panose="02030602050306030303" pitchFamily="18" charset="0"/>
              </a:rPr>
              <a:t>What do you think contributes more to the outcome of the election, campaigns or governance performance?</a:t>
            </a:r>
          </a:p>
          <a:p>
            <a:pPr marL="0" indent="0">
              <a:lnSpc>
                <a:spcPct val="100000"/>
              </a:lnSpc>
              <a:buNone/>
            </a:pPr>
            <a:r>
              <a:rPr kumimoji="1" lang="en-US" altLang="zh-CN" sz="2000" b="1" dirty="0">
                <a:solidFill>
                  <a:srgbClr val="FF0000"/>
                </a:solidFill>
                <a:latin typeface="Constantia" panose="02030602050306030303" pitchFamily="18" charset="0"/>
              </a:rPr>
              <a:t>Should overt bias / discrimination / hate speech be allowed in campaigns?</a:t>
            </a:r>
          </a:p>
        </p:txBody>
      </p:sp>
      <p:sp>
        <p:nvSpPr>
          <p:cNvPr id="7" name="标题 1">
            <a:extLst>
              <a:ext uri="{FF2B5EF4-FFF2-40B4-BE49-F238E27FC236}">
                <a16:creationId xmlns:a16="http://schemas.microsoft.com/office/drawing/2014/main" id="{C753FB3A-F8D3-064D-442A-DC7D8012FA2B}"/>
              </a:ext>
            </a:extLst>
          </p:cNvPr>
          <p:cNvSpPr txBox="1">
            <a:spLocks/>
          </p:cNvSpPr>
          <p:nvPr/>
        </p:nvSpPr>
        <p:spPr>
          <a:xfrm>
            <a:off x="548251" y="0"/>
            <a:ext cx="1164374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1" lang="en-US" altLang="zh-CN" sz="3600" b="1" dirty="0">
                <a:latin typeface="Century Gothic" panose="020B0502020202020204" pitchFamily="34" charset="0"/>
              </a:rPr>
              <a:t>Campaigns</a:t>
            </a:r>
            <a:r>
              <a:rPr kumimoji="1" lang="zh-CN" altLang="en-US" sz="3600" b="1" dirty="0">
                <a:latin typeface="Century Gothic" panose="020B0502020202020204" pitchFamily="34" charset="0"/>
              </a:rPr>
              <a:t> </a:t>
            </a:r>
            <a:r>
              <a:rPr kumimoji="1" lang="en-US" altLang="zh-CN" sz="3600" b="1" dirty="0">
                <a:latin typeface="Century Gothic" panose="020B0502020202020204" pitchFamily="34" charset="0"/>
              </a:rPr>
              <a:t>(cont`d)</a:t>
            </a:r>
            <a:endParaRPr kumimoji="1" lang="zh-CN" altLang="en-US" sz="3600" b="1" dirty="0">
              <a:latin typeface="Century Gothic" panose="020B0502020202020204" pitchFamily="34" charset="0"/>
            </a:endParaRPr>
          </a:p>
        </p:txBody>
      </p:sp>
    </p:spTree>
    <p:extLst>
      <p:ext uri="{BB962C8B-B14F-4D97-AF65-F5344CB8AC3E}">
        <p14:creationId xmlns:p14="http://schemas.microsoft.com/office/powerpoint/2010/main" val="1282128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2F371-8277-9912-60D3-0DE3247C124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F55984-F085-B467-7DB2-611719B8187C}"/>
              </a:ext>
            </a:extLst>
          </p:cNvPr>
          <p:cNvSpPr>
            <a:spLocks noGrp="1"/>
          </p:cNvSpPr>
          <p:nvPr>
            <p:ph type="title"/>
          </p:nvPr>
        </p:nvSpPr>
        <p:spPr>
          <a:xfrm>
            <a:off x="838200" y="18255"/>
            <a:ext cx="10808368" cy="1325563"/>
          </a:xfrm>
        </p:spPr>
        <p:txBody>
          <a:bodyPr>
            <a:normAutofit/>
          </a:bodyPr>
          <a:lstStyle/>
          <a:p>
            <a:r>
              <a:rPr kumimoji="1" lang="en-US" altLang="zh-CN" sz="3600" b="1" dirty="0">
                <a:latin typeface="Century Gothic" panose="020B0502020202020204" pitchFamily="34" charset="0"/>
              </a:rPr>
              <a:t>Explaining Voting</a:t>
            </a:r>
            <a:r>
              <a:rPr kumimoji="1" lang="zh-CN" altLang="en-US" sz="3600" b="1" dirty="0">
                <a:latin typeface="Century Gothic" panose="020B0502020202020204" pitchFamily="34" charset="0"/>
              </a:rPr>
              <a:t> </a:t>
            </a:r>
            <a:r>
              <a:rPr kumimoji="1" lang="en-US" altLang="zh-CN" sz="3600" b="1" dirty="0">
                <a:latin typeface="Century Gothic" panose="020B0502020202020204" pitchFamily="34" charset="0"/>
              </a:rPr>
              <a:t>Choice</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28D22B7A-1CEB-7C67-C40C-28E6A6DE54A7}"/>
              </a:ext>
            </a:extLst>
          </p:cNvPr>
          <p:cNvSpPr>
            <a:spLocks noGrp="1"/>
          </p:cNvSpPr>
          <p:nvPr>
            <p:ph idx="1"/>
          </p:nvPr>
        </p:nvSpPr>
        <p:spPr>
          <a:xfrm>
            <a:off x="838201" y="1199438"/>
            <a:ext cx="11000873" cy="5658561"/>
          </a:xfrm>
        </p:spPr>
        <p:txBody>
          <a:bodyPr>
            <a:normAutofit/>
          </a:bodyPr>
          <a:lstStyle/>
          <a:p>
            <a:pPr>
              <a:lnSpc>
                <a:spcPct val="100000"/>
              </a:lnSpc>
            </a:pPr>
            <a:r>
              <a:rPr lang="en-US" altLang="zh-CN" sz="2200" dirty="0">
                <a:latin typeface="Century Gothic" panose="020B0502020202020204" pitchFamily="34" charset="0"/>
              </a:rPr>
              <a:t>Voting can always be “irrational” (recall “bounded rationality”).</a:t>
            </a:r>
          </a:p>
          <a:p>
            <a:pPr lvl="1">
              <a:lnSpc>
                <a:spcPct val="100000"/>
              </a:lnSpc>
            </a:pPr>
            <a:r>
              <a:rPr lang="en-US" altLang="zh-CN" sz="2000" b="1" dirty="0">
                <a:latin typeface="Century Gothic" panose="020B0502020202020204" pitchFamily="34" charset="0"/>
              </a:rPr>
              <a:t>Party identification &gt; Candidates’ attributes &gt; Issues and policies</a:t>
            </a:r>
          </a:p>
          <a:p>
            <a:pPr lvl="1">
              <a:lnSpc>
                <a:spcPct val="100000"/>
              </a:lnSpc>
            </a:pPr>
            <a:endParaRPr lang="en-US" altLang="zh-CN" sz="1000" dirty="0">
              <a:latin typeface="Century Gothic" panose="020B0502020202020204" pitchFamily="34" charset="0"/>
            </a:endParaRPr>
          </a:p>
          <a:p>
            <a:pPr>
              <a:lnSpc>
                <a:spcPct val="100000"/>
              </a:lnSpc>
            </a:pPr>
            <a:r>
              <a:rPr lang="en-US" altLang="zh-CN" sz="2200" dirty="0">
                <a:latin typeface="Century Gothic" panose="020B0502020202020204" pitchFamily="34" charset="0"/>
              </a:rPr>
              <a:t>Campaign Effects</a:t>
            </a:r>
          </a:p>
          <a:p>
            <a:pPr lvl="1">
              <a:lnSpc>
                <a:spcPct val="100000"/>
              </a:lnSpc>
            </a:pPr>
            <a:r>
              <a:rPr lang="en-US" altLang="zh-CN" sz="2000" b="1" dirty="0">
                <a:latin typeface="Century Gothic" panose="020B0502020202020204" pitchFamily="34" charset="0"/>
              </a:rPr>
              <a:t>The television campaign</a:t>
            </a:r>
          </a:p>
          <a:p>
            <a:pPr lvl="2">
              <a:lnSpc>
                <a:spcPct val="100000"/>
              </a:lnSpc>
            </a:pPr>
            <a:r>
              <a:rPr lang="en-US" altLang="zh-CN" sz="1800" dirty="0">
                <a:latin typeface="Century Gothic" panose="020B0502020202020204" pitchFamily="34" charset="0"/>
              </a:rPr>
              <a:t>Television news is not enough.</a:t>
            </a:r>
          </a:p>
          <a:p>
            <a:pPr lvl="2">
              <a:lnSpc>
                <a:spcPct val="100000"/>
              </a:lnSpc>
            </a:pPr>
            <a:r>
              <a:rPr lang="en-US" altLang="zh-CN" sz="1800" dirty="0">
                <a:latin typeface="Century Gothic" panose="020B0502020202020204" pitchFamily="34" charset="0"/>
              </a:rPr>
              <a:t>TV shows, advertisements, and social media</a:t>
            </a:r>
            <a:br>
              <a:rPr lang="en-US" altLang="zh-CN" sz="1800" dirty="0">
                <a:latin typeface="Century Gothic" panose="020B0502020202020204" pitchFamily="34" charset="0"/>
              </a:rPr>
            </a:br>
            <a:r>
              <a:rPr lang="en-US" altLang="zh-CN" sz="1800" dirty="0">
                <a:latin typeface="Century Gothic" panose="020B0502020202020204" pitchFamily="34" charset="0"/>
              </a:rPr>
              <a:t>can help better influence voters.</a:t>
            </a:r>
          </a:p>
          <a:p>
            <a:pPr lvl="1">
              <a:lnSpc>
                <a:spcPct val="100000"/>
              </a:lnSpc>
            </a:pPr>
            <a:r>
              <a:rPr lang="en-US" altLang="zh-CN" sz="2000" b="1" dirty="0">
                <a:latin typeface="Century Gothic" panose="020B0502020202020204" pitchFamily="34" charset="0"/>
              </a:rPr>
              <a:t>The presidential debates</a:t>
            </a:r>
          </a:p>
          <a:p>
            <a:pPr lvl="2">
              <a:lnSpc>
                <a:spcPct val="100000"/>
              </a:lnSpc>
            </a:pPr>
            <a:r>
              <a:rPr lang="en-US" altLang="zh-CN" sz="1800" dirty="0">
                <a:latin typeface="Century Gothic" panose="020B0502020202020204" pitchFamily="34" charset="0"/>
              </a:rPr>
              <a:t>1960, JFK v</a:t>
            </a:r>
            <a:r>
              <a:rPr lang="zh-CN" altLang="en-US" sz="1800" dirty="0">
                <a:latin typeface="Century Gothic" panose="020B0502020202020204" pitchFamily="34" charset="0"/>
              </a:rPr>
              <a:t> </a:t>
            </a:r>
            <a:r>
              <a:rPr lang="en-US" altLang="zh-CN" sz="1800" dirty="0">
                <a:latin typeface="Century Gothic" panose="020B0502020202020204" pitchFamily="34" charset="0"/>
              </a:rPr>
              <a:t>Nixon – the first debate</a:t>
            </a:r>
          </a:p>
          <a:p>
            <a:pPr lvl="2">
              <a:lnSpc>
                <a:spcPct val="100000"/>
              </a:lnSpc>
            </a:pPr>
            <a:r>
              <a:rPr lang="en-US" altLang="zh-CN" sz="1800" dirty="0">
                <a:latin typeface="Century Gothic" panose="020B0502020202020204" pitchFamily="34" charset="0"/>
              </a:rPr>
              <a:t>1987, Commission on Presidential Debates</a:t>
            </a:r>
          </a:p>
          <a:p>
            <a:pPr lvl="2">
              <a:lnSpc>
                <a:spcPct val="100000"/>
              </a:lnSpc>
            </a:pPr>
            <a:r>
              <a:rPr lang="en-US" altLang="zh-CN" sz="1800" dirty="0">
                <a:latin typeface="Century Gothic" panose="020B0502020202020204" pitchFamily="34" charset="0"/>
              </a:rPr>
              <a:t>Relatively low influence in votes, but</a:t>
            </a:r>
            <a:br>
              <a:rPr lang="en-US" altLang="zh-CN" sz="1800" dirty="0">
                <a:latin typeface="Century Gothic" panose="020B0502020202020204" pitchFamily="34" charset="0"/>
              </a:rPr>
            </a:br>
            <a:r>
              <a:rPr lang="en-US" altLang="zh-CN" sz="1800" dirty="0">
                <a:latin typeface="Century Gothic" panose="020B0502020202020204" pitchFamily="34" charset="0"/>
              </a:rPr>
              <a:t>sometimes it can play a role (Biden v Trump)</a:t>
            </a:r>
          </a:p>
          <a:p>
            <a:pPr lvl="1">
              <a:lnSpc>
                <a:spcPct val="100000"/>
              </a:lnSpc>
            </a:pPr>
            <a:r>
              <a:rPr lang="en-US" altLang="zh-CN" sz="2000" b="1" dirty="0">
                <a:latin typeface="Century Gothic" panose="020B0502020202020204" pitchFamily="34" charset="0"/>
              </a:rPr>
              <a:t>The election strategy</a:t>
            </a:r>
          </a:p>
          <a:p>
            <a:pPr lvl="2">
              <a:lnSpc>
                <a:spcPct val="100000"/>
              </a:lnSpc>
            </a:pPr>
            <a:r>
              <a:rPr lang="en-US" altLang="zh-CN" sz="1800" dirty="0">
                <a:latin typeface="Century Gothic" panose="020B0502020202020204" pitchFamily="34" charset="0"/>
              </a:rPr>
              <a:t>Technical influence (e.g. personal contact,</a:t>
            </a:r>
            <a:br>
              <a:rPr lang="en-US" altLang="zh-CN" sz="1800" dirty="0">
                <a:latin typeface="Century Gothic" panose="020B0502020202020204" pitchFamily="34" charset="0"/>
              </a:rPr>
            </a:br>
            <a:r>
              <a:rPr lang="en-US" altLang="zh-CN" sz="1800" dirty="0">
                <a:latin typeface="Century Gothic" panose="020B0502020202020204" pitchFamily="34" charset="0"/>
              </a:rPr>
              <a:t>the candidate’s persuasion in person, …)</a:t>
            </a:r>
          </a:p>
          <a:p>
            <a:pPr lvl="1">
              <a:lnSpc>
                <a:spcPct val="100000"/>
              </a:lnSpc>
            </a:pPr>
            <a:endParaRPr lang="en-US" altLang="zh-CN" sz="2000" dirty="0">
              <a:latin typeface="Century Gothic" panose="020B0502020202020204" pitchFamily="34" charset="0"/>
            </a:endParaRPr>
          </a:p>
          <a:p>
            <a:pPr marL="457200" lvl="1" indent="0">
              <a:lnSpc>
                <a:spcPct val="100000"/>
              </a:lnSpc>
              <a:buNone/>
            </a:pPr>
            <a:endParaRPr kumimoji="1" lang="en-US" altLang="zh-CN" sz="2000" b="1" i="1" dirty="0">
              <a:latin typeface="Century Gothic" panose="020B0502020202020204" pitchFamily="34" charset="0"/>
            </a:endParaRPr>
          </a:p>
        </p:txBody>
      </p:sp>
      <p:pic>
        <p:nvPicPr>
          <p:cNvPr id="5" name="图片 4" descr="图表, 雷达图&#10;&#10;AI 生成的内容可能不正确。">
            <a:extLst>
              <a:ext uri="{FF2B5EF4-FFF2-40B4-BE49-F238E27FC236}">
                <a16:creationId xmlns:a16="http://schemas.microsoft.com/office/drawing/2014/main" id="{618C4762-A483-C2FD-845C-2BEC4469763C}"/>
              </a:ext>
            </a:extLst>
          </p:cNvPr>
          <p:cNvPicPr>
            <a:picLocks noChangeAspect="1"/>
          </p:cNvPicPr>
          <p:nvPr/>
        </p:nvPicPr>
        <p:blipFill>
          <a:blip r:embed="rId3"/>
          <a:srcRect t="20466"/>
          <a:stretch>
            <a:fillRect/>
          </a:stretch>
        </p:blipFill>
        <p:spPr>
          <a:xfrm>
            <a:off x="6979585" y="2163779"/>
            <a:ext cx="5258910" cy="4675966"/>
          </a:xfrm>
          <a:prstGeom prst="rect">
            <a:avLst/>
          </a:prstGeom>
        </p:spPr>
      </p:pic>
    </p:spTree>
    <p:extLst>
      <p:ext uri="{BB962C8B-B14F-4D97-AF65-F5344CB8AC3E}">
        <p14:creationId xmlns:p14="http://schemas.microsoft.com/office/powerpoint/2010/main" val="1696029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2D739-AE90-1EFC-A948-C06CC9B690A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4BD2596-EB28-9DA7-74AD-86D2E9E36EAF}"/>
              </a:ext>
            </a:extLst>
          </p:cNvPr>
          <p:cNvSpPr>
            <a:spLocks noGrp="1"/>
          </p:cNvSpPr>
          <p:nvPr>
            <p:ph type="title"/>
          </p:nvPr>
        </p:nvSpPr>
        <p:spPr>
          <a:xfrm>
            <a:off x="698405" y="0"/>
            <a:ext cx="10808368" cy="1325563"/>
          </a:xfrm>
        </p:spPr>
        <p:txBody>
          <a:bodyPr>
            <a:normAutofit/>
          </a:bodyPr>
          <a:lstStyle/>
          <a:p>
            <a:r>
              <a:rPr kumimoji="1" lang="en-US" altLang="zh-CN" sz="3600" b="1" dirty="0">
                <a:latin typeface="Century Gothic" panose="020B0502020202020204" pitchFamily="34" charset="0"/>
              </a:rPr>
              <a:t>Campaigns, Elections, and Democracy</a:t>
            </a:r>
            <a:endParaRPr kumimoji="1" lang="zh-CN" altLang="en-US" sz="3600" b="1" dirty="0">
              <a:latin typeface="Century Gothic" panose="020B0502020202020204" pitchFamily="34" charset="0"/>
            </a:endParaRPr>
          </a:p>
        </p:txBody>
      </p:sp>
      <p:sp>
        <p:nvSpPr>
          <p:cNvPr id="3" name="内容占位符 2">
            <a:extLst>
              <a:ext uri="{FF2B5EF4-FFF2-40B4-BE49-F238E27FC236}">
                <a16:creationId xmlns:a16="http://schemas.microsoft.com/office/drawing/2014/main" id="{FD89D083-E0FA-8E94-BCAB-593A8AB2D980}"/>
              </a:ext>
            </a:extLst>
          </p:cNvPr>
          <p:cNvSpPr>
            <a:spLocks noGrp="1"/>
          </p:cNvSpPr>
          <p:nvPr>
            <p:ph idx="1"/>
          </p:nvPr>
        </p:nvSpPr>
        <p:spPr>
          <a:xfrm>
            <a:off x="685228" y="1199439"/>
            <a:ext cx="11169316" cy="5658561"/>
          </a:xfrm>
        </p:spPr>
        <p:txBody>
          <a:bodyPr>
            <a:normAutofit/>
          </a:bodyPr>
          <a:lstStyle/>
          <a:p>
            <a:pPr>
              <a:lnSpc>
                <a:spcPct val="100000"/>
              </a:lnSpc>
            </a:pPr>
            <a:r>
              <a:rPr lang="en-US" altLang="zh-CN" sz="2200" b="1" dirty="0">
                <a:latin typeface="Century Gothic" panose="020B0502020202020204" pitchFamily="34" charset="0"/>
              </a:rPr>
              <a:t>Majoritarianism – incompatible </a:t>
            </a:r>
          </a:p>
          <a:p>
            <a:pPr lvl="1">
              <a:lnSpc>
                <a:spcPct val="100000"/>
              </a:lnSpc>
            </a:pPr>
            <a:r>
              <a:rPr lang="en-US" altLang="zh-CN" sz="2000" b="1" dirty="0">
                <a:latin typeface="Century Gothic" panose="020B0502020202020204" pitchFamily="34" charset="0"/>
              </a:rPr>
              <a:t>Recall: </a:t>
            </a:r>
            <a:r>
              <a:rPr kumimoji="1" lang="en-US" altLang="zh-CN" sz="2000" b="1" dirty="0">
                <a:latin typeface="Century Gothic" panose="020B0502020202020204" pitchFamily="34" charset="0"/>
              </a:rPr>
              <a:t>the Model of Responsible Party Government</a:t>
            </a:r>
          </a:p>
          <a:p>
            <a:pPr lvl="2">
              <a:lnSpc>
                <a:spcPct val="100000"/>
              </a:lnSpc>
            </a:pPr>
            <a:r>
              <a:rPr lang="en-US" altLang="zh-CN" sz="1800" dirty="0">
                <a:latin typeface="Century Gothic" panose="020B0502020202020204" pitchFamily="34" charset="0"/>
              </a:rPr>
              <a:t>American parties formulate their platforms and pursue their announced policies.</a:t>
            </a:r>
          </a:p>
          <a:p>
            <a:pPr lvl="2">
              <a:lnSpc>
                <a:spcPct val="100000"/>
              </a:lnSpc>
            </a:pPr>
            <a:r>
              <a:rPr lang="en-US" altLang="zh-CN" sz="1800" dirty="0">
                <a:latin typeface="Century Gothic" panose="020B0502020202020204" pitchFamily="34" charset="0"/>
              </a:rPr>
              <a:t>But… candidates and voters are not well connected through campaigns &amp; elections. </a:t>
            </a:r>
          </a:p>
          <a:p>
            <a:pPr lvl="1">
              <a:lnSpc>
                <a:spcPct val="100000"/>
              </a:lnSpc>
            </a:pPr>
            <a:r>
              <a:rPr lang="en-US" altLang="zh-CN" sz="2000" dirty="0">
                <a:latin typeface="Century Gothic" panose="020B0502020202020204" pitchFamily="34" charset="0"/>
              </a:rPr>
              <a:t>In nominating </a:t>
            </a:r>
            <a:r>
              <a:rPr lang="en-US" altLang="zh-CN" sz="2000" b="1" dirty="0">
                <a:latin typeface="Century Gothic" panose="020B0502020202020204" pitchFamily="34" charset="0"/>
              </a:rPr>
              <a:t>presidential candidates</a:t>
            </a:r>
            <a:r>
              <a:rPr lang="en-US" altLang="zh-CN" sz="2000" dirty="0">
                <a:latin typeface="Century Gothic" panose="020B0502020202020204" pitchFamily="34" charset="0"/>
              </a:rPr>
              <a:t>, party principles matter; but </a:t>
            </a:r>
            <a:r>
              <a:rPr lang="en-US" altLang="zh-CN" sz="2000" b="1" dirty="0">
                <a:latin typeface="Century Gothic" panose="020B0502020202020204" pitchFamily="34" charset="0"/>
              </a:rPr>
              <a:t>Congress members</a:t>
            </a:r>
            <a:r>
              <a:rPr lang="en-US" altLang="zh-CN" sz="2000" dirty="0">
                <a:latin typeface="Century Gothic" panose="020B0502020202020204" pitchFamily="34" charset="0"/>
              </a:rPr>
              <a:t> nominations count rarely on the party platform.</a:t>
            </a:r>
          </a:p>
          <a:p>
            <a:pPr lvl="1">
              <a:lnSpc>
                <a:spcPct val="100000"/>
              </a:lnSpc>
            </a:pPr>
            <a:r>
              <a:rPr lang="en-US" altLang="zh-CN" sz="2000" dirty="0">
                <a:latin typeface="Century Gothic" panose="020B0502020202020204" pitchFamily="34" charset="0"/>
              </a:rPr>
              <a:t>Both parties may be “responsible” for their own constituents, but not respond to the rest of voters, who are ideologically more moderate. </a:t>
            </a:r>
          </a:p>
          <a:p>
            <a:pPr lvl="1">
              <a:lnSpc>
                <a:spcPct val="100000"/>
              </a:lnSpc>
            </a:pPr>
            <a:endParaRPr lang="en-US" altLang="zh-CN" sz="1000" dirty="0">
              <a:latin typeface="Century Gothic" panose="020B0502020202020204" pitchFamily="34" charset="0"/>
            </a:endParaRPr>
          </a:p>
          <a:p>
            <a:pPr>
              <a:lnSpc>
                <a:spcPct val="100000"/>
              </a:lnSpc>
            </a:pPr>
            <a:r>
              <a:rPr lang="en-US" altLang="zh-CN" sz="2200" b="1" dirty="0">
                <a:latin typeface="Century Gothic" panose="020B0502020202020204" pitchFamily="34" charset="0"/>
              </a:rPr>
              <a:t>Pluralism – more compatible</a:t>
            </a:r>
          </a:p>
          <a:p>
            <a:pPr lvl="1">
              <a:lnSpc>
                <a:spcPct val="100000"/>
              </a:lnSpc>
            </a:pPr>
            <a:r>
              <a:rPr lang="en-US" altLang="zh-CN" sz="2000" dirty="0">
                <a:latin typeface="Century Gothic" panose="020B0502020202020204" pitchFamily="34" charset="0"/>
              </a:rPr>
              <a:t>Two parties are like two giant interest groups (if not two religions)</a:t>
            </a:r>
          </a:p>
          <a:p>
            <a:pPr lvl="1">
              <a:lnSpc>
                <a:spcPct val="100000"/>
              </a:lnSpc>
            </a:pPr>
            <a:r>
              <a:rPr lang="en-US" altLang="zh-CN" sz="2000" dirty="0">
                <a:latin typeface="Century Gothic" panose="020B0502020202020204" pitchFamily="34" charset="0"/>
              </a:rPr>
              <a:t>Stronger parties may strengthen democratic government (like a strong interest group), but there are differences with interest groups – under a divided government, strong parties may lead to </a:t>
            </a:r>
            <a:r>
              <a:rPr lang="en-US" altLang="zh-CN" sz="2000" b="1" dirty="0">
                <a:latin typeface="Century Gothic" panose="020B0502020202020204" pitchFamily="34" charset="0"/>
              </a:rPr>
              <a:t>gridlocks</a:t>
            </a:r>
            <a:r>
              <a:rPr lang="en-US" altLang="zh-CN" sz="2000" dirty="0">
                <a:latin typeface="Century Gothic" panose="020B0502020202020204" pitchFamily="34" charset="0"/>
              </a:rPr>
              <a:t>.</a:t>
            </a:r>
          </a:p>
          <a:p>
            <a:pPr lvl="1">
              <a:lnSpc>
                <a:spcPct val="100000"/>
              </a:lnSpc>
            </a:pPr>
            <a:r>
              <a:rPr lang="en-US" altLang="zh-CN" sz="2000" dirty="0">
                <a:latin typeface="Century Gothic" panose="020B0502020202020204" pitchFamily="34" charset="0"/>
              </a:rPr>
              <a:t>The decentralized nature of campaigns &amp; elections offer opportunities for interest groups to exert their influence, but can frustrate majority interests on occasion.</a:t>
            </a:r>
          </a:p>
          <a:p>
            <a:pPr marL="457200" lvl="1" indent="0">
              <a:lnSpc>
                <a:spcPct val="100000"/>
              </a:lnSpc>
              <a:buNone/>
            </a:pPr>
            <a:endParaRPr kumimoji="1" lang="en-US" altLang="zh-CN" sz="2000" b="1" i="1" dirty="0">
              <a:latin typeface="Century Gothic" panose="020B0502020202020204" pitchFamily="34" charset="0"/>
            </a:endParaRPr>
          </a:p>
        </p:txBody>
      </p:sp>
    </p:spTree>
    <p:extLst>
      <p:ext uri="{BB962C8B-B14F-4D97-AF65-F5344CB8AC3E}">
        <p14:creationId xmlns:p14="http://schemas.microsoft.com/office/powerpoint/2010/main" val="3426117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F266-461F-DFC0-F19B-F4DD64CD0BC8}"/>
            </a:ext>
          </a:extLst>
        </p:cNvPr>
        <p:cNvGrpSpPr/>
        <p:nvPr/>
      </p:nvGrpSpPr>
      <p:grpSpPr>
        <a:xfrm>
          <a:off x="0" y="0"/>
          <a:ext cx="0" cy="0"/>
          <a:chOff x="0" y="0"/>
          <a:chExt cx="0" cy="0"/>
        </a:xfrm>
      </p:grpSpPr>
      <p:sp>
        <p:nvSpPr>
          <p:cNvPr id="3" name="内容占位符 2">
            <a:extLst>
              <a:ext uri="{FF2B5EF4-FFF2-40B4-BE49-F238E27FC236}">
                <a16:creationId xmlns:a16="http://schemas.microsoft.com/office/drawing/2014/main" id="{FD0DFA93-F961-8DB9-6735-5EC134B68962}"/>
              </a:ext>
            </a:extLst>
          </p:cNvPr>
          <p:cNvSpPr>
            <a:spLocks noGrp="1"/>
          </p:cNvSpPr>
          <p:nvPr>
            <p:ph idx="1"/>
          </p:nvPr>
        </p:nvSpPr>
        <p:spPr>
          <a:xfrm>
            <a:off x="838200" y="1325563"/>
            <a:ext cx="11097986" cy="5251423"/>
          </a:xfrm>
        </p:spPr>
        <p:txBody>
          <a:bodyPr>
            <a:normAutofit/>
          </a:bodyPr>
          <a:lstStyle/>
          <a:p>
            <a:pPr>
              <a:lnSpc>
                <a:spcPct val="100000"/>
              </a:lnSpc>
            </a:pPr>
            <a:r>
              <a:rPr kumimoji="1" lang="en-US" altLang="zh-CN" dirty="0">
                <a:latin typeface="Century Gothic" panose="020B0502020202020204" pitchFamily="34" charset="0"/>
              </a:rPr>
              <a:t>Remember that we have our last class on Dec 2</a:t>
            </a:r>
            <a:r>
              <a:rPr kumimoji="1" lang="en-US" altLang="zh-CN" baseline="30000" dirty="0">
                <a:latin typeface="Century Gothic" panose="020B0502020202020204" pitchFamily="34" charset="0"/>
              </a:rPr>
              <a:t>nd</a:t>
            </a:r>
            <a:r>
              <a:rPr kumimoji="1" lang="en-US" altLang="zh-CN" dirty="0">
                <a:latin typeface="Century Gothic" panose="020B0502020202020204" pitchFamily="34" charset="0"/>
              </a:rPr>
              <a:t>, a Tuesday with the Friday schedule.</a:t>
            </a:r>
          </a:p>
          <a:p>
            <a:pPr>
              <a:lnSpc>
                <a:spcPct val="100000"/>
              </a:lnSpc>
            </a:pPr>
            <a:r>
              <a:rPr kumimoji="1" lang="en-US" altLang="zh-CN" dirty="0">
                <a:latin typeface="Century Gothic" panose="020B0502020202020204" pitchFamily="34" charset="0"/>
              </a:rPr>
              <a:t>We have covered all of the substantive materials (maybe some were overlooked, but you can go through by yourselves at any time you like.)</a:t>
            </a:r>
          </a:p>
          <a:p>
            <a:pPr marL="0" indent="0">
              <a:lnSpc>
                <a:spcPct val="100000"/>
              </a:lnSpc>
              <a:buNone/>
            </a:pPr>
            <a:endParaRPr kumimoji="1" lang="en-US" altLang="zh-CN" b="1" dirty="0">
              <a:latin typeface="Century Gothic" panose="020B0502020202020204" pitchFamily="34" charset="0"/>
            </a:endParaRPr>
          </a:p>
          <a:p>
            <a:pPr>
              <a:lnSpc>
                <a:spcPct val="100000"/>
              </a:lnSpc>
            </a:pPr>
            <a:r>
              <a:rPr kumimoji="1" lang="en-US" altLang="zh-CN" b="1" dirty="0">
                <a:latin typeface="Century Gothic" panose="020B0502020202020204" pitchFamily="34" charset="0"/>
              </a:rPr>
              <a:t>Next time: take-aways sharing, final review, parting thoughts, (and course evaluation)</a:t>
            </a:r>
          </a:p>
          <a:p>
            <a:pPr>
              <a:lnSpc>
                <a:spcPct val="100000"/>
              </a:lnSpc>
            </a:pPr>
            <a:r>
              <a:rPr kumimoji="1" lang="en-US" altLang="zh-CN" dirty="0">
                <a:latin typeface="Century Gothic" panose="020B0502020202020204" pitchFamily="34" charset="0"/>
              </a:rPr>
              <a:t>Wish you a happy Thanksgiving Week!</a:t>
            </a:r>
          </a:p>
        </p:txBody>
      </p:sp>
      <p:sp>
        <p:nvSpPr>
          <p:cNvPr id="6" name="标题 1">
            <a:extLst>
              <a:ext uri="{FF2B5EF4-FFF2-40B4-BE49-F238E27FC236}">
                <a16:creationId xmlns:a16="http://schemas.microsoft.com/office/drawing/2014/main" id="{0B89597C-1C27-ED8D-0AB6-9DB5D34D3453}"/>
              </a:ext>
            </a:extLst>
          </p:cNvPr>
          <p:cNvSpPr>
            <a:spLocks noGrp="1"/>
          </p:cNvSpPr>
          <p:nvPr>
            <p:ph type="title"/>
          </p:nvPr>
        </p:nvSpPr>
        <p:spPr>
          <a:xfrm>
            <a:off x="838200" y="0"/>
            <a:ext cx="10515600" cy="1325563"/>
          </a:xfrm>
        </p:spPr>
        <p:txBody>
          <a:bodyPr>
            <a:normAutofit/>
          </a:bodyPr>
          <a:lstStyle/>
          <a:p>
            <a:r>
              <a:rPr kumimoji="1" lang="en-US" altLang="zh-CN" sz="4000" b="1" dirty="0">
                <a:latin typeface="Century Gothic" panose="020B0502020202020204" pitchFamily="34" charset="0"/>
              </a:rPr>
              <a:t>Next week…</a:t>
            </a:r>
            <a:endParaRPr kumimoji="1" lang="zh-CN" altLang="en-US" sz="4000" b="1" dirty="0">
              <a:latin typeface="Century Gothic" panose="020B0502020202020204" pitchFamily="34" charset="0"/>
            </a:endParaRPr>
          </a:p>
        </p:txBody>
      </p:sp>
    </p:spTree>
    <p:extLst>
      <p:ext uri="{BB962C8B-B14F-4D97-AF65-F5344CB8AC3E}">
        <p14:creationId xmlns:p14="http://schemas.microsoft.com/office/powerpoint/2010/main" val="50742297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6423</TotalTime>
  <Words>2423</Words>
  <Application>Microsoft Macintosh PowerPoint</Application>
  <PresentationFormat>宽屏</PresentationFormat>
  <Paragraphs>214</Paragraphs>
  <Slides>13</Slides>
  <Notes>12</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等线</vt:lpstr>
      <vt:lpstr>等线 Light</vt:lpstr>
      <vt:lpstr>Arial</vt:lpstr>
      <vt:lpstr>Century Gothic</vt:lpstr>
      <vt:lpstr>Constantia</vt:lpstr>
      <vt:lpstr>Wingdings</vt:lpstr>
      <vt:lpstr>Office 主题​​</vt:lpstr>
      <vt:lpstr>15. Campaigns &amp; Elections </vt:lpstr>
      <vt:lpstr>Nomination</vt:lpstr>
      <vt:lpstr>Nomination (cont`d)</vt:lpstr>
      <vt:lpstr>Nomination (cont`d)</vt:lpstr>
      <vt:lpstr>Presidential Elections</vt:lpstr>
      <vt:lpstr>Congressional Elections</vt:lpstr>
      <vt:lpstr>Campaigns</vt:lpstr>
      <vt:lpstr>Campaigns (cont`d)</vt:lpstr>
      <vt:lpstr>Campaigns (cont`d)</vt:lpstr>
      <vt:lpstr>PowerPoint 演示文稿</vt:lpstr>
      <vt:lpstr>Explaining Voting Choice</vt:lpstr>
      <vt:lpstr>Campaigns, Elections, and Democracy</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sy Zhao</dc:creator>
  <cp:lastModifiedBy>sy Zhao</cp:lastModifiedBy>
  <cp:revision>136</cp:revision>
  <dcterms:created xsi:type="dcterms:W3CDTF">2025-08-13T18:40:43Z</dcterms:created>
  <dcterms:modified xsi:type="dcterms:W3CDTF">2025-11-19T19:41:24Z</dcterms:modified>
</cp:coreProperties>
</file>