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7" r:id="rId4"/>
    <p:sldId id="273" r:id="rId5"/>
    <p:sldId id="274" r:id="rId6"/>
    <p:sldId id="269" r:id="rId7"/>
    <p:sldId id="276" r:id="rId8"/>
    <p:sldId id="272" r:id="rId9"/>
    <p:sldId id="275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24"/>
    <p:restoredTop sz="83605"/>
  </p:normalViewPr>
  <p:slideViewPr>
    <p:cSldViewPr snapToGrid="0">
      <p:cViewPr varScale="1">
        <p:scale>
          <a:sx n="106" d="100"/>
          <a:sy n="106" d="100"/>
        </p:scale>
        <p:origin x="1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C2761-774B-F042-9BD3-0C52A688F4FB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92E27-0BA6-464B-8F92-818B943024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Today we re going to talk about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08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675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A5518-4716-F532-F3A0-01BE60484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D5AA3A-0B68-056C-896D-162732EE2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3ECF2A-A58B-C555-CD14-0E6D3F370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13D99B-390E-BF9B-6022-BFCDD2228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7148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28DC-9620-41E7-B96A-CA01E6CF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E0AF89-89D5-489D-07AC-4CE0A44A5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A5A20E-CEA6-2270-1030-48B82B136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36ADAA-E146-684B-A076-081810DA2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038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EE2E8-E750-CA7C-223D-240C4463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EDC6F9-C999-D0B0-5D74-F67EBD3EB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75C42D-2BBD-EFDA-CB8F-C36FC84BA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92B43D-B4D8-E3C1-9EA1-2011F41E5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6361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0258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D9A2-5C48-AD20-9E21-5F634BF4D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F92647-51EA-0FA6-6F4B-0D0C5F764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25089E-1B52-E613-B9F7-5AC772D15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4D08FC-D181-84A6-8924-419EF3150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8005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2A2B2-99F4-8434-4043-90F0045DF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F74401-6074-DFA7-3822-B784E477F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381339-2B7E-6BEB-C024-61DAE1D07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FC5F41-02AA-0710-0856-F0FD4FBFB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9998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B15C-9F4A-D486-86A0-982D92CC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318321-5612-634A-5094-96DB92344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68078A-DDFD-E978-4D29-10B2BA50E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283E9C-5450-D83E-476A-E2DEEA2F4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6205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9CAC4-5603-9540-4746-DF7D478F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3E1C22-AA04-379D-70C6-A670FBE5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DF2C8-367E-2D45-DF75-FE56AEE4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AD1C0-22F7-2B75-E5B6-416C33DE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D5D4F-5543-EF94-7D9E-26E2EB42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58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83152-C981-6237-7465-0F9D4C52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A163B-9301-5E7F-A6C9-6D50534B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EFE64-6FB4-1927-0FA3-40A1ED4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80ED6-E235-BE41-6C84-57A95172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644E8-37BB-F946-0182-7EFE141D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9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50F04-C3CD-2F64-01B3-3226F98B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1D39D8-BB09-E9E1-AE46-BD0402C3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7D90E-E49A-C653-33E4-3399376B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BD9D7-4579-F439-2979-C756072B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7746B-C90D-95F8-97AA-3FFEA768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704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304D9-3BF5-05E6-96B1-4655A1D5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08483-110C-D43D-A3FD-2BB20209E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C839D-DA8C-28CB-E5BA-B4723E5B0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E45B9-76B7-AB04-8094-C8CE369E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E34B5-B673-FBFE-4EFF-91DAE128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9DB086-FF5A-FE0C-D4BB-2ED5948A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404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83DD5-6BE7-B60B-3830-1C916372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B3FFE-61EA-239B-F19E-01B329548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09DF50-77E9-6A8A-B7FD-52C3A0A2A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CBEA94-5C16-949F-958E-F32A629BA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3CCEDE-D71C-351E-8E59-1DC6C8EEE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D051A4-8FC0-4958-27ED-3FD5D613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B8DCF7-45C3-EA2A-1701-202A609F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C826FD-6CBB-9310-BCE6-0AFD91F0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6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7DEE7-0D18-A3AB-6312-227BEE98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787988-EB72-BBF2-97A0-18FCAEDE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1DEEEE-9CED-3233-301C-D61D4952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FAB2A8-6D82-8150-1ACA-546DA505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539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5F89BB-2D98-C933-488B-E600CB06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7A268E-C4F6-B77D-1351-5DE83C0A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F8E4A0-1ACD-7A8E-7C68-98F88D65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8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C987B-49C3-BFCA-7CA6-9ADDA15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30DC1-52A9-D64F-9566-03B17EB21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7648F5-B097-B233-8517-D224C2405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E39B80-C04B-2C82-D564-BE82DA11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4910C-3003-45C9-57B8-FCF2A71F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572AEE-EF5E-7D71-EEBA-B8379AA6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91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A6230-C7A5-86BA-5615-904D96A6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371D64-943D-9794-C679-047246E73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449E2F-39C8-500F-46E0-0C78B039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A0B88-6CC1-DD08-915A-A518D5E2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EC198-B676-0D20-89AE-543DC463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72265-ADC9-100E-D5B9-3493AC71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34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69B29-53BC-8508-9E8C-83082E83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1E39E-2C6E-E37C-2D42-EA3A82518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2F3AD-94BB-4CB2-C858-7F07E36D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73678-DBC5-35FE-7720-4954170E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E6E86-AEF4-9E51-11FF-DBEEDF93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316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3943D8-D242-3E2F-C24F-4E005E76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29DC73-6886-F0DB-9DA5-9ED96CE82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B799C-9E0E-429F-C629-2A186266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4BFC4-5811-57DC-FF5C-4868DB2A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A7796-940B-415F-C832-E381105E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12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E35921-9950-2FB0-6355-6B06F016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1B157-D31D-54B9-7D6A-F6D4AD6AC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F31D3-1A38-6B87-4306-66D57169E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FA171-DF96-1B41-A089-FAB6FE9A340F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11102-B856-C277-A8F6-8D6AF8F93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88C62-D975-E146-FD0A-E318C5405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23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E6EF4-2BC6-E096-750F-ECCBB9D42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1" y="903888"/>
            <a:ext cx="9444788" cy="1439425"/>
          </a:xfrm>
        </p:spPr>
        <p:txBody>
          <a:bodyPr>
            <a:normAutofit/>
          </a:bodyPr>
          <a:lstStyle/>
          <a:p>
            <a:r>
              <a:rPr kumimoji="1" lang="en-US" altLang="zh-CN" sz="5400" b="1" dirty="0">
                <a:latin typeface="Century Gothic" panose="020B0502020202020204" pitchFamily="34" charset="0"/>
              </a:rPr>
              <a:t>7. Congress</a:t>
            </a:r>
            <a:endParaRPr kumimoji="1" lang="zh-CN" altLang="en-US" sz="5400" dirty="0">
              <a:latin typeface="Century Gothic" panose="020B0502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47D000-FF03-80F2-FC6B-25D1B58BD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998"/>
            <a:ext cx="9144000" cy="2982311"/>
          </a:xfrm>
        </p:spPr>
        <p:txBody>
          <a:bodyPr>
            <a:normAutofit lnSpcReduction="10000"/>
          </a:bodyPr>
          <a:lstStyle/>
          <a:p>
            <a:r>
              <a:rPr kumimoji="1" lang="en-US" altLang="zh-CN" b="1" dirty="0">
                <a:latin typeface="Century Gothic" panose="020B0502020202020204" pitchFamily="34" charset="0"/>
              </a:rPr>
              <a:t>Breakout Sessions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POLS 1101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12:40pm-1:30pm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Park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Hall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145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&amp;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1:50pm-2:40pm Leconte Hall 135</a:t>
            </a:r>
          </a:p>
          <a:p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SIYUAN (Siri) ZHAO</a:t>
            </a:r>
          </a:p>
          <a:p>
            <a:r>
              <a:rPr kumimoji="1" lang="en-US" altLang="zh-CN" b="1" dirty="0" err="1">
                <a:latin typeface="Century Gothic" panose="020B0502020202020204" pitchFamily="34" charset="0"/>
              </a:rPr>
              <a:t>Siri.Zhao@uga.edu</a:t>
            </a:r>
            <a:endParaRPr kumimoji="1" lang="zh-CN" alt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78BB4-4865-3E7B-0D4E-C002FE68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Exam Hand Back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27992-FA10-911D-8961-FB5AE68C2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404"/>
            <a:ext cx="10515600" cy="51349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i="1" dirty="0">
                <a:latin typeface="Century Gothic" panose="020B0502020202020204" pitchFamily="34" charset="0"/>
              </a:rPr>
              <a:t>Add</a:t>
            </a:r>
            <a:r>
              <a:rPr kumimoji="1" lang="zh-CN" altLang="en-US" sz="2200" b="1" i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2200" b="1" i="1" dirty="0">
                <a:latin typeface="Century Gothic" panose="020B0502020202020204" pitchFamily="34" charset="0"/>
              </a:rPr>
              <a:t>points wrong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i="1" dirty="0">
                <a:solidFill>
                  <a:srgbClr val="FF0000"/>
                </a:solidFill>
                <a:latin typeface="Century Gothic" panose="020B0502020202020204" pitchFamily="34" charset="0"/>
              </a:rPr>
              <a:t>WITHIN TODAY (Friday)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i="1" dirty="0">
                <a:latin typeface="Century Gothic" panose="020B0502020202020204" pitchFamily="34" charset="0"/>
              </a:rPr>
              <a:t>Questions on why I lost points in short-answers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i="1" dirty="0">
                <a:solidFill>
                  <a:srgbClr val="FF0000"/>
                </a:solidFill>
                <a:latin typeface="Century Gothic" panose="020B0502020202020204" pitchFamily="34" charset="0"/>
              </a:rPr>
              <a:t>Tomorrow (Saturday)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i="1" dirty="0">
                <a:latin typeface="Century Gothic" panose="020B0502020202020204" pitchFamily="34" charset="0"/>
              </a:rPr>
              <a:t>Appeal your grade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i="1" dirty="0">
                <a:solidFill>
                  <a:srgbClr val="FF0000"/>
                </a:solidFill>
                <a:latin typeface="Century Gothic" panose="020B0502020202020204" pitchFamily="34" charset="0"/>
              </a:rPr>
              <a:t>48 hours later (Sunday)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i="1" dirty="0">
                <a:latin typeface="Century Gothic" panose="020B0502020202020204" pitchFamily="34" charset="0"/>
              </a:rPr>
              <a:t>Do as told by the syllabus</a:t>
            </a:r>
          </a:p>
          <a:p>
            <a:pPr lvl="2" fontAlgn="base"/>
            <a:r>
              <a:rPr lang="en-US" altLang="zh-CN" sz="1800" dirty="0">
                <a:latin typeface="Constantia" panose="02030602050306030303" pitchFamily="18" charset="0"/>
              </a:rPr>
              <a:t>You must write a statement to have the assignment regraded saying why you believe you should have received more credit and you will need to give me your blue book. </a:t>
            </a:r>
          </a:p>
          <a:p>
            <a:pPr lvl="2" fontAlgn="base"/>
            <a:r>
              <a:rPr lang="en-US" altLang="zh-CN" sz="1800" dirty="0">
                <a:latin typeface="Constantia" panose="02030602050306030303" pitchFamily="18" charset="0"/>
              </a:rPr>
              <a:t>If you appeal your grade, I (your TA) will need to regrade which could result in a higher grade, a lower grade, or no change at all. </a:t>
            </a:r>
          </a:p>
          <a:p>
            <a:pPr lvl="2" fontAlgn="base"/>
            <a:r>
              <a:rPr lang="en-US" altLang="zh-CN" sz="1800" dirty="0">
                <a:latin typeface="Constantia" panose="02030602050306030303" pitchFamily="18" charset="0"/>
              </a:rPr>
              <a:t>Only submit an appeal if you are sure that you can make a strong case for a higher score! </a:t>
            </a:r>
          </a:p>
          <a:p>
            <a:pPr lvl="2" fontAlgn="base"/>
            <a:r>
              <a:rPr lang="en-US" altLang="zh-CN" sz="1800" dirty="0">
                <a:latin typeface="Constantia" panose="02030602050306030303" pitchFamily="18" charset="0"/>
              </a:rPr>
              <a:t>If you are still unsatisfied with your grade after that, you can repeat the process with Professor Nicholson.</a:t>
            </a:r>
          </a:p>
          <a:p>
            <a:pPr lvl="2">
              <a:lnSpc>
                <a:spcPct val="100000"/>
              </a:lnSpc>
            </a:pPr>
            <a:endParaRPr kumimoji="1" lang="en-US" altLang="zh-CN" sz="1600" b="1" i="1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kumimoji="1" lang="en-US" altLang="zh-CN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837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2449-D2E8-A6B3-A640-E7C8A575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784006-D8C4-D84A-80F1-CC2C9F38D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The Origin and Powers of Congress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1FF63-3EC5-F734-CB3D-5A3E2EDA0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404"/>
            <a:ext cx="10515600" cy="51349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i="1" dirty="0">
                <a:latin typeface="Century Gothic" panose="020B0502020202020204" pitchFamily="34" charset="0"/>
              </a:rPr>
              <a:t>The origin of Congress came as a balance of benefits between large and small states – the </a:t>
            </a:r>
            <a:r>
              <a:rPr lang="en-US" altLang="zh-CN" sz="2200" b="1" i="1" dirty="0">
                <a:latin typeface="Century Gothic" panose="020B0502020202020204" pitchFamily="34" charset="0"/>
              </a:rPr>
              <a:t>Senate</a:t>
            </a:r>
            <a:r>
              <a:rPr lang="en-US" altLang="zh-CN" sz="2200" i="1" dirty="0">
                <a:latin typeface="Century Gothic" panose="020B0502020202020204" pitchFamily="34" charset="0"/>
              </a:rPr>
              <a:t> for equal representation (small), the </a:t>
            </a:r>
            <a:r>
              <a:rPr lang="en-US" altLang="zh-CN" sz="2200" b="1" i="1" dirty="0">
                <a:latin typeface="Century Gothic" panose="020B0502020202020204" pitchFamily="34" charset="0"/>
              </a:rPr>
              <a:t>House</a:t>
            </a:r>
            <a:r>
              <a:rPr lang="en-US" altLang="zh-CN" sz="2200" i="1" dirty="0">
                <a:latin typeface="Century Gothic" panose="020B0502020202020204" pitchFamily="34" charset="0"/>
              </a:rPr>
              <a:t> for large ones.</a:t>
            </a:r>
          </a:p>
          <a:p>
            <a:pPr>
              <a:lnSpc>
                <a:spcPct val="100000"/>
              </a:lnSpc>
            </a:pPr>
            <a:r>
              <a:rPr lang="en-US" altLang="zh-CN" sz="2200" b="1" i="1" dirty="0">
                <a:latin typeface="Century Gothic" panose="020B0502020202020204" pitchFamily="34" charset="0"/>
              </a:rPr>
              <a:t>How are members of congress elected?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The Senate: 17</a:t>
            </a:r>
            <a:r>
              <a:rPr lang="en-US" altLang="zh-CN" sz="2000" baseline="30000" dirty="0">
                <a:latin typeface="Century Gothic" panose="020B0502020202020204" pitchFamily="34" charset="0"/>
              </a:rPr>
              <a:t>th</a:t>
            </a:r>
            <a:r>
              <a:rPr lang="en-US" altLang="zh-CN" sz="2000" dirty="0">
                <a:latin typeface="Century Gothic" panose="020B0502020202020204" pitchFamily="34" charset="0"/>
              </a:rPr>
              <a:t> Amendment -&gt; direct election by popular vote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The House: directly based on population -&gt; </a:t>
            </a:r>
            <a:r>
              <a:rPr lang="en-US" altLang="zh-CN" sz="2000" b="1" dirty="0">
                <a:latin typeface="Century Gothic" panose="020B0502020202020204" pitchFamily="34" charset="0"/>
              </a:rPr>
              <a:t>reapportionment</a:t>
            </a:r>
            <a:r>
              <a:rPr lang="en-US" altLang="zh-CN" sz="2000" dirty="0">
                <a:latin typeface="Century Gothic" panose="020B0502020202020204" pitchFamily="34" charset="0"/>
              </a:rPr>
              <a:t> (after each census, the redistribution of representatives among the states based on population change)</a:t>
            </a:r>
          </a:p>
          <a:p>
            <a:pPr lvl="1">
              <a:lnSpc>
                <a:spcPct val="100000"/>
              </a:lnSpc>
            </a:pPr>
            <a:endParaRPr lang="en-US" altLang="zh-CN" sz="15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Powers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The Senate: to approve major presidential appointments and treaties with foreign nations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The House: the power of </a:t>
            </a:r>
            <a:r>
              <a:rPr lang="en-US" altLang="zh-CN" sz="2000" b="1" dirty="0">
                <a:latin typeface="Century Gothic" panose="020B0502020202020204" pitchFamily="34" charset="0"/>
              </a:rPr>
              <a:t>impeachment </a:t>
            </a:r>
            <a:r>
              <a:rPr lang="en-US" altLang="zh-CN" sz="2000" dirty="0">
                <a:latin typeface="Century Gothic" panose="020B0502020202020204" pitchFamily="34" charset="0"/>
              </a:rPr>
              <a:t>(the formal charging of a government official with serious crimes)</a:t>
            </a: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147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828F-98B4-0444-DF92-C3D4A45A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7DF19-AE2F-E17B-5060-D172DE00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808368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Electing Congress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4461B-7676-BF5C-15AD-6B279E37D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99438"/>
            <a:ext cx="10808367" cy="57427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The Incumbency Effect – Centralization of resources; </a:t>
            </a: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Seniority</a:t>
            </a:r>
            <a:r>
              <a:rPr lang="en-US" altLang="zh-CN" sz="2200" b="1" dirty="0">
                <a:latin typeface="Century Gothic" panose="020B0502020202020204" pitchFamily="34" charset="0"/>
              </a:rPr>
              <a:t> matters!</a:t>
            </a:r>
            <a:endParaRPr lang="en-US" altLang="zh-CN" sz="16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Redistricting</a:t>
            </a:r>
            <a:r>
              <a:rPr lang="en-US" altLang="zh-CN" sz="2000" dirty="0">
                <a:latin typeface="Century Gothic" panose="020B0502020202020204" pitchFamily="34" charset="0"/>
              </a:rPr>
              <a:t>: Strategic redistribution of representatives - </a:t>
            </a:r>
            <a:r>
              <a:rPr lang="en-US" altLang="zh-CN" sz="2000" b="1" dirty="0">
                <a:latin typeface="Century Gothic" panose="020B0502020202020204" pitchFamily="34" charset="0"/>
              </a:rPr>
              <a:t>gerrymandering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Name recognition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Franking privilege: the right to send mass communications at taxpayer expense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Use of social media: </a:t>
            </a: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What do you think of political stars’ use of social media? Is it good or bad / substantive or just a performance?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Casework: </a:t>
            </a:r>
            <a:r>
              <a:rPr lang="en-US" altLang="zh-CN" sz="2000" dirty="0">
                <a:latin typeface="Century Gothic" panose="020B0502020202020204" pitchFamily="34" charset="0"/>
              </a:rPr>
              <a:t>Solving problems in person for constituents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Campaign financing</a:t>
            </a: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Successful challengers: Also some kind of “centralization”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“Vulnerable incumbents bring out higher-quality challengers.”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Whom do we elect? – Most are upper-class professionals.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Elite theory? </a:t>
            </a: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Does majoritarian democracy always lead to elite ruling?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Descriptive representation</a:t>
            </a:r>
            <a:r>
              <a:rPr lang="en-US" altLang="zh-CN" sz="2000" dirty="0">
                <a:latin typeface="Century Gothic" panose="020B0502020202020204" pitchFamily="34" charset="0"/>
              </a:rPr>
              <a:t>: Legislature should resemble the demographic characteristics of the population it represents.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zh-CN" sz="24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zh-CN" sz="2200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7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A65B-35DA-F3D8-9A11-DE9CFDA4E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F7710-DC54-9115-C82C-9427A2C99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485" y="26566"/>
            <a:ext cx="10808368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How does Congress work?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EE0F9-F7DC-BE94-7853-2D5CCD28B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87" y="1352129"/>
            <a:ext cx="7792452" cy="586252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Agenda Setting</a:t>
            </a:r>
          </a:p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Bill introduced</a:t>
            </a:r>
          </a:p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Committee &amp; subcommittee -&gt; </a:t>
            </a:r>
            <a:r>
              <a:rPr lang="en-US" altLang="zh-CN" sz="2200" b="1" dirty="0">
                <a:latin typeface="Century Gothic" panose="020B0502020202020204" pitchFamily="34" charset="0"/>
              </a:rPr>
              <a:t>specific expertise</a:t>
            </a:r>
            <a:endParaRPr lang="en-US" altLang="zh-CN" sz="2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1900" b="1" dirty="0">
                <a:latin typeface="Constantia" panose="02030602050306030303" pitchFamily="18" charset="0"/>
              </a:rPr>
              <a:t>“Congress in session is Congress on public exhibition, whilst Congress in its committee-rooms is Congress at work.”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latin typeface="Constantia" panose="02030602050306030303" pitchFamily="18" charset="0"/>
              </a:rPr>
              <a:t>Markup sessions</a:t>
            </a:r>
            <a:r>
              <a:rPr lang="en-US" altLang="zh-CN" sz="1800" dirty="0">
                <a:latin typeface="Constantia" panose="02030602050306030303" pitchFamily="18" charset="0"/>
              </a:rPr>
              <a:t>: the meetings at which subcommittees and committees actually debate and amend legislation.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Constantia" panose="02030602050306030303" pitchFamily="18" charset="0"/>
              </a:rPr>
              <a:t>Why</a:t>
            </a:r>
            <a:r>
              <a:rPr lang="zh-CN" altLang="en-US" sz="1800" b="1" dirty="0">
                <a:solidFill>
                  <a:srgbClr val="FF0000"/>
                </a:solidFill>
                <a:latin typeface="Constantia" panose="02030602050306030303" pitchFamily="18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Constantia" panose="02030602050306030303" pitchFamily="18" charset="0"/>
              </a:rPr>
              <a:t>can members of Congress be usually willing to discuss and negotiate?</a:t>
            </a:r>
          </a:p>
          <a:p>
            <a:pPr lvl="1">
              <a:lnSpc>
                <a:spcPct val="100000"/>
              </a:lnSpc>
            </a:pPr>
            <a:r>
              <a:rPr lang="en-US" altLang="zh-CN" sz="1900" b="1" dirty="0">
                <a:latin typeface="Century Gothic" panose="020B0502020202020204" pitchFamily="34" charset="0"/>
              </a:rPr>
              <a:t>Committees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r>
              <a:rPr lang="en-US" altLang="zh-CN" sz="1800" dirty="0">
                <a:latin typeface="Century Gothic" panose="020B0502020202020204" pitchFamily="34" charset="0"/>
              </a:rPr>
              <a:t>Standing committees (permanent)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r>
              <a:rPr lang="en-US" altLang="zh-CN" sz="1800" dirty="0">
                <a:latin typeface="Century Gothic" panose="020B0502020202020204" pitchFamily="34" charset="0"/>
              </a:rPr>
              <a:t>Joint committee: made up of</a:t>
            </a:r>
            <a:r>
              <a:rPr lang="zh-CN" altLang="en-US" sz="1800" dirty="0">
                <a:latin typeface="Century Gothic" panose="020B0502020202020204" pitchFamily="34" charset="0"/>
              </a:rPr>
              <a:t> </a:t>
            </a:r>
            <a:r>
              <a:rPr lang="en-US" altLang="zh-CN" sz="1800" dirty="0">
                <a:latin typeface="Century Gothic" panose="020B0502020202020204" pitchFamily="34" charset="0"/>
              </a:rPr>
              <a:t>members of both the House &amp; the Senate, for fact finding or publicizing issues 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r>
              <a:rPr lang="en-US" altLang="zh-CN" sz="1800" dirty="0">
                <a:latin typeface="Century Gothic" panose="020B0502020202020204" pitchFamily="34" charset="0"/>
              </a:rPr>
              <a:t>Select committee: for specific, (temporary) purposes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Ø"/>
            </a:pPr>
            <a:r>
              <a:rPr lang="en-US" altLang="zh-CN" sz="1800" dirty="0">
                <a:latin typeface="Century Gothic" panose="020B0502020202020204" pitchFamily="34" charset="0"/>
              </a:rPr>
              <a:t>Conference committee: rare in practice</a:t>
            </a:r>
          </a:p>
          <a:p>
            <a:pPr lvl="1">
              <a:lnSpc>
                <a:spcPct val="100000"/>
              </a:lnSpc>
            </a:pPr>
            <a:endParaRPr lang="en-US" altLang="zh-CN" sz="1900" dirty="0">
              <a:latin typeface="Century Gothic" panose="020B0502020202020204" pitchFamily="34" charset="0"/>
            </a:endParaRPr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D8644D76-F16B-5C3B-3AA6-C2EF1B869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239" y="26566"/>
            <a:ext cx="40687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91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E965-1EC2-75B0-A138-BE54EB21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E3BBD-CC59-43AC-483F-5B2DB4E5E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2" y="1165743"/>
            <a:ext cx="11095496" cy="56922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Leadership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The House: Speaker of the house, majority / minority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leader / whip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The Senate: Vice president (rarely present), </a:t>
            </a:r>
            <a:r>
              <a:rPr kumimoji="1" lang="en-US" altLang="zh-CN" sz="2000" i="1" dirty="0">
                <a:latin typeface="Century Gothic" panose="020B0502020202020204" pitchFamily="34" charset="0"/>
              </a:rPr>
              <a:t>President pro tempore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(honorary), majority leader (actual power</a:t>
            </a:r>
            <a:r>
              <a:rPr kumimoji="1" lang="zh-CN" altLang="en-US" sz="2000" dirty="0">
                <a:latin typeface="Century Gothic" panose="020B0502020202020204" pitchFamily="34" charset="0"/>
              </a:rPr>
              <a:t>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holder) </a:t>
            </a:r>
          </a:p>
          <a:p>
            <a:pPr lvl="1">
              <a:lnSpc>
                <a:spcPct val="100000"/>
              </a:lnSpc>
            </a:pPr>
            <a:endParaRPr kumimoji="1" lang="en-US" altLang="zh-CN" sz="15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Rules of procedure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Major differences between the House &amp; the Senate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Amendments: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directly relevant to the bill at hand </a:t>
            </a:r>
            <a:r>
              <a:rPr kumimoji="1" lang="en-US" altLang="zh-CN" sz="1800" b="1" i="1" dirty="0">
                <a:latin typeface="Century Gothic" panose="020B0502020202020204" pitchFamily="34" charset="0"/>
              </a:rPr>
              <a:t>v.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they can be irrelevant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Floor debate governing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: Rules committee </a:t>
            </a:r>
            <a:r>
              <a:rPr kumimoji="1" lang="en-US" altLang="zh-CN" sz="1800" b="1" i="1" dirty="0">
                <a:latin typeface="Century Gothic" panose="020B0502020202020204" pitchFamily="34" charset="0"/>
              </a:rPr>
              <a:t>v.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unanimous consent agreements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Length</a:t>
            </a:r>
            <a:r>
              <a:rPr kumimoji="1" lang="zh-CN" altLang="en-US" sz="18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1800" b="1" dirty="0">
                <a:latin typeface="Century Gothic" panose="020B0502020202020204" pitchFamily="34" charset="0"/>
              </a:rPr>
              <a:t>of debate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: Only the speaker &amp; minority leader can speak more than 1 hour </a:t>
            </a:r>
            <a:r>
              <a:rPr kumimoji="1" lang="en-US" altLang="zh-CN" sz="1800" b="1" i="1" dirty="0">
                <a:latin typeface="Century Gothic" panose="020B0502020202020204" pitchFamily="34" charset="0"/>
              </a:rPr>
              <a:t>v.</a:t>
            </a:r>
          </a:p>
          <a:p>
            <a:pPr lvl="3">
              <a:buFont typeface="Wingdings" pitchFamily="2" charset="2"/>
              <a:buChar char="Ø"/>
            </a:pPr>
            <a:r>
              <a:rPr kumimoji="1" lang="en-US" altLang="zh-CN" b="1" dirty="0">
                <a:latin typeface="Century Gothic" panose="020B0502020202020204" pitchFamily="34" charset="0"/>
              </a:rPr>
              <a:t>Filibuster: </a:t>
            </a:r>
            <a:r>
              <a:rPr lang="en-US" altLang="zh-CN" dirty="0">
                <a:latin typeface="Century Gothic" panose="020B0502020202020204" pitchFamily="34" charset="0"/>
              </a:rPr>
              <a:t>A delaying tactic used in the Senate that allows any senator to prevent a bill from coming to a vote.</a:t>
            </a:r>
            <a:endParaRPr kumimoji="1" lang="en-US" altLang="zh-CN" b="1" dirty="0">
              <a:latin typeface="Century Gothic" panose="020B0502020202020204" pitchFamily="34" charset="0"/>
            </a:endParaRPr>
          </a:p>
          <a:p>
            <a:pPr lvl="3">
              <a:buFont typeface="Wingdings" pitchFamily="2" charset="2"/>
              <a:buChar char="Ø"/>
            </a:pPr>
            <a:r>
              <a:rPr kumimoji="1" lang="en-US" altLang="zh-CN" b="1" dirty="0">
                <a:latin typeface="Century Gothic" panose="020B0502020202020204" pitchFamily="34" charset="0"/>
              </a:rPr>
              <a:t>Cloture:</a:t>
            </a:r>
            <a:r>
              <a:rPr lang="en-US" altLang="zh-CN" i="1" dirty="0"/>
              <a:t> </a:t>
            </a:r>
            <a:r>
              <a:rPr lang="en-US" altLang="zh-CN" dirty="0">
                <a:latin typeface="Century Gothic" panose="020B0502020202020204" pitchFamily="34" charset="0"/>
              </a:rPr>
              <a:t>The mechanism by which a filibuster is cut off in the Senate.</a:t>
            </a:r>
          </a:p>
          <a:p>
            <a:pPr lvl="3">
              <a:buFont typeface="Wingdings" pitchFamily="2" charset="2"/>
              <a:buChar char="Ø"/>
            </a:pPr>
            <a:r>
              <a:rPr kumimoji="1" lang="en-US" altLang="zh-CN" b="1" dirty="0">
                <a:latin typeface="Century Gothic" panose="020B0502020202020204" pitchFamily="34" charset="0"/>
              </a:rPr>
              <a:t>Hold:</a:t>
            </a:r>
            <a:r>
              <a:rPr lang="en-US" altLang="zh-CN" i="1" dirty="0"/>
              <a:t> </a:t>
            </a:r>
            <a:r>
              <a:rPr lang="en-US" altLang="zh-CN" dirty="0">
                <a:latin typeface="Century Gothic" panose="020B0502020202020204" pitchFamily="34" charset="0"/>
              </a:rPr>
              <a:t>A letter requesting that a bill be</a:t>
            </a:r>
            <a:r>
              <a:rPr lang="zh-CN" altLang="en-US" dirty="0">
                <a:latin typeface="Century Gothic" panose="020B0502020202020204" pitchFamily="34" charset="0"/>
              </a:rPr>
              <a:t> </a:t>
            </a:r>
            <a:r>
              <a:rPr lang="en-US" altLang="zh-CN" dirty="0">
                <a:latin typeface="Century Gothic" panose="020B0502020202020204" pitchFamily="34" charset="0"/>
              </a:rPr>
              <a:t>held from floor debate, which signals filibuster.</a:t>
            </a:r>
            <a:endParaRPr kumimoji="1" lang="en-US" altLang="zh-CN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Great efforts in coordination -&gt; centralize the authority of party leaders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Is the centralization of power an inevitable result of high coordination costs?</a:t>
            </a:r>
            <a:endParaRPr kumimoji="1" lang="en-US" altLang="zh-CN" sz="18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ED413E5-1736-8558-749C-4C81B5413F49}"/>
              </a:ext>
            </a:extLst>
          </p:cNvPr>
          <p:cNvSpPr txBox="1">
            <a:spLocks/>
          </p:cNvSpPr>
          <p:nvPr/>
        </p:nvSpPr>
        <p:spPr>
          <a:xfrm>
            <a:off x="54825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How does Congress work? (cont`d)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367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18204-E543-7A55-D818-275370D2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E0B340-FD8E-B07F-4032-D2BE8498F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2" y="1165743"/>
            <a:ext cx="11095496" cy="56922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Stakeholders in legislation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Political</a:t>
            </a:r>
            <a:r>
              <a:rPr kumimoji="1" lang="zh-CN" altLang="en-US" sz="20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Parties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: leading to majoritarianism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As a reward to loyalty, those who vote in line with the party can get better assignments.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Partisan polarization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leads to harder procedures for a bill to be passed or revised.</a:t>
            </a:r>
          </a:p>
          <a:p>
            <a:pPr lvl="3">
              <a:lnSpc>
                <a:spcPct val="100000"/>
              </a:lnSpc>
            </a:pPr>
            <a:r>
              <a:rPr kumimoji="1" lang="en-US" altLang="zh-CN" sz="1700" dirty="0">
                <a:latin typeface="Century Gothic" panose="020B0502020202020204" pitchFamily="34" charset="0"/>
              </a:rPr>
              <a:t>The House majority -&gt; </a:t>
            </a:r>
            <a:r>
              <a:rPr kumimoji="1" lang="en-US" altLang="zh-CN" sz="1700" b="1" i="1" dirty="0">
                <a:latin typeface="Century Gothic" panose="020B0502020202020204" pitchFamily="34" charset="0"/>
              </a:rPr>
              <a:t>closed rule</a:t>
            </a:r>
            <a:r>
              <a:rPr kumimoji="1" lang="en-US" altLang="zh-CN" sz="1700" dirty="0">
                <a:latin typeface="Century Gothic" panose="020B0502020202020204" pitchFamily="34" charset="0"/>
              </a:rPr>
              <a:t>, which only allows amendments to come from the committee that brought the bill to the floor of the chamber.</a:t>
            </a:r>
          </a:p>
          <a:p>
            <a:pPr lvl="3">
              <a:lnSpc>
                <a:spcPct val="100000"/>
              </a:lnSpc>
            </a:pPr>
            <a:r>
              <a:rPr kumimoji="1" lang="en-US" altLang="zh-CN" sz="1700" dirty="0">
                <a:latin typeface="Century Gothic" panose="020B0502020202020204" pitchFamily="34" charset="0"/>
              </a:rPr>
              <a:t>The Senate majority -&gt; “</a:t>
            </a:r>
            <a:r>
              <a:rPr kumimoji="1" lang="en-US" altLang="zh-CN" sz="1700" b="1" i="1" dirty="0">
                <a:latin typeface="Century Gothic" panose="020B0502020202020204" pitchFamily="34" charset="0"/>
              </a:rPr>
              <a:t>filling the amendment tree</a:t>
            </a:r>
            <a:r>
              <a:rPr kumimoji="1" lang="en-US" altLang="zh-CN" sz="1700" dirty="0">
                <a:latin typeface="Century Gothic" panose="020B0502020202020204" pitchFamily="34" charset="0"/>
              </a:rPr>
              <a:t>”, which allows the majority leader to propose all permissible amendments to a post-cloture bill on the floor, preventing the minority party from altering the bill.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President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: leading to majoritarianism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dirty="0">
                <a:latin typeface="Century Gothic" panose="020B0502020202020204" pitchFamily="34" charset="0"/>
              </a:rPr>
              <a:t>Extension of presidency in the legislative process (“chief legislator”)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Constituents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: leading to pluralism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dirty="0">
                <a:latin typeface="Century Gothic" panose="020B0502020202020204" pitchFamily="34" charset="0"/>
              </a:rPr>
              <a:t>The diversity of America is mirrored by the geographical basis of representation in Congress. Constituencies push and pull Congress in many different directions.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Interest groups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: leading to pluralism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dirty="0">
                <a:latin typeface="Century Gothic" panose="020B0502020202020204" pitchFamily="34" charset="0"/>
              </a:rPr>
              <a:t>Lobbies</a:t>
            </a: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53F2B89-0EF1-EE9A-3D98-CFB2F0033F11}"/>
              </a:ext>
            </a:extLst>
          </p:cNvPr>
          <p:cNvSpPr txBox="1">
            <a:spLocks/>
          </p:cNvSpPr>
          <p:nvPr/>
        </p:nvSpPr>
        <p:spPr>
          <a:xfrm>
            <a:off x="54825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How does Congress work? (cont`d)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34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2287D-C457-579B-A48C-6E7D3714B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CACDC-29F8-55A7-6D55-60C0B2E1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Majoritarian &amp; Pluralist democracy in Congress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A1A25-C9C8-E0B0-F4A9-6937D4150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564"/>
            <a:ext cx="10832433" cy="55921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Majoritarian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Representatives &amp; senators are directly elected. Most committees reflect the general ideological profiles of the two parties’ congressional contingents. 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One view: Congress members are</a:t>
            </a:r>
            <a:r>
              <a:rPr lang="en-US" altLang="zh-CN" sz="2000" b="1" dirty="0">
                <a:latin typeface="Century Gothic" panose="020B0502020202020204" pitchFamily="34" charset="0"/>
              </a:rPr>
              <a:t> trustees </a:t>
            </a:r>
            <a:r>
              <a:rPr lang="en-US" altLang="zh-CN" sz="2000" dirty="0">
                <a:latin typeface="Century Gothic" panose="020B0502020202020204" pitchFamily="34" charset="0"/>
              </a:rPr>
              <a:t>of their constituents. (They aren’t obliged to vote according to their constituents’ views if they think it wrong.)</a:t>
            </a:r>
          </a:p>
          <a:p>
            <a:pPr lvl="1"/>
            <a:r>
              <a:rPr lang="en-US" altLang="zh-CN" sz="2000" dirty="0">
                <a:latin typeface="Century Gothic" panose="020B0502020202020204" pitchFamily="34" charset="0"/>
              </a:rPr>
              <a:t>When legislators act as </a:t>
            </a:r>
            <a:r>
              <a:rPr lang="en-US" altLang="zh-CN" sz="2000" b="1" dirty="0">
                <a:latin typeface="Century Gothic" panose="020B0502020202020204" pitchFamily="34" charset="0"/>
              </a:rPr>
              <a:t>trustees</a:t>
            </a:r>
            <a:r>
              <a:rPr lang="en-US" altLang="zh-CN" sz="2000" dirty="0">
                <a:latin typeface="Century Gothic" panose="020B0502020202020204" pitchFamily="34" charset="0"/>
              </a:rPr>
              <a:t>, policymaking becomes less tied to the narrower interests of districts and states. (more </a:t>
            </a:r>
            <a:r>
              <a:rPr lang="en-US" altLang="zh-CN" sz="2000" b="1" dirty="0">
                <a:latin typeface="Century Gothic" panose="020B0502020202020204" pitchFamily="34" charset="0"/>
              </a:rPr>
              <a:t>majoritarian</a:t>
            </a:r>
            <a:r>
              <a:rPr lang="en-US" altLang="zh-CN" sz="2000" dirty="0">
                <a:latin typeface="Century Gothic" panose="020B0502020202020204" pitchFamily="34" charset="0"/>
              </a:rPr>
              <a:t>)</a:t>
            </a:r>
          </a:p>
          <a:p>
            <a:pPr lvl="2"/>
            <a:r>
              <a:rPr lang="en-US" altLang="zh-CN" sz="1800" dirty="0">
                <a:latin typeface="Century Gothic" panose="020B0502020202020204" pitchFamily="34" charset="0"/>
              </a:rPr>
              <a:t>However, … can be more tied to partisanship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Both parties can have similar policy focus (e.g. reduction in deficits).</a:t>
            </a:r>
          </a:p>
          <a:p>
            <a:pPr lvl="1">
              <a:lnSpc>
                <a:spcPct val="100000"/>
              </a:lnSpc>
            </a:pPr>
            <a:endParaRPr lang="en-US" altLang="zh-CN" sz="1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Pluralist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Another</a:t>
            </a:r>
            <a:r>
              <a:rPr lang="zh-CN" altLang="en-US" sz="2000" dirty="0">
                <a:latin typeface="Century Gothic" panose="020B0502020202020204" pitchFamily="34" charset="0"/>
              </a:rPr>
              <a:t> </a:t>
            </a:r>
            <a:r>
              <a:rPr lang="en-US" altLang="zh-CN" sz="2000" dirty="0">
                <a:latin typeface="Century Gothic" panose="020B0502020202020204" pitchFamily="34" charset="0"/>
              </a:rPr>
              <a:t>view: Congress members are</a:t>
            </a:r>
            <a:r>
              <a:rPr lang="zh-CN" altLang="en-US" sz="2000" dirty="0">
                <a:latin typeface="Century Gothic" panose="020B0502020202020204" pitchFamily="34" charset="0"/>
              </a:rPr>
              <a:t> </a:t>
            </a:r>
            <a:r>
              <a:rPr lang="en-US" altLang="zh-CN" sz="2000" b="1" dirty="0">
                <a:latin typeface="Century Gothic" panose="020B0502020202020204" pitchFamily="34" charset="0"/>
              </a:rPr>
              <a:t>delegates</a:t>
            </a:r>
            <a:r>
              <a:rPr lang="en-US" altLang="zh-CN" sz="2000" dirty="0">
                <a:latin typeface="Century Gothic" panose="020B0502020202020204" pitchFamily="34" charset="0"/>
              </a:rPr>
              <a:t> of their constituents. (faithfully reflect the majority will of constituents)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When legislators act as </a:t>
            </a:r>
            <a:r>
              <a:rPr lang="en-US" altLang="zh-CN" sz="2000" b="1" dirty="0">
                <a:latin typeface="Century Gothic" panose="020B0502020202020204" pitchFamily="34" charset="0"/>
              </a:rPr>
              <a:t>delegates</a:t>
            </a:r>
            <a:r>
              <a:rPr lang="en-US" altLang="zh-CN" sz="2000" dirty="0">
                <a:latin typeface="Century Gothic" panose="020B0502020202020204" pitchFamily="34" charset="0"/>
              </a:rPr>
              <a:t>, congressional policymaking is more </a:t>
            </a:r>
            <a:r>
              <a:rPr lang="en-US" altLang="zh-CN" sz="2000" b="1" dirty="0">
                <a:latin typeface="Century Gothic" panose="020B0502020202020204" pitchFamily="34" charset="0"/>
              </a:rPr>
              <a:t>pluralistic</a:t>
            </a:r>
            <a:r>
              <a:rPr lang="en-US" altLang="zh-CN" sz="2000" dirty="0">
                <a:latin typeface="Century Gothic" panose="020B0502020202020204" pitchFamily="34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However, when it comes to distribution of benefits, legislators can turn to what they can do for their district or state.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76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7F66E-8548-209F-44F9-3E42AC0B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62F62-3ED5-FFC0-ABDB-7834FEDA0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Discussion: Delegates or Trustees?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8A0A33-63B0-555E-C43E-4F97FFB3D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832433" cy="52494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Century Gothic" panose="020B0502020202020204" pitchFamily="34" charset="0"/>
              </a:rPr>
              <a:t>Abortion legislation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entury Gothic" panose="020B0502020202020204" pitchFamily="34" charset="0"/>
              </a:rPr>
              <a:t>Climate Change &amp; Environmental Regulation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entury Gothic" panose="020B0502020202020204" pitchFamily="34" charset="0"/>
              </a:rPr>
              <a:t>Marijuana Control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entury Gothic" panose="020B0502020202020204" pitchFamily="34" charset="0"/>
              </a:rPr>
              <a:t>Foreign Policy &amp; War Powers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entury Gothic" panose="020B0502020202020204" pitchFamily="34" charset="0"/>
              </a:rPr>
              <a:t>Economic Policy &amp; Taxation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entury Gothic" panose="020B0502020202020204" pitchFamily="34" charset="0"/>
              </a:rPr>
              <a:t>Civil Rights &amp; Minority Rights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entury Gothic" panose="020B0502020202020204" pitchFamily="34" charset="0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47017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F266-461F-DFC0-F19B-F4DD64CD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B36D4-3E60-4CD4-ECC1-CDF30640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Next week…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DFA93-F961-8DB9-6735-5EC134B68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577"/>
            <a:ext cx="10515600" cy="473223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Read materials on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Presidency</a:t>
            </a:r>
            <a:r>
              <a:rPr lang="en-US" altLang="zh-CN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dirty="0">
                <a:latin typeface="Century Gothic" panose="020B0502020202020204" pitchFamily="34" charset="0"/>
              </a:rPr>
              <a:t>before class, and that will be helpful to participate in peer discussions.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Feel free to email me if you have any questions!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ENJOY YOUR WEEKEND!</a:t>
            </a:r>
          </a:p>
        </p:txBody>
      </p:sp>
    </p:spTree>
    <p:extLst>
      <p:ext uri="{BB962C8B-B14F-4D97-AF65-F5344CB8AC3E}">
        <p14:creationId xmlns:p14="http://schemas.microsoft.com/office/powerpoint/2010/main" val="50742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5797</TotalTime>
  <Words>1118</Words>
  <Application>Microsoft Macintosh PowerPoint</Application>
  <PresentationFormat>宽屏</PresentationFormat>
  <Paragraphs>120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等线 Light</vt:lpstr>
      <vt:lpstr>Arial</vt:lpstr>
      <vt:lpstr>Century Gothic</vt:lpstr>
      <vt:lpstr>Constantia</vt:lpstr>
      <vt:lpstr>Wingdings</vt:lpstr>
      <vt:lpstr>Office 主题​​</vt:lpstr>
      <vt:lpstr>7. Congress</vt:lpstr>
      <vt:lpstr>Exam Hand Back</vt:lpstr>
      <vt:lpstr>The Origin and Powers of Congress</vt:lpstr>
      <vt:lpstr>Electing Congress</vt:lpstr>
      <vt:lpstr>How does Congress work?</vt:lpstr>
      <vt:lpstr>PowerPoint 演示文稿</vt:lpstr>
      <vt:lpstr>PowerPoint 演示文稿</vt:lpstr>
      <vt:lpstr>Majoritarian &amp; Pluralist democracy in Congress</vt:lpstr>
      <vt:lpstr>Discussion: Delegates or Trustees?</vt:lpstr>
      <vt:lpstr>Next week…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Zhao</dc:creator>
  <cp:lastModifiedBy>sy Zhao</cp:lastModifiedBy>
  <cp:revision>96</cp:revision>
  <dcterms:created xsi:type="dcterms:W3CDTF">2025-08-13T18:40:43Z</dcterms:created>
  <dcterms:modified xsi:type="dcterms:W3CDTF">2025-09-25T00:43:00Z</dcterms:modified>
</cp:coreProperties>
</file>