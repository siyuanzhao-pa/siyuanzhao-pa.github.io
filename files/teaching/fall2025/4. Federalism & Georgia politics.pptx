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73" r:id="rId4"/>
    <p:sldId id="272" r:id="rId5"/>
    <p:sldId id="274" r:id="rId6"/>
    <p:sldId id="269" r:id="rId7"/>
    <p:sldId id="263"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4"/>
    <p:restoredTop sz="83579"/>
  </p:normalViewPr>
  <p:slideViewPr>
    <p:cSldViewPr snapToGrid="0">
      <p:cViewPr varScale="1">
        <p:scale>
          <a:sx n="80" d="100"/>
          <a:sy n="80" d="100"/>
        </p:scale>
        <p:origin x="224" y="10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C2761-774B-F042-9BD3-0C52A688F4FB}" type="datetimeFigureOut">
              <a:rPr kumimoji="1" lang="zh-CN" altLang="en-US" smtClean="0"/>
              <a:t>2025/9/5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92E27-0BA6-464B-8F92-818B943024AB}" type="slidenum">
              <a:rPr kumimoji="1" lang="zh-CN" altLang="en-US" smtClean="0"/>
              <a:t>‹#›</a:t>
            </a:fld>
            <a:endParaRPr kumimoji="1" lang="zh-CN" altLang="en-US"/>
          </a:p>
        </p:txBody>
      </p:sp>
    </p:spTree>
    <p:extLst>
      <p:ext uri="{BB962C8B-B14F-4D97-AF65-F5344CB8AC3E}">
        <p14:creationId xmlns:p14="http://schemas.microsoft.com/office/powerpoint/2010/main" val="593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Today we re going to talk about</a:t>
            </a:r>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1</a:t>
            </a:fld>
            <a:endParaRPr kumimoji="1" lang="zh-CN" altLang="en-US"/>
          </a:p>
        </p:txBody>
      </p:sp>
    </p:spTree>
    <p:extLst>
      <p:ext uri="{BB962C8B-B14F-4D97-AF65-F5344CB8AC3E}">
        <p14:creationId xmlns:p14="http://schemas.microsoft.com/office/powerpoint/2010/main" val="970865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sz="1600"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2</a:t>
            </a:fld>
            <a:endParaRPr kumimoji="1" lang="zh-CN" altLang="en-US"/>
          </a:p>
        </p:txBody>
      </p:sp>
    </p:spTree>
    <p:extLst>
      <p:ext uri="{BB962C8B-B14F-4D97-AF65-F5344CB8AC3E}">
        <p14:creationId xmlns:p14="http://schemas.microsoft.com/office/powerpoint/2010/main" val="251675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28DC-9620-41E7-B96A-CA01E6CFDF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0AF89-89D5-489D-07AC-4CE0A44A55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5A20E-CEA6-2270-1030-48B82B136163}"/>
              </a:ext>
            </a:extLst>
          </p:cNvPr>
          <p:cNvSpPr>
            <a:spLocks noGrp="1"/>
          </p:cNvSpPr>
          <p:nvPr>
            <p:ph type="body" idx="1"/>
          </p:nvPr>
        </p:nvSpPr>
        <p:spPr/>
        <p:txBody>
          <a:bodyPr/>
          <a:lstStyle/>
          <a:p>
            <a:r>
              <a:rPr kumimoji="1" lang="en-US" altLang="zh-CN" sz="1600" dirty="0"/>
              <a:t>Specific purposes vs. general ones</a:t>
            </a:r>
          </a:p>
          <a:p>
            <a:r>
              <a:rPr kumimoji="1" lang="en-US" altLang="zh-CN" sz="1600" dirty="0"/>
              <a:t>Distributed according to some rules vs. compete for the grant</a:t>
            </a:r>
          </a:p>
          <a:p>
            <a:endParaRPr kumimoji="1" lang="en-US" altLang="zh-CN" sz="1600" dirty="0"/>
          </a:p>
          <a:p>
            <a:r>
              <a:rPr kumimoji="1" lang="en-US" altLang="zh-CN" sz="1600" dirty="0"/>
              <a:t>Regular tasks</a:t>
            </a:r>
            <a:endParaRPr kumimoji="1" lang="zh-CN" altLang="en-US" sz="1600" dirty="0"/>
          </a:p>
        </p:txBody>
      </p:sp>
      <p:sp>
        <p:nvSpPr>
          <p:cNvPr id="4" name="灯片编号占位符 3">
            <a:extLst>
              <a:ext uri="{FF2B5EF4-FFF2-40B4-BE49-F238E27FC236}">
                <a16:creationId xmlns:a16="http://schemas.microsoft.com/office/drawing/2014/main" id="{A036ADAA-E146-684B-A076-081810DA21EC}"/>
              </a:ext>
            </a:extLst>
          </p:cNvPr>
          <p:cNvSpPr>
            <a:spLocks noGrp="1"/>
          </p:cNvSpPr>
          <p:nvPr>
            <p:ph type="sldNum" sz="quarter" idx="5"/>
          </p:nvPr>
        </p:nvSpPr>
        <p:spPr/>
        <p:txBody>
          <a:bodyPr/>
          <a:lstStyle/>
          <a:p>
            <a:fld id="{CB092E27-0BA6-464B-8F92-818B943024AB}" type="slidenum">
              <a:rPr kumimoji="1" lang="zh-CN" altLang="en-US" smtClean="0"/>
              <a:t>3</a:t>
            </a:fld>
            <a:endParaRPr kumimoji="1" lang="zh-CN" altLang="en-US"/>
          </a:p>
        </p:txBody>
      </p:sp>
    </p:spTree>
    <p:extLst>
      <p:ext uri="{BB962C8B-B14F-4D97-AF65-F5344CB8AC3E}">
        <p14:creationId xmlns:p14="http://schemas.microsoft.com/office/powerpoint/2010/main" val="2361038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A2B2-99F4-8434-4043-90F0045DF04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F74401-6074-DFA7-3822-B784E477F0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381339-2B7E-6BEB-C024-61DAE1D07C21}"/>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C6FC5F41-02AA-0710-0856-F0FD4FBFB66F}"/>
              </a:ext>
            </a:extLst>
          </p:cNvPr>
          <p:cNvSpPr>
            <a:spLocks noGrp="1"/>
          </p:cNvSpPr>
          <p:nvPr>
            <p:ph type="sldNum" sz="quarter" idx="5"/>
          </p:nvPr>
        </p:nvSpPr>
        <p:spPr/>
        <p:txBody>
          <a:bodyPr/>
          <a:lstStyle/>
          <a:p>
            <a:fld id="{CB092E27-0BA6-464B-8F92-818B943024AB}" type="slidenum">
              <a:rPr kumimoji="1" lang="zh-CN" altLang="en-US" smtClean="0"/>
              <a:t>4</a:t>
            </a:fld>
            <a:endParaRPr kumimoji="1" lang="zh-CN" altLang="en-US"/>
          </a:p>
        </p:txBody>
      </p:sp>
    </p:spTree>
    <p:extLst>
      <p:ext uri="{BB962C8B-B14F-4D97-AF65-F5344CB8AC3E}">
        <p14:creationId xmlns:p14="http://schemas.microsoft.com/office/powerpoint/2010/main" val="919998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6</a:t>
            </a:fld>
            <a:endParaRPr kumimoji="1" lang="zh-CN" altLang="en-US"/>
          </a:p>
        </p:txBody>
      </p:sp>
    </p:spTree>
    <p:extLst>
      <p:ext uri="{BB962C8B-B14F-4D97-AF65-F5344CB8AC3E}">
        <p14:creationId xmlns:p14="http://schemas.microsoft.com/office/powerpoint/2010/main" val="3060258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CAC4-5603-9540-4746-DF7D478F111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3E1C22-AA04-379D-70C6-A670FBE5C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2DF2C8-367E-2D45-DF75-FE56AEE427B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96EAD1C0-22F7-2B75-E5B6-416C33DEB9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0D5D4F-5543-EF94-7D9E-26E2EB42014E}"/>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54588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83152-C981-6237-7465-0F9D4C52A9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0A163B-9301-5E7F-A6C9-6D50534B07C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7EFE64-6FB4-1927-0FA3-40A1ED4055FA}"/>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B2C80ED6-E235-BE41-6C84-57A9517261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1D644E8-37BB-F946-0182-7EFE141D75BF}"/>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1879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F04-C3CD-2F64-01B3-3226F98B90C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D1D39D8-BB09-E9E1-AE46-BD0402C3C7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B97D90E-E49A-C653-33E4-3399376B1FD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82CBD9D7-4579-F439-2979-C756072B3C2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7746B-C90D-95F8-97AA-3FFEA76812E3}"/>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30704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304D9-3BF5-05E6-96B1-4655A1D5D0B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D08483-110C-D43D-A3FD-2BB20209E41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4C839D-DA8C-28CB-E5BA-B4723E5B08B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DFE45B9-76B7-AB04-8094-C8CE369E1FC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D4AE34B5-B673-FBFE-4EFF-91DAE128E8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9DB086-FF5A-FE0C-D4BB-2ED5948A4B9D}"/>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594046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83DD5-6BE7-B60B-3830-1C91637238F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58B3FFE-61EA-239B-F19E-01B329548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309DF50-77E9-6A8A-B7FD-52C3A0A2AA2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0CBEA94-5C16-949F-958E-F32A629BA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E3CCEDE-D71C-351E-8E59-1DC6C8EEE59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AD051A4-8FC0-4958-27ED-3FD5D613C09D}"/>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8" name="页脚占位符 7">
            <a:extLst>
              <a:ext uri="{FF2B5EF4-FFF2-40B4-BE49-F238E27FC236}">
                <a16:creationId xmlns:a16="http://schemas.microsoft.com/office/drawing/2014/main" id="{8CB8DCF7-45C3-EA2A-1701-202A609F6A3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C826FD-6CBB-9310-BCE6-0AFD91F0D78C}"/>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9466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7DEE7-0D18-A3AB-6312-227BEE98C67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787988-EB72-BBF2-97A0-18FCAEDE436C}"/>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4" name="页脚占位符 3">
            <a:extLst>
              <a:ext uri="{FF2B5EF4-FFF2-40B4-BE49-F238E27FC236}">
                <a16:creationId xmlns:a16="http://schemas.microsoft.com/office/drawing/2014/main" id="{F71DEEEE-9CED-3233-301C-D61D4952DE6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1FAB2A8-6D82-8150-1ACA-546DA505F5D0}"/>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39539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F89BB-2D98-C933-488B-E600CB0651F0}"/>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3" name="页脚占位符 2">
            <a:extLst>
              <a:ext uri="{FF2B5EF4-FFF2-40B4-BE49-F238E27FC236}">
                <a16:creationId xmlns:a16="http://schemas.microsoft.com/office/drawing/2014/main" id="{427A268E-C4F6-B77D-1351-5DE83C0A386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EF8E4A0-1ACD-7A8E-7C68-98F88D65DBE2}"/>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48318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C987B-49C3-BFCA-7CA6-9ADDA1558D3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0330DC1-52A9-D64F-9566-03B17EB21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77648F5-B097-B233-8517-D224C2405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E39B80-C04B-2C82-D564-BE82DA1191AE}"/>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DAE4910C-3003-45C9-57B8-FCF2A71F59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572AEE-EF5E-7D71-EEBA-B8379AA66BFA}"/>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5191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A6230-C7A5-86BA-5615-904D96A6BC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8371D64-943D-9794-C679-047246E73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4449E2F-39C8-500F-46E0-0C78B03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3EA0B88-6CC1-DD08-915A-A518D5E2FECC}"/>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6" name="页脚占位符 5">
            <a:extLst>
              <a:ext uri="{FF2B5EF4-FFF2-40B4-BE49-F238E27FC236}">
                <a16:creationId xmlns:a16="http://schemas.microsoft.com/office/drawing/2014/main" id="{E51EC198-B676-0D20-89AE-543DC463373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C72265-ADC9-100E-D5B9-3493AC71CEB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66534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69B29-53BC-8508-9E8C-83082E837C4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6C1E39E-2C6E-E37C-2D42-EA3A825182C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32F3AD-94BB-4CB2-C858-7F07E36DE0C5}"/>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45B73678-DBC5-35FE-7720-4954170E71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3E6E86-AEF4-9E51-11FF-DBEEDF93F677}"/>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9316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3943D8-D242-3E2F-C24F-4E005E76AE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629DC73-6886-F0DB-9DA5-9ED96CE8253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2B799C-9E0E-429F-C629-2A18626668DB}"/>
              </a:ext>
            </a:extLst>
          </p:cNvPr>
          <p:cNvSpPr>
            <a:spLocks noGrp="1"/>
          </p:cNvSpPr>
          <p:nvPr>
            <p:ph type="dt" sz="half" idx="10"/>
          </p:nvPr>
        </p:nvSpPr>
        <p:spPr/>
        <p:txBody>
          <a:body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8794BFC4-5811-57DC-FF5C-4868DB2AC9C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24A7796-940B-415F-C832-E381105EE3E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44912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E35921-9950-2FB0-6355-6B06F016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D1B157-D31D-54B9-7D6A-F6D4AD6AC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F31D3-1A38-6B87-4306-66D57169E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2FA171-DF96-1B41-A089-FAB6FE9A340F}" type="datetimeFigureOut">
              <a:rPr kumimoji="1" lang="zh-CN" altLang="en-US" smtClean="0"/>
              <a:t>2025/9/5</a:t>
            </a:fld>
            <a:endParaRPr kumimoji="1" lang="zh-CN" altLang="en-US"/>
          </a:p>
        </p:txBody>
      </p:sp>
      <p:sp>
        <p:nvSpPr>
          <p:cNvPr id="5" name="页脚占位符 4">
            <a:extLst>
              <a:ext uri="{FF2B5EF4-FFF2-40B4-BE49-F238E27FC236}">
                <a16:creationId xmlns:a16="http://schemas.microsoft.com/office/drawing/2014/main" id="{FBC11102-B856-C277-A8F6-8D6AF8F93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9D88C62-D975-E146-FD0A-E318C5405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23223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E6EF4-2BC6-E096-750F-ECCBB9D42F48}"/>
              </a:ext>
            </a:extLst>
          </p:cNvPr>
          <p:cNvSpPr>
            <a:spLocks noGrp="1"/>
          </p:cNvSpPr>
          <p:nvPr>
            <p:ph type="ctrTitle"/>
          </p:nvPr>
        </p:nvSpPr>
        <p:spPr>
          <a:xfrm>
            <a:off x="1371601" y="903888"/>
            <a:ext cx="9444788" cy="1439425"/>
          </a:xfrm>
        </p:spPr>
        <p:txBody>
          <a:bodyPr>
            <a:normAutofit/>
          </a:bodyPr>
          <a:lstStyle/>
          <a:p>
            <a:r>
              <a:rPr kumimoji="1" lang="en-US" altLang="zh-CN" sz="5400" b="1" dirty="0">
                <a:latin typeface="Century Gothic" panose="020B0502020202020204" pitchFamily="34" charset="0"/>
              </a:rPr>
              <a:t>4. Federalism</a:t>
            </a:r>
            <a:endParaRPr kumimoji="1" lang="zh-CN" altLang="en-US" sz="5400" dirty="0">
              <a:latin typeface="Century Gothic" panose="020B0502020202020204" pitchFamily="34" charset="0"/>
            </a:endParaRPr>
          </a:p>
        </p:txBody>
      </p:sp>
      <p:sp>
        <p:nvSpPr>
          <p:cNvPr id="3" name="副标题 2">
            <a:extLst>
              <a:ext uri="{FF2B5EF4-FFF2-40B4-BE49-F238E27FC236}">
                <a16:creationId xmlns:a16="http://schemas.microsoft.com/office/drawing/2014/main" id="{BD47D000-FF03-80F2-FC6B-25D1B58BDF12}"/>
              </a:ext>
            </a:extLst>
          </p:cNvPr>
          <p:cNvSpPr>
            <a:spLocks noGrp="1"/>
          </p:cNvSpPr>
          <p:nvPr>
            <p:ph type="subTitle" idx="1"/>
          </p:nvPr>
        </p:nvSpPr>
        <p:spPr>
          <a:xfrm>
            <a:off x="1524000" y="3428998"/>
            <a:ext cx="9144000" cy="2982311"/>
          </a:xfrm>
        </p:spPr>
        <p:txBody>
          <a:bodyPr>
            <a:normAutofit lnSpcReduction="10000"/>
          </a:bodyPr>
          <a:lstStyle/>
          <a:p>
            <a:r>
              <a:rPr kumimoji="1" lang="en-US" altLang="zh-CN" b="1" dirty="0">
                <a:latin typeface="Century Gothic" panose="020B0502020202020204" pitchFamily="34" charset="0"/>
              </a:rPr>
              <a:t>Breakout Sessions</a:t>
            </a:r>
          </a:p>
          <a:p>
            <a:r>
              <a:rPr kumimoji="1" lang="en-US" altLang="zh-CN" b="1" dirty="0">
                <a:latin typeface="Century Gothic" panose="020B0502020202020204" pitchFamily="34" charset="0"/>
              </a:rPr>
              <a:t>POLS 1101</a:t>
            </a:r>
          </a:p>
          <a:p>
            <a:r>
              <a:rPr kumimoji="1" lang="en-US" altLang="zh-CN" b="1" dirty="0">
                <a:latin typeface="Century Gothic" panose="020B0502020202020204" pitchFamily="34" charset="0"/>
              </a:rPr>
              <a:t>12:40pm-1:30pm</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Park</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Hall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145</a:t>
            </a:r>
            <a:r>
              <a:rPr kumimoji="1" lang="zh-CN" altLang="en-US" b="1" dirty="0">
                <a:latin typeface="Century Gothic" panose="020B0502020202020204" pitchFamily="34" charset="0"/>
              </a:rPr>
              <a:t> </a:t>
            </a:r>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&amp;</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1:50pm-2:40pm Leconte Hall 135</a:t>
            </a:r>
          </a:p>
          <a:p>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SIYUAN (Siri) ZHAO</a:t>
            </a:r>
          </a:p>
          <a:p>
            <a:r>
              <a:rPr kumimoji="1" lang="en-US" altLang="zh-CN" b="1" dirty="0" err="1">
                <a:latin typeface="Century Gothic" panose="020B0502020202020204" pitchFamily="34" charset="0"/>
              </a:rPr>
              <a:t>Siri.Zhao@uga.edu</a:t>
            </a:r>
            <a:endParaRPr kumimoji="1" lang="zh-CN" altLang="en-US" b="1" dirty="0">
              <a:latin typeface="Century Gothic" panose="020B0502020202020204" pitchFamily="34" charset="0"/>
            </a:endParaRPr>
          </a:p>
        </p:txBody>
      </p:sp>
    </p:spTree>
    <p:extLst>
      <p:ext uri="{BB962C8B-B14F-4D97-AF65-F5344CB8AC3E}">
        <p14:creationId xmlns:p14="http://schemas.microsoft.com/office/powerpoint/2010/main" val="33967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78BB4-4865-3E7B-0D4E-C002FE68D6EB}"/>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Theories</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C1E27992-FA10-911D-8961-FB5AE68C2E5D}"/>
              </a:ext>
            </a:extLst>
          </p:cNvPr>
          <p:cNvSpPr>
            <a:spLocks noGrp="1"/>
          </p:cNvSpPr>
          <p:nvPr>
            <p:ph idx="1"/>
          </p:nvPr>
        </p:nvSpPr>
        <p:spPr>
          <a:xfrm>
            <a:off x="838200" y="1343817"/>
            <a:ext cx="11061032" cy="5316755"/>
          </a:xfrm>
        </p:spPr>
        <p:txBody>
          <a:bodyPr>
            <a:normAutofit fontScale="92500" lnSpcReduction="10000"/>
          </a:bodyPr>
          <a:lstStyle/>
          <a:p>
            <a:pPr>
              <a:lnSpc>
                <a:spcPct val="100000"/>
              </a:lnSpc>
            </a:pPr>
            <a:r>
              <a:rPr lang="en-US" altLang="zh-CN" sz="2400" b="1" i="1" dirty="0">
                <a:latin typeface="Century Gothic" panose="020B0502020202020204" pitchFamily="34" charset="0"/>
              </a:rPr>
              <a:t>Dual federalism</a:t>
            </a:r>
            <a:r>
              <a:rPr lang="en-US" altLang="zh-CN" sz="2400" dirty="0">
                <a:latin typeface="Century Gothic" panose="020B0502020202020204" pitchFamily="34" charset="0"/>
              </a:rPr>
              <a:t>: The powers of the national government and the states are clearly distinguished.</a:t>
            </a:r>
          </a:p>
          <a:p>
            <a:pPr lvl="1">
              <a:lnSpc>
                <a:spcPct val="100000"/>
              </a:lnSpc>
            </a:pPr>
            <a:r>
              <a:rPr lang="en-US" altLang="zh-CN" sz="2000" i="1" dirty="0">
                <a:latin typeface="Century Gothic" panose="020B0502020202020204" pitchFamily="34" charset="0"/>
              </a:rPr>
              <a:t>Delegated powers</a:t>
            </a:r>
          </a:p>
          <a:p>
            <a:pPr lvl="1">
              <a:lnSpc>
                <a:spcPct val="100000"/>
              </a:lnSpc>
            </a:pPr>
            <a:r>
              <a:rPr lang="en-US" altLang="zh-CN" sz="2000" i="1" dirty="0">
                <a:latin typeface="Century Gothic" panose="020B0502020202020204" pitchFamily="34" charset="0"/>
              </a:rPr>
              <a:t>Reserved powers</a:t>
            </a:r>
          </a:p>
          <a:p>
            <a:pPr>
              <a:lnSpc>
                <a:spcPct val="100000"/>
              </a:lnSpc>
            </a:pPr>
            <a:r>
              <a:rPr lang="en-US" altLang="zh-CN" sz="2400" b="1" i="1" dirty="0">
                <a:latin typeface="Century Gothic" panose="020B0502020202020204" pitchFamily="34" charset="0"/>
              </a:rPr>
              <a:t>Cooperative federalism</a:t>
            </a:r>
            <a:r>
              <a:rPr lang="en-US" altLang="zh-CN" sz="2400" dirty="0">
                <a:latin typeface="Century Gothic" panose="020B0502020202020204" pitchFamily="34" charset="0"/>
              </a:rPr>
              <a:t>: Different levels of governments work together to serve people’s needs.</a:t>
            </a:r>
          </a:p>
          <a:p>
            <a:pPr>
              <a:lnSpc>
                <a:spcPct val="100000"/>
              </a:lnSpc>
            </a:pPr>
            <a:r>
              <a:rPr lang="en-US" altLang="zh-CN" sz="2400" b="1" dirty="0">
                <a:latin typeface="Century Gothic" panose="020B0502020202020204" pitchFamily="34" charset="0"/>
              </a:rPr>
              <a:t>Ideal types</a:t>
            </a:r>
            <a:r>
              <a:rPr lang="en-US" altLang="zh-CN" sz="2400" dirty="0">
                <a:latin typeface="Century Gothic" panose="020B0502020202020204" pitchFamily="34" charset="0"/>
              </a:rPr>
              <a:t>! Reality is a mix-up of them.</a:t>
            </a:r>
          </a:p>
          <a:p>
            <a:pPr marL="0" indent="0">
              <a:lnSpc>
                <a:spcPct val="100000"/>
              </a:lnSpc>
              <a:buNone/>
            </a:pPr>
            <a:endParaRPr lang="en-US" altLang="zh-CN" sz="2400" dirty="0">
              <a:latin typeface="Century Gothic" panose="020B0502020202020204" pitchFamily="34" charset="0"/>
            </a:endParaRPr>
          </a:p>
          <a:p>
            <a:pPr>
              <a:lnSpc>
                <a:spcPct val="100000"/>
              </a:lnSpc>
            </a:pPr>
            <a:r>
              <a:rPr lang="en-US" altLang="zh-CN" sz="2400" b="1" i="1" dirty="0">
                <a:latin typeface="Century Gothic" panose="020B0502020202020204" pitchFamily="34" charset="0"/>
              </a:rPr>
              <a:t>Coercive federalism</a:t>
            </a:r>
            <a:r>
              <a:rPr lang="en-US" altLang="zh-CN" sz="2400" dirty="0">
                <a:latin typeface="Century Gothic" panose="020B0502020202020204" pitchFamily="34" charset="0"/>
              </a:rPr>
              <a:t>: The national government imposes its policy preferences on the states.</a:t>
            </a:r>
          </a:p>
          <a:p>
            <a:pPr lvl="1">
              <a:lnSpc>
                <a:spcPct val="100000"/>
              </a:lnSpc>
            </a:pPr>
            <a:r>
              <a:rPr lang="en-US" altLang="zh-CN" sz="2000" i="1" dirty="0">
                <a:latin typeface="Century Gothic" panose="020B0502020202020204" pitchFamily="34" charset="0"/>
              </a:rPr>
              <a:t>Mandate: </a:t>
            </a:r>
            <a:r>
              <a:rPr lang="en-US" altLang="zh-CN" sz="2000" dirty="0">
                <a:latin typeface="Century Gothic" panose="020B0502020202020204" pitchFamily="34" charset="0"/>
              </a:rPr>
              <a:t>A requirement that a state undertake an activity or provide a service in keeping with </a:t>
            </a:r>
            <a:r>
              <a:rPr lang="en-US" altLang="zh-CN" sz="2000" b="1" dirty="0">
                <a:latin typeface="Century Gothic" panose="020B0502020202020204" pitchFamily="34" charset="0"/>
              </a:rPr>
              <a:t>minimum</a:t>
            </a:r>
            <a:r>
              <a:rPr lang="en-US" altLang="zh-CN" sz="2000" dirty="0">
                <a:latin typeface="Century Gothic" panose="020B0502020202020204" pitchFamily="34" charset="0"/>
              </a:rPr>
              <a:t> national standards.</a:t>
            </a:r>
          </a:p>
          <a:p>
            <a:pPr lvl="1">
              <a:lnSpc>
                <a:spcPct val="100000"/>
              </a:lnSpc>
            </a:pPr>
            <a:r>
              <a:rPr lang="en-US" altLang="zh-CN" sz="2000" i="1" dirty="0">
                <a:latin typeface="Century Gothic" panose="020B0502020202020204" pitchFamily="34" charset="0"/>
              </a:rPr>
              <a:t>Restraint</a:t>
            </a:r>
            <a:r>
              <a:rPr lang="en-US" altLang="zh-CN" sz="2000" dirty="0">
                <a:latin typeface="Century Gothic" panose="020B0502020202020204" pitchFamily="34" charset="0"/>
              </a:rPr>
              <a:t>: A requirement </a:t>
            </a:r>
            <a:r>
              <a:rPr lang="en-US" altLang="zh-CN" sz="2000" b="1" dirty="0">
                <a:latin typeface="Century Gothic" panose="020B0502020202020204" pitchFamily="34" charset="0"/>
              </a:rPr>
              <a:t>prohibiting</a:t>
            </a:r>
            <a:r>
              <a:rPr lang="en-US" altLang="zh-CN" sz="2000" dirty="0">
                <a:latin typeface="Century Gothic" panose="020B0502020202020204" pitchFamily="34" charset="0"/>
              </a:rPr>
              <a:t> a state or local government from exercising a certain power.</a:t>
            </a:r>
          </a:p>
          <a:p>
            <a:pPr lvl="1">
              <a:lnSpc>
                <a:spcPct val="100000"/>
              </a:lnSpc>
            </a:pPr>
            <a:r>
              <a:rPr lang="en-US" altLang="zh-CN" sz="2000" dirty="0">
                <a:latin typeface="Century Gothic" panose="020B0502020202020204" pitchFamily="34" charset="0"/>
              </a:rPr>
              <a:t>A relative to cooperative federalism?</a:t>
            </a: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9618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7828F-98B4-0444-DF92-C3D4A45A14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47DF19-AE2F-E17B-5060-D172DE001C8F}"/>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How can actual federalism be influenced?</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AA34461B-7676-BF5C-15AD-6B279E37D30A}"/>
              </a:ext>
            </a:extLst>
          </p:cNvPr>
          <p:cNvSpPr>
            <a:spLocks noGrp="1"/>
          </p:cNvSpPr>
          <p:nvPr>
            <p:ph idx="1"/>
          </p:nvPr>
        </p:nvSpPr>
        <p:spPr>
          <a:xfrm>
            <a:off x="838200" y="1343817"/>
            <a:ext cx="10515600" cy="5316755"/>
          </a:xfrm>
        </p:spPr>
        <p:txBody>
          <a:bodyPr>
            <a:normAutofit/>
          </a:bodyPr>
          <a:lstStyle/>
          <a:p>
            <a:pPr>
              <a:lnSpc>
                <a:spcPct val="100000"/>
              </a:lnSpc>
            </a:pPr>
            <a:r>
              <a:rPr lang="en-US" altLang="zh-CN" sz="2400" dirty="0">
                <a:latin typeface="Century Gothic" panose="020B0502020202020204" pitchFamily="34" charset="0"/>
              </a:rPr>
              <a:t>Judicial interpretation</a:t>
            </a:r>
          </a:p>
          <a:p>
            <a:pPr lvl="1">
              <a:lnSpc>
                <a:spcPct val="100000"/>
              </a:lnSpc>
            </a:pPr>
            <a:r>
              <a:rPr lang="en-US" altLang="zh-CN" sz="2200" dirty="0">
                <a:latin typeface="Century Gothic" panose="020B0502020202020204" pitchFamily="34" charset="0"/>
              </a:rPr>
              <a:t>Recall: </a:t>
            </a:r>
            <a:r>
              <a:rPr kumimoji="1" lang="en-US" altLang="zh-CN" sz="2200" dirty="0">
                <a:latin typeface="Century Gothic" panose="020B0502020202020204" pitchFamily="34" charset="0"/>
              </a:rPr>
              <a:t>Actual lawmakers </a:t>
            </a:r>
            <a:r>
              <a:rPr kumimoji="1" lang="en-US" altLang="zh-CN" sz="2200" b="1" i="1" dirty="0">
                <a:latin typeface="Century Gothic" panose="020B0502020202020204" pitchFamily="34" charset="0"/>
              </a:rPr>
              <a:t>vs. </a:t>
            </a:r>
            <a:r>
              <a:rPr kumimoji="1" lang="en-US" altLang="zh-CN" sz="2200" dirty="0">
                <a:latin typeface="Century Gothic" panose="020B0502020202020204" pitchFamily="34" charset="0"/>
              </a:rPr>
              <a:t>Essential discretional power </a:t>
            </a:r>
          </a:p>
          <a:p>
            <a:pPr>
              <a:lnSpc>
                <a:spcPct val="100000"/>
              </a:lnSpc>
            </a:pPr>
            <a:r>
              <a:rPr lang="en-US" altLang="zh-CN" sz="2400" dirty="0">
                <a:latin typeface="Century Gothic" panose="020B0502020202020204" pitchFamily="34" charset="0"/>
              </a:rPr>
              <a:t>Grants-in-Aid: Money, money, money!</a:t>
            </a:r>
          </a:p>
          <a:p>
            <a:pPr lvl="1">
              <a:lnSpc>
                <a:spcPct val="100000"/>
              </a:lnSpc>
            </a:pPr>
            <a:r>
              <a:rPr lang="en-US" altLang="zh-CN" sz="2000" b="1" dirty="0">
                <a:latin typeface="Century Gothic" panose="020B0502020202020204" pitchFamily="34" charset="0"/>
              </a:rPr>
              <a:t>Categorical grants, Block grants</a:t>
            </a:r>
          </a:p>
          <a:p>
            <a:pPr lvl="1">
              <a:lnSpc>
                <a:spcPct val="100000"/>
              </a:lnSpc>
            </a:pPr>
            <a:r>
              <a:rPr lang="en-US" altLang="zh-CN" sz="2000" dirty="0">
                <a:latin typeface="Century Gothic" panose="020B0502020202020204" pitchFamily="34" charset="0"/>
              </a:rPr>
              <a:t>Formula grants, Competitive grants</a:t>
            </a:r>
            <a:endParaRPr lang="en-US" altLang="zh-CN" sz="2200" dirty="0">
              <a:latin typeface="Century Gothic" panose="020B0502020202020204" pitchFamily="34" charset="0"/>
            </a:endParaRPr>
          </a:p>
          <a:p>
            <a:pPr>
              <a:lnSpc>
                <a:spcPct val="100000"/>
              </a:lnSpc>
            </a:pPr>
            <a:r>
              <a:rPr lang="en-US" altLang="zh-CN" sz="2400" dirty="0">
                <a:latin typeface="Century Gothic" panose="020B0502020202020204" pitchFamily="34" charset="0"/>
              </a:rPr>
              <a:t>National crises and demands</a:t>
            </a:r>
          </a:p>
          <a:p>
            <a:pPr lvl="1">
              <a:lnSpc>
                <a:spcPct val="100000"/>
              </a:lnSpc>
            </a:pPr>
            <a:r>
              <a:rPr lang="en-US" altLang="zh-CN" sz="2000" dirty="0">
                <a:latin typeface="Century Gothic" panose="020B0502020202020204" pitchFamily="34" charset="0"/>
              </a:rPr>
              <a:t>Inadequate state capacities</a:t>
            </a:r>
          </a:p>
          <a:p>
            <a:pPr>
              <a:lnSpc>
                <a:spcPct val="100000"/>
              </a:lnSpc>
            </a:pPr>
            <a:r>
              <a:rPr lang="en-US" altLang="zh-CN" sz="2400" dirty="0">
                <a:latin typeface="Century Gothic" panose="020B0502020202020204" pitchFamily="34" charset="0"/>
              </a:rPr>
              <a:t>Professionalization of state governments</a:t>
            </a:r>
          </a:p>
          <a:p>
            <a:pPr lvl="1">
              <a:lnSpc>
                <a:spcPct val="100000"/>
              </a:lnSpc>
            </a:pPr>
            <a:r>
              <a:rPr lang="en-US" altLang="zh-CN" sz="2000" dirty="0">
                <a:latin typeface="Century Gothic" panose="020B0502020202020204" pitchFamily="34" charset="0"/>
              </a:rPr>
              <a:t>Strong state capacities</a:t>
            </a:r>
          </a:p>
          <a:p>
            <a:pPr>
              <a:lnSpc>
                <a:spcPct val="100000"/>
              </a:lnSpc>
            </a:pPr>
            <a:endParaRPr lang="en-US" altLang="zh-CN" sz="2400" dirty="0">
              <a:latin typeface="Century Gothic" panose="020B0502020202020204" pitchFamily="34" charset="0"/>
            </a:endParaRPr>
          </a:p>
          <a:p>
            <a:pPr marL="0" indent="0">
              <a:lnSpc>
                <a:spcPct val="100000"/>
              </a:lnSpc>
              <a:buNone/>
            </a:pPr>
            <a:r>
              <a:rPr lang="en-US" altLang="zh-CN" sz="2200" dirty="0">
                <a:latin typeface="Century Gothic" panose="020B0502020202020204" pitchFamily="34" charset="0"/>
              </a:rPr>
              <a:t>How to define state capacities, is really a difficult question, which can impact the result of games between the national and state governments.</a:t>
            </a:r>
          </a:p>
          <a:p>
            <a:pPr lvl="1">
              <a:lnSpc>
                <a:spcPct val="100000"/>
              </a:lnSpc>
            </a:pPr>
            <a:endParaRPr lang="en-US" altLang="zh-CN" sz="2000" dirty="0">
              <a:latin typeface="Century Gothic" panose="020B0502020202020204" pitchFamily="34" charset="0"/>
            </a:endParaRPr>
          </a:p>
          <a:p>
            <a:pPr>
              <a:lnSpc>
                <a:spcPct val="100000"/>
              </a:lnSpc>
            </a:pPr>
            <a:endParaRPr lang="en-US" altLang="zh-CN" sz="2400" dirty="0">
              <a:latin typeface="Century Gothic" panose="020B0502020202020204" pitchFamily="34" charset="0"/>
            </a:endParaRPr>
          </a:p>
          <a:p>
            <a:pPr>
              <a:lnSpc>
                <a:spcPct val="100000"/>
              </a:lnSpc>
            </a:pPr>
            <a:endParaRPr lang="en-US" altLang="zh-CN" sz="22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813278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2287D-C457-579B-A48C-6E7D3714BE3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F8CACDC-29F8-55A7-6D55-60C0B2E17264}"/>
              </a:ext>
            </a:extLst>
          </p:cNvPr>
          <p:cNvSpPr>
            <a:spLocks noGrp="1"/>
          </p:cNvSpPr>
          <p:nvPr>
            <p:ph type="title"/>
          </p:nvPr>
        </p:nvSpPr>
        <p:spPr>
          <a:xfrm>
            <a:off x="838200" y="18255"/>
            <a:ext cx="10515600" cy="1325563"/>
          </a:xfrm>
        </p:spPr>
        <p:txBody>
          <a:bodyPr>
            <a:normAutofit/>
          </a:bodyPr>
          <a:lstStyle/>
          <a:p>
            <a:r>
              <a:rPr kumimoji="1" lang="en-US" altLang="zh-CN" sz="4000" b="1" dirty="0">
                <a:latin typeface="Century Gothic" panose="020B0502020202020204" pitchFamily="34" charset="0"/>
              </a:rPr>
              <a:t>Ideas, Policymaking, and Federalism</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EBBA1A25-C9C8-E0B0-F4A9-6937D4150532}"/>
              </a:ext>
            </a:extLst>
          </p:cNvPr>
          <p:cNvSpPr>
            <a:spLocks noGrp="1"/>
          </p:cNvSpPr>
          <p:nvPr>
            <p:ph idx="1"/>
          </p:nvPr>
        </p:nvSpPr>
        <p:spPr>
          <a:xfrm>
            <a:off x="838200" y="1343817"/>
            <a:ext cx="10515600" cy="5316755"/>
          </a:xfrm>
        </p:spPr>
        <p:txBody>
          <a:bodyPr>
            <a:normAutofit/>
          </a:bodyPr>
          <a:lstStyle/>
          <a:p>
            <a:pPr>
              <a:lnSpc>
                <a:spcPct val="100000"/>
              </a:lnSpc>
            </a:pPr>
            <a:r>
              <a:rPr lang="en-US" altLang="zh-CN" sz="2400" dirty="0">
                <a:latin typeface="Century Gothic" panose="020B0502020202020204" pitchFamily="34" charset="0"/>
              </a:rPr>
              <a:t>Recall: The major differences between liberals &amp; conservatives lie in their views toward </a:t>
            </a:r>
            <a:r>
              <a:rPr lang="en-US" altLang="zh-CN" sz="2400" b="1" dirty="0">
                <a:latin typeface="Century Gothic" panose="020B0502020202020204" pitchFamily="34" charset="0"/>
              </a:rPr>
              <a:t>the purpose of the government </a:t>
            </a:r>
            <a:r>
              <a:rPr lang="en-US" altLang="zh-CN" sz="2400" dirty="0">
                <a:latin typeface="Century Gothic" panose="020B0502020202020204" pitchFamily="34" charset="0"/>
              </a:rPr>
              <a:t>(socio-economic description). – so do not put an ideological hat on others casually.</a:t>
            </a:r>
          </a:p>
          <a:p>
            <a:pPr>
              <a:lnSpc>
                <a:spcPct val="100000"/>
              </a:lnSpc>
            </a:pPr>
            <a:r>
              <a:rPr lang="en-US" altLang="zh-CN" sz="2400" dirty="0">
                <a:latin typeface="Century Gothic" panose="020B0502020202020204" pitchFamily="34" charset="0"/>
              </a:rPr>
              <a:t>In reality, conservatives do not always support the expansion of the state power, or liberals insistently for national power. </a:t>
            </a:r>
            <a:r>
              <a:rPr lang="en-US" altLang="zh-CN" sz="2400" b="1" dirty="0">
                <a:latin typeface="Century Gothic" panose="020B0502020202020204" pitchFamily="34" charset="0"/>
              </a:rPr>
              <a:t>The key here is still what the national / state power is used for</a:t>
            </a:r>
            <a:r>
              <a:rPr lang="en-US" altLang="zh-CN" sz="2400" dirty="0">
                <a:latin typeface="Century Gothic" panose="020B0502020202020204" pitchFamily="34" charset="0"/>
              </a:rPr>
              <a:t>.</a:t>
            </a:r>
          </a:p>
          <a:p>
            <a:pPr lvl="1">
              <a:lnSpc>
                <a:spcPct val="100000"/>
              </a:lnSpc>
            </a:pPr>
            <a:r>
              <a:rPr lang="en-US" altLang="zh-CN" sz="2200" b="1" dirty="0">
                <a:solidFill>
                  <a:srgbClr val="FF0000"/>
                </a:solidFill>
                <a:latin typeface="Century Gothic" panose="020B0502020202020204" pitchFamily="34" charset="0"/>
              </a:rPr>
              <a:t>Can you provide some counterintuitive examples?</a:t>
            </a:r>
            <a:endParaRPr lang="en-US" altLang="zh-CN" sz="2400" dirty="0">
              <a:latin typeface="Constantia" panose="02030602050306030303" pitchFamily="18" charset="0"/>
            </a:endParaRPr>
          </a:p>
          <a:p>
            <a:pPr>
              <a:lnSpc>
                <a:spcPct val="100000"/>
              </a:lnSpc>
            </a:pPr>
            <a:r>
              <a:rPr lang="en-US" altLang="zh-CN" sz="2200" b="1" dirty="0">
                <a:latin typeface="Century Gothic" panose="020B0502020202020204" pitchFamily="34" charset="0"/>
              </a:rPr>
              <a:t>Preemption: </a:t>
            </a:r>
            <a:r>
              <a:rPr lang="en-US" altLang="zh-CN" sz="2200" dirty="0">
                <a:latin typeface="Century Gothic" panose="020B0502020202020204" pitchFamily="34" charset="0"/>
              </a:rPr>
              <a:t>the power of Congress to enact laws by which the national government assumes total or partial responsibility for a state government function.</a:t>
            </a:r>
          </a:p>
          <a:p>
            <a:pPr lvl="1">
              <a:lnSpc>
                <a:spcPct val="100000"/>
              </a:lnSpc>
            </a:pPr>
            <a:r>
              <a:rPr lang="en-US" altLang="zh-CN" sz="2000" dirty="0">
                <a:latin typeface="Century Gothic" panose="020B0502020202020204" pitchFamily="34" charset="0"/>
              </a:rPr>
              <a:t>Do you think there are some powers that must be retained in the states? If you do, what are these powers?</a:t>
            </a:r>
          </a:p>
          <a:p>
            <a:pPr lvl="1">
              <a:lnSpc>
                <a:spcPct val="100000"/>
              </a:lnSpc>
            </a:pPr>
            <a:r>
              <a:rPr lang="en-US" altLang="zh-CN" sz="2000" dirty="0">
                <a:latin typeface="Century Gothic" panose="020B0502020202020204" pitchFamily="34" charset="0"/>
              </a:rPr>
              <a:t>Should preemption allow states to </a:t>
            </a:r>
            <a:r>
              <a:rPr lang="en-US" altLang="zh-CN" sz="2000" b="1" dirty="0">
                <a:latin typeface="Century Gothic" panose="020B0502020202020204" pitchFamily="34" charset="0"/>
              </a:rPr>
              <a:t>set higher standards</a:t>
            </a:r>
            <a:r>
              <a:rPr lang="en-US" altLang="zh-CN" sz="2000" dirty="0">
                <a:latin typeface="Century Gothic" panose="020B0502020202020204" pitchFamily="34" charset="0"/>
              </a:rPr>
              <a:t>, rather than always replacing them?</a:t>
            </a:r>
            <a:r>
              <a:rPr kumimoji="1" lang="zh-CN" altLang="en-US" sz="2000" dirty="0">
                <a:latin typeface="Century Gothic" panose="020B0502020202020204" pitchFamily="34" charset="0"/>
              </a:rPr>
              <a:t> </a:t>
            </a:r>
            <a:r>
              <a:rPr kumimoji="1" lang="en-US" altLang="zh-CN" sz="2000" dirty="0">
                <a:latin typeface="Century Gothic" panose="020B0502020202020204" pitchFamily="34" charset="0"/>
              </a:rPr>
              <a:t>(the marijuana example)</a:t>
            </a:r>
            <a:endParaRPr lang="en-US" altLang="zh-CN" sz="2000" dirty="0">
              <a:latin typeface="Century Gothic" panose="020B0502020202020204" pitchFamily="34" charset="0"/>
            </a:endParaRPr>
          </a:p>
        </p:txBody>
      </p:sp>
    </p:spTree>
    <p:extLst>
      <p:ext uri="{BB962C8B-B14F-4D97-AF65-F5344CB8AC3E}">
        <p14:creationId xmlns:p14="http://schemas.microsoft.com/office/powerpoint/2010/main" val="135557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示&#10;&#10;AI 生成的内容可能不正确。">
            <a:extLst>
              <a:ext uri="{FF2B5EF4-FFF2-40B4-BE49-F238E27FC236}">
                <a16:creationId xmlns:a16="http://schemas.microsoft.com/office/drawing/2014/main" id="{C5CE506E-C865-2A42-0900-09F22ECD771C}"/>
              </a:ext>
            </a:extLst>
          </p:cNvPr>
          <p:cNvPicPr>
            <a:picLocks noChangeAspect="1"/>
          </p:cNvPicPr>
          <p:nvPr/>
        </p:nvPicPr>
        <p:blipFill>
          <a:blip r:embed="rId2"/>
          <a:stretch>
            <a:fillRect/>
          </a:stretch>
        </p:blipFill>
        <p:spPr>
          <a:xfrm>
            <a:off x="1384300" y="590550"/>
            <a:ext cx="9455024" cy="5695950"/>
          </a:xfrm>
          <a:prstGeom prst="rect">
            <a:avLst/>
          </a:prstGeom>
        </p:spPr>
      </p:pic>
    </p:spTree>
    <p:extLst>
      <p:ext uri="{BB962C8B-B14F-4D97-AF65-F5344CB8AC3E}">
        <p14:creationId xmlns:p14="http://schemas.microsoft.com/office/powerpoint/2010/main" val="67639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E965-1EC2-75B0-A138-BE54EB21F41C}"/>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6CCE3BBD-CC59-43AC-483F-5B2DB4E5E97C}"/>
              </a:ext>
            </a:extLst>
          </p:cNvPr>
          <p:cNvSpPr>
            <a:spLocks noGrp="1"/>
          </p:cNvSpPr>
          <p:nvPr>
            <p:ph idx="1"/>
          </p:nvPr>
        </p:nvSpPr>
        <p:spPr>
          <a:xfrm>
            <a:off x="548252" y="1370280"/>
            <a:ext cx="11095496" cy="5487720"/>
          </a:xfrm>
        </p:spPr>
        <p:txBody>
          <a:bodyPr>
            <a:normAutofit/>
          </a:bodyPr>
          <a:lstStyle/>
          <a:p>
            <a:pPr>
              <a:lnSpc>
                <a:spcPct val="100000"/>
              </a:lnSpc>
            </a:pPr>
            <a:r>
              <a:rPr kumimoji="1" lang="en-US" altLang="zh-CN" sz="2200" b="1" dirty="0">
                <a:latin typeface="Century Gothic" panose="020B0502020202020204" pitchFamily="34" charset="0"/>
              </a:rPr>
              <a:t>One puzzle where so-called “common sense” failed</a:t>
            </a:r>
          </a:p>
          <a:p>
            <a:pPr lvl="1">
              <a:lnSpc>
                <a:spcPct val="100000"/>
              </a:lnSpc>
            </a:pPr>
            <a:r>
              <a:rPr kumimoji="1" lang="en-US" altLang="zh-CN" sz="2000" dirty="0">
                <a:latin typeface="Century Gothic" panose="020B0502020202020204" pitchFamily="34" charset="0"/>
              </a:rPr>
              <a:t>Generally predicted, local government is closer to the people who can participate in the political process and directly influence policy, so they’ll be passionate about voting in local elections, regardless of their ideologies, party identities, etc.</a:t>
            </a:r>
          </a:p>
          <a:p>
            <a:pPr lvl="1">
              <a:lnSpc>
                <a:spcPct val="100000"/>
              </a:lnSpc>
            </a:pPr>
            <a:r>
              <a:rPr kumimoji="1" lang="en-US" altLang="zh-CN" sz="2000" dirty="0">
                <a:latin typeface="Century Gothic" panose="020B0502020202020204" pitchFamily="34" charset="0"/>
              </a:rPr>
              <a:t>Actually, people are much less likely to vote in state and local elections. </a:t>
            </a:r>
            <a:r>
              <a:rPr kumimoji="1" lang="en-US" altLang="zh-CN" sz="2000" b="1" dirty="0">
                <a:latin typeface="Century Gothic" panose="020B0502020202020204" pitchFamily="34" charset="0"/>
              </a:rPr>
              <a:t>–Why?</a:t>
            </a:r>
          </a:p>
          <a:p>
            <a:pPr lvl="2">
              <a:lnSpc>
                <a:spcPct val="100000"/>
              </a:lnSpc>
            </a:pPr>
            <a:r>
              <a:rPr kumimoji="1" lang="en-US" altLang="zh-CN" b="1" dirty="0">
                <a:latin typeface="Century Gothic" panose="020B0502020202020204" pitchFamily="34" charset="0"/>
              </a:rPr>
              <a:t>Remark: A great study starts from the deviation of a theory from reality!</a:t>
            </a:r>
          </a:p>
          <a:p>
            <a:pPr lvl="2">
              <a:lnSpc>
                <a:spcPct val="100000"/>
              </a:lnSpc>
            </a:pPr>
            <a:r>
              <a:rPr kumimoji="1" lang="en-US" altLang="zh-CN" b="1" dirty="0">
                <a:latin typeface="Century Gothic" panose="020B0502020202020204" pitchFamily="34" charset="0"/>
              </a:rPr>
              <a:t>Dispersed power </a:t>
            </a:r>
            <a:r>
              <a:rPr kumimoji="1" lang="en-US" altLang="zh-CN" dirty="0">
                <a:latin typeface="Century Gothic" panose="020B0502020202020204" pitchFamily="34" charset="0"/>
              </a:rPr>
              <a:t>-&gt; little publicity for local elections, nonpartisan local affairs -&gt; less prominent races, less clearly recognizable identity labels -&gt; </a:t>
            </a:r>
            <a:r>
              <a:rPr kumimoji="1" lang="en-US" altLang="zh-CN" b="1" dirty="0">
                <a:latin typeface="Century Gothic" panose="020B0502020202020204" pitchFamily="34" charset="0"/>
              </a:rPr>
              <a:t>political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apathy</a:t>
            </a:r>
          </a:p>
          <a:p>
            <a:pPr lvl="2">
              <a:lnSpc>
                <a:spcPct val="100000"/>
              </a:lnSpc>
            </a:pPr>
            <a:r>
              <a:rPr kumimoji="1" lang="en-US" altLang="zh-CN" b="1" dirty="0">
                <a:latin typeface="Century Gothic" panose="020B0502020202020204" pitchFamily="34" charset="0"/>
              </a:rPr>
              <a:t>Dispersed power </a:t>
            </a:r>
            <a:r>
              <a:rPr kumimoji="1" lang="en-US" altLang="zh-CN" dirty="0">
                <a:latin typeface="Century Gothic" panose="020B0502020202020204" pitchFamily="34" charset="0"/>
              </a:rPr>
              <a:t>-&gt; complicated government structure, higher requirement for political participation -&gt;  incomprehensible and unavailable for ordinary people -&gt; </a:t>
            </a:r>
            <a:r>
              <a:rPr kumimoji="1" lang="en-US" altLang="zh-CN" b="1" dirty="0">
                <a:latin typeface="Century Gothic" panose="020B0502020202020204" pitchFamily="34" charset="0"/>
              </a:rPr>
              <a:t>political apathy</a:t>
            </a:r>
          </a:p>
          <a:p>
            <a:pPr lvl="2">
              <a:lnSpc>
                <a:spcPct val="100000"/>
              </a:lnSpc>
            </a:pPr>
            <a:r>
              <a:rPr kumimoji="1" lang="en-US" altLang="zh-CN" b="1" dirty="0">
                <a:latin typeface="Century Gothic" panose="020B0502020202020204" pitchFamily="34" charset="0"/>
              </a:rPr>
              <a:t>Therefore, more participation opportunities do not lead to majoritarian demo, but to pluralist democracy </a:t>
            </a:r>
            <a:r>
              <a:rPr kumimoji="1" lang="en-US" altLang="zh-CN" dirty="0">
                <a:latin typeface="Century Gothic" panose="020B0502020202020204" pitchFamily="34" charset="0"/>
              </a:rPr>
              <a:t>-&gt; an possible explanation of the intension between the majority rule and the pluralist reality. </a:t>
            </a:r>
          </a:p>
          <a:p>
            <a:pPr lvl="2">
              <a:lnSpc>
                <a:spcPct val="100000"/>
              </a:lnSpc>
            </a:pPr>
            <a:r>
              <a:rPr kumimoji="1" lang="en-US" altLang="zh-CN" dirty="0">
                <a:latin typeface="Century Gothic" panose="020B0502020202020204" pitchFamily="34" charset="0"/>
              </a:rPr>
              <a:t>Anyway, federalism provides more </a:t>
            </a:r>
            <a:r>
              <a:rPr kumimoji="1" lang="en-US" altLang="zh-CN" b="1" dirty="0">
                <a:latin typeface="Century Gothic" panose="020B0502020202020204" pitchFamily="34" charset="0"/>
              </a:rPr>
              <a:t>flexibility</a:t>
            </a:r>
            <a:r>
              <a:rPr kumimoji="1" lang="en-US" altLang="zh-CN" dirty="0">
                <a:latin typeface="Century Gothic" panose="020B0502020202020204" pitchFamily="34" charset="0"/>
              </a:rPr>
              <a:t>!</a:t>
            </a:r>
          </a:p>
          <a:p>
            <a:pPr lvl="1">
              <a:lnSpc>
                <a:spcPct val="100000"/>
              </a:lnSpc>
            </a:pPr>
            <a:endParaRPr kumimoji="1" lang="en-US" altLang="zh-CN" sz="2000" dirty="0">
              <a:latin typeface="Century Gothic" panose="020B0502020202020204" pitchFamily="34" charset="0"/>
            </a:endParaRPr>
          </a:p>
          <a:p>
            <a:pPr lvl="1">
              <a:lnSpc>
                <a:spcPct val="100000"/>
              </a:lnSpc>
            </a:pPr>
            <a:endParaRPr kumimoji="1" lang="en-US" altLang="zh-CN" sz="2000" dirty="0">
              <a:latin typeface="Century Gothic" panose="020B0502020202020204" pitchFamily="34" charset="0"/>
            </a:endParaRPr>
          </a:p>
          <a:p>
            <a:pPr>
              <a:lnSpc>
                <a:spcPct val="100000"/>
              </a:lnSpc>
            </a:pPr>
            <a:endParaRPr kumimoji="1" lang="en-US" altLang="zh-CN" sz="2200" dirty="0">
              <a:latin typeface="Century Gothic" panose="020B0502020202020204" pitchFamily="34" charset="0"/>
            </a:endParaRPr>
          </a:p>
          <a:p>
            <a:pPr lvl="1">
              <a:lnSpc>
                <a:spcPct val="100000"/>
              </a:lnSpc>
            </a:pPr>
            <a:endParaRPr kumimoji="1" lang="en-US" altLang="zh-CN" sz="2200" dirty="0">
              <a:latin typeface="Century Gothic" panose="020B0502020202020204" pitchFamily="34" charset="0"/>
            </a:endParaRPr>
          </a:p>
        </p:txBody>
      </p:sp>
      <p:sp>
        <p:nvSpPr>
          <p:cNvPr id="7" name="标题 1">
            <a:extLst>
              <a:ext uri="{FF2B5EF4-FFF2-40B4-BE49-F238E27FC236}">
                <a16:creationId xmlns:a16="http://schemas.microsoft.com/office/drawing/2014/main" id="{DED413E5-1736-8558-749C-4C81B5413F49}"/>
              </a:ext>
            </a:extLst>
          </p:cNvPr>
          <p:cNvSpPr txBox="1">
            <a:spLocks/>
          </p:cNvSpPr>
          <p:nvPr/>
        </p:nvSpPr>
        <p:spPr>
          <a:xfrm>
            <a:off x="838200" y="1825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600" b="1" dirty="0">
                <a:latin typeface="Century Gothic" panose="020B0502020202020204" pitchFamily="34" charset="0"/>
              </a:rPr>
              <a:t>Advantages and Disadvantages of Federalism</a:t>
            </a:r>
            <a:endParaRPr kumimoji="1" lang="zh-CN" altLang="en-US" sz="3600" b="1" dirty="0">
              <a:latin typeface="Century Gothic" panose="020B0502020202020204" pitchFamily="34" charset="0"/>
            </a:endParaRPr>
          </a:p>
        </p:txBody>
      </p:sp>
    </p:spTree>
    <p:extLst>
      <p:ext uri="{BB962C8B-B14F-4D97-AF65-F5344CB8AC3E}">
        <p14:creationId xmlns:p14="http://schemas.microsoft.com/office/powerpoint/2010/main" val="4048367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F266-461F-DFC0-F19B-F4DD64CD0B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3B36D4-3E60-4CD4-ECC1-CDF306405FE9}"/>
              </a:ext>
            </a:extLst>
          </p:cNvPr>
          <p:cNvSpPr>
            <a:spLocks noGrp="1"/>
          </p:cNvSpPr>
          <p:nvPr>
            <p:ph type="title"/>
          </p:nvPr>
        </p:nvSpPr>
        <p:spPr>
          <a:xfrm>
            <a:off x="838200" y="0"/>
            <a:ext cx="10515600" cy="1325563"/>
          </a:xfrm>
        </p:spPr>
        <p:txBody>
          <a:bodyPr>
            <a:normAutofit/>
          </a:bodyPr>
          <a:lstStyle/>
          <a:p>
            <a:r>
              <a:rPr kumimoji="1" lang="en-US" altLang="zh-CN" sz="4000" b="1" dirty="0">
                <a:latin typeface="Century Gothic" panose="020B0502020202020204" pitchFamily="34" charset="0"/>
              </a:rPr>
              <a:t>Next week…</a:t>
            </a:r>
            <a:endParaRPr kumimoji="1" lang="zh-CN" altLang="en-US" sz="40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D0DFA93-F961-8DB9-6735-5EC134B68962}"/>
              </a:ext>
            </a:extLst>
          </p:cNvPr>
          <p:cNvSpPr>
            <a:spLocks noGrp="1"/>
          </p:cNvSpPr>
          <p:nvPr>
            <p:ph idx="1"/>
          </p:nvPr>
        </p:nvSpPr>
        <p:spPr>
          <a:xfrm>
            <a:off x="838200" y="1606577"/>
            <a:ext cx="10515600" cy="4732230"/>
          </a:xfrm>
        </p:spPr>
        <p:txBody>
          <a:bodyPr/>
          <a:lstStyle/>
          <a:p>
            <a:pPr>
              <a:lnSpc>
                <a:spcPct val="100000"/>
              </a:lnSpc>
            </a:pPr>
            <a:r>
              <a:rPr kumimoji="1" lang="en-US" altLang="zh-CN" dirty="0">
                <a:latin typeface="Century Gothic" panose="020B0502020202020204" pitchFamily="34" charset="0"/>
              </a:rPr>
              <a:t>Read materials on </a:t>
            </a:r>
            <a:r>
              <a:rPr lang="en-US" altLang="zh-CN" b="1" dirty="0">
                <a:latin typeface="Century Gothic" panose="020B0502020202020204" pitchFamily="34" charset="0"/>
              </a:rPr>
              <a:t>Civil Liberties </a:t>
            </a:r>
            <a:r>
              <a:rPr kumimoji="1" lang="en-US" altLang="zh-CN" dirty="0">
                <a:latin typeface="Century Gothic" panose="020B0502020202020204" pitchFamily="34" charset="0"/>
              </a:rPr>
              <a:t>before class, and that will be helpful to participate in peer discussions.</a:t>
            </a:r>
          </a:p>
          <a:p>
            <a:pPr>
              <a:lnSpc>
                <a:spcPct val="100000"/>
              </a:lnSpc>
            </a:pPr>
            <a:r>
              <a:rPr kumimoji="1" lang="en-US" altLang="zh-CN" dirty="0">
                <a:latin typeface="Century Gothic" panose="020B0502020202020204" pitchFamily="34" charset="0"/>
              </a:rPr>
              <a:t>Next class will be the last one before 1</a:t>
            </a:r>
            <a:r>
              <a:rPr kumimoji="1" lang="en-US" altLang="zh-CN" baseline="30000" dirty="0">
                <a:latin typeface="Century Gothic" panose="020B0502020202020204" pitchFamily="34" charset="0"/>
              </a:rPr>
              <a:t>st</a:t>
            </a:r>
            <a:r>
              <a:rPr kumimoji="1" lang="en-US" altLang="zh-CN" dirty="0">
                <a:latin typeface="Century Gothic" panose="020B0502020202020204" pitchFamily="34" charset="0"/>
              </a:rPr>
              <a:t> exam, so we can go over some basic concepts together (actually we’ve been doing it! We’ll pay more attention to slides.)</a:t>
            </a:r>
          </a:p>
          <a:p>
            <a:pPr>
              <a:lnSpc>
                <a:spcPct val="100000"/>
              </a:lnSpc>
            </a:pPr>
            <a:endParaRPr kumimoji="1" lang="en-US" altLang="zh-CN" dirty="0">
              <a:latin typeface="Century Gothic" panose="020B0502020202020204" pitchFamily="34" charset="0"/>
            </a:endParaRPr>
          </a:p>
          <a:p>
            <a:pPr>
              <a:lnSpc>
                <a:spcPct val="100000"/>
              </a:lnSpc>
            </a:pPr>
            <a:r>
              <a:rPr kumimoji="1" lang="en-US" altLang="zh-CN" dirty="0">
                <a:latin typeface="Century Gothic" panose="020B0502020202020204" pitchFamily="34" charset="0"/>
              </a:rPr>
              <a:t>Feel free to email me if you have any questions!</a:t>
            </a:r>
          </a:p>
          <a:p>
            <a:pPr>
              <a:lnSpc>
                <a:spcPct val="100000"/>
              </a:lnSpc>
            </a:pPr>
            <a:r>
              <a:rPr kumimoji="1" lang="en-US" altLang="zh-CN" dirty="0">
                <a:latin typeface="Century Gothic" panose="020B0502020202020204" pitchFamily="34" charset="0"/>
              </a:rPr>
              <a:t>ENJOY YOUR WEEKEND!</a:t>
            </a:r>
          </a:p>
        </p:txBody>
      </p:sp>
    </p:spTree>
    <p:extLst>
      <p:ext uri="{BB962C8B-B14F-4D97-AF65-F5344CB8AC3E}">
        <p14:creationId xmlns:p14="http://schemas.microsoft.com/office/powerpoint/2010/main" val="5074229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4987</TotalTime>
  <Words>637</Words>
  <Application>Microsoft Macintosh PowerPoint</Application>
  <PresentationFormat>宽屏</PresentationFormat>
  <Paragraphs>67</Paragraphs>
  <Slides>7</Slides>
  <Notes>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等线</vt:lpstr>
      <vt:lpstr>等线 Light</vt:lpstr>
      <vt:lpstr>Arial</vt:lpstr>
      <vt:lpstr>Century Gothic</vt:lpstr>
      <vt:lpstr>Constantia</vt:lpstr>
      <vt:lpstr>Office 主题​​</vt:lpstr>
      <vt:lpstr>4. Federalism</vt:lpstr>
      <vt:lpstr>Theories</vt:lpstr>
      <vt:lpstr>How can actual federalism be influenced?</vt:lpstr>
      <vt:lpstr>Ideas, Policymaking, and Federalism</vt:lpstr>
      <vt:lpstr>PowerPoint 演示文稿</vt:lpstr>
      <vt:lpstr>PowerPoint 演示文稿</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 Zhao</dc:creator>
  <cp:lastModifiedBy>sy Zhao</cp:lastModifiedBy>
  <cp:revision>49</cp:revision>
  <dcterms:created xsi:type="dcterms:W3CDTF">2025-08-13T18:40:43Z</dcterms:created>
  <dcterms:modified xsi:type="dcterms:W3CDTF">2025-09-05T16:04:23Z</dcterms:modified>
</cp:coreProperties>
</file>