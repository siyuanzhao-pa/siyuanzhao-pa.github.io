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3" r:id="rId4"/>
    <p:sldId id="272" r:id="rId5"/>
    <p:sldId id="269" r:id="rId6"/>
    <p:sldId id="274" r:id="rId7"/>
    <p:sldId id="275" r:id="rId8"/>
    <p:sldId id="263" r:id="rId9"/>
    <p:sldId id="276" r:id="rId10"/>
    <p:sldId id="27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2"/>
    <p:restoredTop sz="84828"/>
  </p:normalViewPr>
  <p:slideViewPr>
    <p:cSldViewPr snapToGrid="0">
      <p:cViewPr varScale="1">
        <p:scale>
          <a:sx n="120" d="100"/>
          <a:sy n="120" d="100"/>
        </p:scale>
        <p:origin x="1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C2761-774B-F042-9BD3-0C52A688F4FB}" type="datetimeFigureOut">
              <a:rPr kumimoji="1" lang="zh-CN" altLang="en-US" smtClean="0"/>
              <a:t>2025/9/11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92E27-0BA6-464B-8F92-818B943024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9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Today we re going to talk about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086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600" dirty="0"/>
              <a:t>The most important thing here is the due process clause.</a:t>
            </a:r>
          </a:p>
          <a:p>
            <a:endParaRPr kumimoji="1" lang="en-US" altLang="zh-CN" sz="1600" dirty="0"/>
          </a:p>
          <a:p>
            <a:r>
              <a:rPr kumimoji="1" lang="en-US" altLang="zh-CN" sz="1600" dirty="0"/>
              <a:t>But I cannot clarify all the case details (since we do not have such time), so today’s class will be a little different from before. </a:t>
            </a:r>
          </a:p>
          <a:p>
            <a:r>
              <a:rPr kumimoji="1" lang="en-US" altLang="zh-CN" sz="1600" dirty="0"/>
              <a:t>Coincidentally, it is the last class before mid term 1, so I just provide a structure, or guideline, and take you to go through it. </a:t>
            </a:r>
          </a:p>
          <a:p>
            <a:endParaRPr kumimoji="1" lang="en-US" altLang="zh-CN" sz="1600" dirty="0"/>
          </a:p>
          <a:p>
            <a:r>
              <a:rPr kumimoji="1" lang="en-US" altLang="zh-CN" sz="1600" dirty="0"/>
              <a:t>I’ll have several minutes for you to check or search on each slide.</a:t>
            </a:r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675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28DC-9620-41E7-B96A-CA01E6CF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E0AF89-89D5-489D-07AC-4CE0A44A5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A5A20E-CEA6-2270-1030-48B82B136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600" dirty="0"/>
              <a:t>Further narrowed to “</a:t>
            </a:r>
            <a:r>
              <a:rPr lang="en-US" altLang="zh-CN" sz="1600" dirty="0">
                <a:latin typeface="Century Gothic" panose="020B0502020202020204" pitchFamily="34" charset="0"/>
              </a:rPr>
              <a:t>Immediate and real threat</a:t>
            </a:r>
            <a:r>
              <a:rPr kumimoji="1" lang="en-US" altLang="zh-CN" sz="1600" dirty="0"/>
              <a:t>”</a:t>
            </a:r>
          </a:p>
          <a:p>
            <a:endParaRPr kumimoji="1" lang="en-US" altLang="zh-CN" sz="1600" dirty="0"/>
          </a:p>
          <a:p>
            <a:r>
              <a:rPr lang="en-US" altLang="zh-CN" sz="1600" dirty="0"/>
              <a:t>When</a:t>
            </a:r>
            <a:r>
              <a:rPr lang="zh-CN" altLang="en-US" sz="1600" dirty="0"/>
              <a:t> </a:t>
            </a:r>
            <a:r>
              <a:rPr lang="en-US" altLang="zh-CN" sz="1600" dirty="0"/>
              <a:t>may </a:t>
            </a:r>
            <a:r>
              <a:rPr lang="en-US" altLang="zh-CN" sz="1600" b="1" dirty="0"/>
              <a:t>the government limit free speech under the First Amendment?</a:t>
            </a:r>
          </a:p>
          <a:p>
            <a:r>
              <a:rPr lang="en-US" altLang="zh-CN" sz="1600" b="1" dirty="0"/>
              <a:t>/</a:t>
            </a:r>
            <a:r>
              <a:rPr lang="en-US" altLang="zh-CN" sz="1600" b="1" dirty="0" err="1"/>
              <a:t>ʃɛŋk</a:t>
            </a:r>
            <a:r>
              <a:rPr lang="en-US" altLang="zh-CN" sz="1600" b="1" dirty="0"/>
              <a:t>/</a:t>
            </a:r>
            <a:r>
              <a:rPr lang="en-US" altLang="zh-CN" sz="1600" dirty="0"/>
              <a:t> </a:t>
            </a:r>
            <a:r>
              <a:rPr lang="zh-CN" altLang="en-US" sz="1600" dirty="0"/>
              <a:t> </a:t>
            </a:r>
            <a:r>
              <a:rPr lang="en-US" altLang="zh-CN" sz="1600" dirty="0"/>
              <a:t>ˈ</a:t>
            </a:r>
            <a:r>
              <a:rPr lang="en-US" altLang="zh-CN" sz="1600" dirty="0" err="1"/>
              <a:t>hæmpʃɚ</a:t>
            </a:r>
            <a:r>
              <a:rPr lang="zh-CN" altLang="en-US" sz="1600" dirty="0"/>
              <a:t>   </a:t>
            </a:r>
            <a:r>
              <a:rPr lang="en-US" altLang="zh-CN" sz="1600" dirty="0"/>
              <a:t>/</a:t>
            </a:r>
            <a:r>
              <a:rPr lang="en-US" altLang="zh-CN" sz="1600" dirty="0" err="1"/>
              <a:t>oʊˈhaɪ.oʊ</a:t>
            </a:r>
            <a:r>
              <a:rPr lang="en-US" altLang="zh-CN" sz="1600" dirty="0"/>
              <a:t>/</a:t>
            </a:r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36ADAA-E146-684B-A076-081810DA2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038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2A2B2-99F4-8434-4043-90F0045DF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F74401-6074-DFA7-3822-B784E477F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381339-2B7E-6BEB-C024-61DAE1D07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600" dirty="0"/>
              <a:t>But we can also think, from a practical perspective, what kind of free speech can be accepted in private contexts.</a:t>
            </a:r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FC5F41-02AA-0710-0856-F0FD4FBFB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9998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0258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2BC13-1630-847D-9C7A-B4CC3C571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AB9805-6A02-39ED-907D-8D5D4CBA1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7AFE7C-712D-5E0E-6904-497D256AB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F82369-86E3-1EF3-8698-AD7B322B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7572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A9A15-0FB7-B74C-8933-DD099C6A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513087-DA15-011A-EE2C-DF8C455E3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D69E2A-1532-9B57-060B-71FA3E667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E690D8-8EEC-D201-999B-49B49078D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7671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9CAC4-5603-9540-4746-DF7D478F1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3E1C22-AA04-379D-70C6-A670FBE5C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DF2C8-367E-2D45-DF75-FE56AEE4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AD1C0-22F7-2B75-E5B6-416C33DE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D5D4F-5543-EF94-7D9E-26E2EB42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458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83152-C981-6237-7465-0F9D4C52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A163B-9301-5E7F-A6C9-6D50534B0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7EFE64-6FB4-1927-0FA3-40A1ED40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80ED6-E235-BE41-6C84-57A95172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D644E8-37BB-F946-0182-7EFE141D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79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50F04-C3CD-2F64-01B3-3226F98B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1D39D8-BB09-E9E1-AE46-BD0402C3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7D90E-E49A-C653-33E4-3399376B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BD9D7-4579-F439-2979-C756072B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7746B-C90D-95F8-97AA-3FFEA768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704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304D9-3BF5-05E6-96B1-4655A1D5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08483-110C-D43D-A3FD-2BB20209E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4C839D-DA8C-28CB-E5BA-B4723E5B0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E45B9-76B7-AB04-8094-C8CE369E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AE34B5-B673-FBFE-4EFF-91DAE128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9DB086-FF5A-FE0C-D4BB-2ED5948A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4046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83DD5-6BE7-B60B-3830-1C916372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8B3FFE-61EA-239B-F19E-01B329548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09DF50-77E9-6A8A-B7FD-52C3A0A2A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CBEA94-5C16-949F-958E-F32A629BA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3CCEDE-D71C-351E-8E59-1DC6C8EEE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D051A4-8FC0-4958-27ED-3FD5D613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B8DCF7-45C3-EA2A-1701-202A609F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C826FD-6CBB-9310-BCE6-0AFD91F0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466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7DEE7-0D18-A3AB-6312-227BEE98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787988-EB72-BBF2-97A0-18FCAEDE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1DEEEE-9CED-3233-301C-D61D4952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FAB2A8-6D82-8150-1ACA-546DA505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539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5F89BB-2D98-C933-488B-E600CB06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7A268E-C4F6-B77D-1351-5DE83C0A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F8E4A0-1ACD-7A8E-7C68-98F88D65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318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C987B-49C3-BFCA-7CA6-9ADDA155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330DC1-52A9-D64F-9566-03B17EB21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7648F5-B097-B233-8517-D224C2405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E39B80-C04B-2C82-D564-BE82DA11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4910C-3003-45C9-57B8-FCF2A71F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572AEE-EF5E-7D71-EEBA-B8379AA6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91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A6230-C7A5-86BA-5615-904D96A6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371D64-943D-9794-C679-047246E73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449E2F-39C8-500F-46E0-0C78B039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EA0B88-6CC1-DD08-915A-A518D5E2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1EC198-B676-0D20-89AE-543DC463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C72265-ADC9-100E-D5B9-3493AC71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34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69B29-53BC-8508-9E8C-83082E83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C1E39E-2C6E-E37C-2D42-EA3A82518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2F3AD-94BB-4CB2-C858-7F07E36D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73678-DBC5-35FE-7720-4954170E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E6E86-AEF4-9E51-11FF-DBEEDF93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316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3943D8-D242-3E2F-C24F-4E005E76A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29DC73-6886-F0DB-9DA5-9ED96CE82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B799C-9E0E-429F-C629-2A1862666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4BFC4-5811-57DC-FF5C-4868DB2A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A7796-940B-415F-C832-E381105E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12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E35921-9950-2FB0-6355-6B06F016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D1B157-D31D-54B9-7D6A-F6D4AD6AC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F31D3-1A38-6B87-4306-66D57169E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FA171-DF96-1B41-A089-FAB6FE9A340F}" type="datetimeFigureOut">
              <a:rPr kumimoji="1" lang="zh-CN" altLang="en-US" smtClean="0"/>
              <a:t>2025/9/11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11102-B856-C277-A8F6-8D6AF8F93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D88C62-D975-E146-FD0A-E318C5405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223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quizlet.com/study-guides/key-terms-in-political-science-d2f0198b-e0ea-489b-8865-618807e199dd?i=61humc&amp;x=13qt" TargetMode="External"/><Relationship Id="rId2" Type="http://schemas.openxmlformats.org/officeDocument/2006/relationships/hyperlink" Target="https://quizlet.com/941685878/key-terms-in-political-science-flash-cards/?i=61humc&amp;x=1jq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E6EF4-2BC6-E096-750F-ECCBB9D42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1" y="903888"/>
            <a:ext cx="9444788" cy="1779154"/>
          </a:xfrm>
        </p:spPr>
        <p:txBody>
          <a:bodyPr>
            <a:normAutofit/>
          </a:bodyPr>
          <a:lstStyle/>
          <a:p>
            <a:r>
              <a:rPr kumimoji="1" lang="en-US" altLang="zh-CN" sz="5000" b="1" dirty="0">
                <a:latin typeface="Century Gothic" panose="020B0502020202020204" pitchFamily="34" charset="0"/>
              </a:rPr>
              <a:t>5. Civil Liberties </a:t>
            </a:r>
            <a:br>
              <a:rPr kumimoji="1" lang="en-US" altLang="zh-CN" sz="5000" b="1" dirty="0">
                <a:latin typeface="Century Gothic" panose="020B0502020202020204" pitchFamily="34" charset="0"/>
              </a:rPr>
            </a:br>
            <a:r>
              <a:rPr kumimoji="1" lang="en-US" altLang="zh-CN" sz="5000" b="1" dirty="0">
                <a:latin typeface="Century Gothic" panose="020B0502020202020204" pitchFamily="34" charset="0"/>
              </a:rPr>
              <a:t>&amp; Mid-term 1 Review</a:t>
            </a:r>
            <a:endParaRPr kumimoji="1" lang="zh-CN" altLang="en-US" sz="5000" dirty="0">
              <a:latin typeface="Century Gothic" panose="020B0502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47D000-FF03-80F2-FC6B-25D1B58BD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8998"/>
            <a:ext cx="9144000" cy="2982311"/>
          </a:xfrm>
        </p:spPr>
        <p:txBody>
          <a:bodyPr>
            <a:normAutofit lnSpcReduction="10000"/>
          </a:bodyPr>
          <a:lstStyle/>
          <a:p>
            <a:r>
              <a:rPr kumimoji="1" lang="en-US" altLang="zh-CN" b="1" dirty="0">
                <a:latin typeface="Century Gothic" panose="020B0502020202020204" pitchFamily="34" charset="0"/>
              </a:rPr>
              <a:t>Breakout Sessions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POLS 1101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12:40pm-1:30pm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Park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Hall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145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&amp;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1:50pm-2:40pm Leconte Hall 135</a:t>
            </a:r>
          </a:p>
          <a:p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SIYUAN (Siri) ZHAO</a:t>
            </a:r>
          </a:p>
          <a:p>
            <a:r>
              <a:rPr kumimoji="1" lang="en-US" altLang="zh-CN" b="1" dirty="0" err="1">
                <a:latin typeface="Century Gothic" panose="020B0502020202020204" pitchFamily="34" charset="0"/>
              </a:rPr>
              <a:t>Siri.Zhao@uga.edu</a:t>
            </a:r>
            <a:endParaRPr kumimoji="1" lang="zh-CN" alt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78BB4-4865-3E7B-0D4E-C002FE68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Review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E27992-FA10-911D-8961-FB5AE68C2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958" y="1343817"/>
            <a:ext cx="11153274" cy="53167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i="1" dirty="0">
                <a:latin typeface="Century Gothic" panose="020B0502020202020204" pitchFamily="34" charset="0"/>
              </a:rPr>
              <a:t>Civil liberties</a:t>
            </a:r>
            <a:r>
              <a:rPr lang="en-US" altLang="zh-CN" sz="2400" dirty="0">
                <a:latin typeface="Century Gothic" panose="020B0502020202020204" pitchFamily="34" charset="0"/>
              </a:rPr>
              <a:t>: Restraints on the government (“negative rights”)</a:t>
            </a:r>
          </a:p>
          <a:p>
            <a:pPr>
              <a:lnSpc>
                <a:spcPct val="100000"/>
              </a:lnSpc>
            </a:pPr>
            <a:r>
              <a:rPr lang="en-US" altLang="zh-CN" sz="2400" b="1" i="1" dirty="0">
                <a:latin typeface="Century Gothic" panose="020B0502020202020204" pitchFamily="34" charset="0"/>
              </a:rPr>
              <a:t>Civil rights</a:t>
            </a:r>
            <a:r>
              <a:rPr lang="en-US" altLang="zh-CN" sz="2400" dirty="0">
                <a:latin typeface="Century Gothic" panose="020B0502020202020204" pitchFamily="34" charset="0"/>
              </a:rPr>
              <a:t>: What the government must do to protect individuals (“positive rights”).</a:t>
            </a:r>
          </a:p>
          <a:p>
            <a:pPr>
              <a:lnSpc>
                <a:spcPct val="100000"/>
              </a:lnSpc>
            </a:pPr>
            <a:endParaRPr lang="en-US" altLang="zh-CN" sz="24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latin typeface="Century Gothic" panose="020B0502020202020204" pitchFamily="34" charset="0"/>
              </a:rPr>
              <a:t>Civil liberties were confirmed by the Constitution, and even expanded in political (judiciary) practices.</a:t>
            </a:r>
          </a:p>
          <a:p>
            <a:pPr lvl="1"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Due-process clause </a:t>
            </a:r>
            <a:r>
              <a:rPr lang="en-US" altLang="zh-CN" sz="2200" dirty="0">
                <a:latin typeface="Century Gothic" panose="020B0502020202020204" pitchFamily="34" charset="0"/>
              </a:rPr>
              <a:t>(the 14</a:t>
            </a:r>
            <a:r>
              <a:rPr lang="en-US" altLang="zh-CN" sz="2200" baseline="30000" dirty="0">
                <a:latin typeface="Century Gothic" panose="020B0502020202020204" pitchFamily="34" charset="0"/>
              </a:rPr>
              <a:t>th</a:t>
            </a:r>
            <a:r>
              <a:rPr lang="en-US" altLang="zh-CN" sz="2200" dirty="0">
                <a:latin typeface="Century Gothic" panose="020B0502020202020204" pitchFamily="34" charset="0"/>
              </a:rPr>
              <a:t> Amendment): Applied the principles of the Bill of Rights to the state level – reasonable state govt. actions</a:t>
            </a:r>
          </a:p>
          <a:p>
            <a:pPr lvl="1"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Therefore, it is essential to know about cases (and how the SC statement evolved) if we wish to understand civil liberties.</a:t>
            </a:r>
          </a:p>
          <a:p>
            <a:pPr lvl="2">
              <a:lnSpc>
                <a:spcPct val="100000"/>
              </a:lnSpc>
            </a:pPr>
            <a:r>
              <a:rPr lang="en-US" altLang="zh-CN" b="1" dirty="0">
                <a:latin typeface="Century Gothic" panose="020B0502020202020204" pitchFamily="34" charset="0"/>
              </a:rPr>
              <a:t>Selective incorporation</a:t>
            </a:r>
            <a:r>
              <a:rPr lang="en-US" altLang="zh-CN" dirty="0">
                <a:latin typeface="Century Gothic" panose="020B0502020202020204" pitchFamily="34" charset="0"/>
              </a:rPr>
              <a:t>: SC as the “actual law maker” – discretional power on whether a particular civil liberty applies to the 14</a:t>
            </a:r>
            <a:r>
              <a:rPr lang="en-US" altLang="zh-CN" baseline="30000" dirty="0">
                <a:latin typeface="Century Gothic" panose="020B0502020202020204" pitchFamily="34" charset="0"/>
              </a:rPr>
              <a:t>th</a:t>
            </a:r>
            <a:r>
              <a:rPr lang="en-US" altLang="zh-CN" dirty="0">
                <a:latin typeface="Century Gothic" panose="020B0502020202020204" pitchFamily="34" charset="0"/>
              </a:rPr>
              <a:t> amendment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2400" dirty="0">
              <a:latin typeface="Century Gothic" panose="020B0502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837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828F-98B4-0444-DF92-C3D4A45A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7DF19-AE2F-E17B-5060-D172DE00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Freedom of Expression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34461B-7676-BF5C-15AD-6B279E37D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7"/>
            <a:ext cx="10515600" cy="567746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Basic principle (1</a:t>
            </a:r>
            <a:r>
              <a:rPr lang="en-US" altLang="zh-CN" sz="2200" b="1" baseline="30000" dirty="0">
                <a:latin typeface="Century Gothic" panose="020B0502020202020204" pitchFamily="34" charset="0"/>
              </a:rPr>
              <a:t>st</a:t>
            </a:r>
            <a:r>
              <a:rPr lang="en-US" altLang="zh-CN" sz="2200" b="1" dirty="0">
                <a:latin typeface="Century Gothic" panose="020B0502020202020204" pitchFamily="34" charset="0"/>
              </a:rPr>
              <a:t> Amendment): </a:t>
            </a:r>
            <a:r>
              <a:rPr lang="en-US" altLang="zh-CN" sz="2200" dirty="0">
                <a:latin typeface="Century Gothic" panose="020B0502020202020204" pitchFamily="34" charset="0"/>
              </a:rPr>
              <a:t>Unrestricted discussion of public affairs</a:t>
            </a:r>
          </a:p>
          <a:p>
            <a:pPr lvl="1">
              <a:lnSpc>
                <a:spcPct val="100000"/>
              </a:lnSpc>
            </a:pPr>
            <a:r>
              <a:rPr lang="en-US" altLang="zh-CN" sz="2100" dirty="0">
                <a:latin typeface="Century Gothic" panose="020B0502020202020204" pitchFamily="34" charset="0"/>
              </a:rPr>
              <a:t>However, 1) saying nothing about private restrictions on speech;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100" dirty="0">
                <a:latin typeface="Century Gothic" panose="020B0502020202020204" pitchFamily="34" charset="0"/>
              </a:rPr>
              <a:t>2) There should be no threats to public order.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r>
              <a:rPr lang="en-US" altLang="zh-CN" sz="1800" dirty="0">
                <a:latin typeface="Century Gothic" panose="020B0502020202020204" pitchFamily="34" charset="0"/>
              </a:rPr>
              <a:t> Clear and present danger test (</a:t>
            </a:r>
            <a:r>
              <a:rPr lang="en-US" altLang="zh-CN" sz="1800" b="1" i="1" dirty="0">
                <a:latin typeface="Century Gothic" panose="020B0502020202020204" pitchFamily="34" charset="0"/>
              </a:rPr>
              <a:t>Schenck v. United States, 1919</a:t>
            </a:r>
            <a:r>
              <a:rPr lang="en-US" altLang="zh-CN" sz="1800" dirty="0">
                <a:latin typeface="Century Gothic" panose="020B0502020202020204" pitchFamily="34" charset="0"/>
              </a:rPr>
              <a:t>)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r>
              <a:rPr lang="en-US" altLang="zh-CN" sz="1800" dirty="0">
                <a:latin typeface="Century Gothic" panose="020B0502020202020204" pitchFamily="34" charset="0"/>
              </a:rPr>
              <a:t> Immediate and real threat (</a:t>
            </a:r>
            <a:r>
              <a:rPr lang="en-US" altLang="zh-CN" sz="1800" b="1" i="1" dirty="0">
                <a:latin typeface="Century Gothic" panose="020B0502020202020204" pitchFamily="34" charset="0"/>
              </a:rPr>
              <a:t>Brandenburg v. Ohio, 1969</a:t>
            </a:r>
            <a:r>
              <a:rPr lang="en-US" altLang="zh-CN" sz="1800" dirty="0">
                <a:latin typeface="Century Gothic" panose="020B0502020202020204" pitchFamily="34" charset="0"/>
              </a:rPr>
              <a:t>)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r>
              <a:rPr lang="en-US" altLang="zh-CN" sz="1800" dirty="0">
                <a:latin typeface="Century Gothic" panose="020B0502020202020204" pitchFamily="34" charset="0"/>
              </a:rPr>
              <a:t> Fighting words (</a:t>
            </a:r>
            <a:r>
              <a:rPr lang="en-US" altLang="zh-CN" sz="1800" b="1" i="1" dirty="0">
                <a:latin typeface="Century Gothic" panose="020B0502020202020204" pitchFamily="34" charset="0"/>
              </a:rPr>
              <a:t>Chaplinsky v. New Hampshire, 1942; Cohen vs. California, 1971</a:t>
            </a:r>
            <a:r>
              <a:rPr lang="en-US" altLang="zh-CN" sz="1800" dirty="0">
                <a:latin typeface="Century Gothic" panose="020B0502020202020204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Extensions</a:t>
            </a:r>
          </a:p>
          <a:p>
            <a:pPr lvl="1">
              <a:lnSpc>
                <a:spcPct val="100000"/>
              </a:lnSpc>
            </a:pPr>
            <a:r>
              <a:rPr lang="en-US" altLang="zh-CN" sz="2100" b="1" dirty="0">
                <a:latin typeface="Century Gothic" panose="020B0502020202020204" pitchFamily="34" charset="0"/>
              </a:rPr>
              <a:t>Symbolic expression (non-verbal communication)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r>
              <a:rPr lang="en-US" altLang="zh-CN" sz="1800" dirty="0">
                <a:latin typeface="Century Gothic" panose="020B0502020202020204" pitchFamily="34" charset="0"/>
              </a:rPr>
              <a:t> Tinker v. Des Moines Independent County School District (1969)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r>
              <a:rPr lang="en-US" altLang="zh-CN" sz="1800" dirty="0">
                <a:latin typeface="Century Gothic" panose="020B0502020202020204" pitchFamily="34" charset="0"/>
              </a:rPr>
              <a:t> Texas v. Johnson (1989)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r>
              <a:rPr lang="en-US" altLang="zh-CN" sz="1800" dirty="0">
                <a:latin typeface="Century Gothic" panose="020B0502020202020204" pitchFamily="34" charset="0"/>
              </a:rPr>
              <a:t> Citizens United v. Federal Election Commission (2010) </a:t>
            </a:r>
          </a:p>
          <a:p>
            <a:pPr lvl="1">
              <a:lnSpc>
                <a:spcPct val="100000"/>
              </a:lnSpc>
            </a:pPr>
            <a:r>
              <a:rPr lang="en-US" altLang="zh-CN" sz="2100" b="1" dirty="0">
                <a:latin typeface="Century Gothic" panose="020B0502020202020204" pitchFamily="34" charset="0"/>
              </a:rPr>
              <a:t>Obscenity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r>
              <a:rPr lang="en-US" altLang="zh-CN" sz="1700" b="1" dirty="0">
                <a:latin typeface="Century Gothic" panose="020B0502020202020204" pitchFamily="34" charset="0"/>
              </a:rPr>
              <a:t> </a:t>
            </a:r>
            <a:r>
              <a:rPr lang="en-US" altLang="zh-CN" sz="1700" dirty="0">
                <a:latin typeface="Century Gothic" panose="020B0502020202020204" pitchFamily="34" charset="0"/>
              </a:rPr>
              <a:t>Miller v. California (1973)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r>
              <a:rPr lang="en-US" altLang="zh-CN" sz="1700" dirty="0">
                <a:latin typeface="Century Gothic" panose="020B0502020202020204" pitchFamily="34" charset="0"/>
              </a:rPr>
              <a:t> Jenkins v. Georgia (1974)</a:t>
            </a:r>
          </a:p>
          <a:p>
            <a:pPr lvl="2">
              <a:lnSpc>
                <a:spcPct val="110000"/>
              </a:lnSpc>
              <a:buFont typeface="Wingdings" pitchFamily="2" charset="2"/>
              <a:buChar char="p"/>
            </a:pPr>
            <a:r>
              <a:rPr lang="en-US" altLang="zh-CN" sz="1700" dirty="0">
                <a:latin typeface="Century Gothic" panose="020B0502020202020204" pitchFamily="34" charset="0"/>
              </a:rPr>
              <a:t> Reno v. ACLU (1997)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endParaRPr lang="en-US" altLang="zh-CN" sz="18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en-US" altLang="zh-CN" sz="2200" dirty="0">
              <a:latin typeface="Century Gothic" panose="020B0502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78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2287D-C457-579B-A48C-6E7D3714B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CACDC-29F8-55A7-6D55-60C0B2E1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Freedom of Expression (cont`d)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A1A25-C9C8-E0B0-F4A9-6937D4150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7"/>
            <a:ext cx="10515600" cy="56448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Extensions</a:t>
            </a:r>
          </a:p>
          <a:p>
            <a:pPr lvl="1">
              <a:lnSpc>
                <a:spcPct val="100000"/>
              </a:lnSpc>
            </a:pPr>
            <a:r>
              <a:rPr lang="en-US" altLang="zh-CN" sz="2100" b="1" dirty="0">
                <a:latin typeface="Century Gothic" panose="020B0502020202020204" pitchFamily="34" charset="0"/>
              </a:rPr>
              <a:t>Hate speech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r>
              <a:rPr lang="en-US" altLang="zh-CN" sz="1800" dirty="0">
                <a:latin typeface="Century Gothic" panose="020B0502020202020204" pitchFamily="34" charset="0"/>
              </a:rPr>
              <a:t> Nationalist Socialist Party of America v. Village of Skokie (1977) 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r>
              <a:rPr lang="en-US" altLang="zh-CN" sz="1800" dirty="0">
                <a:latin typeface="Century Gothic" panose="020B0502020202020204" pitchFamily="34" charset="0"/>
              </a:rPr>
              <a:t> Matal v. Tam (2016)</a:t>
            </a:r>
          </a:p>
          <a:p>
            <a:pPr lvl="1">
              <a:lnSpc>
                <a:spcPct val="100000"/>
              </a:lnSpc>
            </a:pPr>
            <a:r>
              <a:rPr lang="en-US" altLang="zh-CN" sz="2100" b="1" dirty="0">
                <a:latin typeface="Century Gothic" panose="020B0502020202020204" pitchFamily="34" charset="0"/>
              </a:rPr>
              <a:t>Freedom of the press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r>
              <a:rPr lang="en-US" altLang="zh-CN" sz="1700" b="1" dirty="0">
                <a:latin typeface="Century Gothic" panose="020B0502020202020204" pitchFamily="34" charset="0"/>
              </a:rPr>
              <a:t> Priori restraint: </a:t>
            </a:r>
            <a:r>
              <a:rPr lang="en-US" altLang="zh-CN" sz="1700" dirty="0">
                <a:latin typeface="Century Gothic" panose="020B0502020202020204" pitchFamily="34" charset="0"/>
              </a:rPr>
              <a:t>censorship before publication</a:t>
            </a:r>
          </a:p>
          <a:p>
            <a:pPr lvl="1">
              <a:lnSpc>
                <a:spcPct val="100000"/>
              </a:lnSpc>
            </a:pPr>
            <a:r>
              <a:rPr lang="en-US" altLang="zh-CN" sz="2100" b="1" dirty="0">
                <a:latin typeface="Century Gothic" panose="020B0502020202020204" pitchFamily="34" charset="0"/>
              </a:rPr>
              <a:t>……</a:t>
            </a:r>
          </a:p>
          <a:p>
            <a:pPr lvl="1">
              <a:lnSpc>
                <a:spcPct val="100000"/>
              </a:lnSpc>
            </a:pPr>
            <a:endParaRPr lang="en-US" altLang="zh-CN" sz="2100" b="1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Reflection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How did SC </a:t>
            </a:r>
            <a:r>
              <a:rPr lang="en-US" altLang="zh-CN" sz="2000" b="1" dirty="0">
                <a:latin typeface="Century Gothic" panose="020B0502020202020204" pitchFamily="34" charset="0"/>
              </a:rPr>
              <a:t>come to</a:t>
            </a:r>
            <a:r>
              <a:rPr lang="en-US" altLang="zh-CN" sz="2000" dirty="0">
                <a:latin typeface="Century Gothic" panose="020B0502020202020204" pitchFamily="34" charset="0"/>
              </a:rPr>
              <a:t> the decision (even overruling a precedent)? How did the majority (and even minority) decision </a:t>
            </a:r>
            <a:r>
              <a:rPr lang="en-US" altLang="zh-CN" sz="2000" b="1" dirty="0">
                <a:latin typeface="Century Gothic" panose="020B0502020202020204" pitchFamily="34" charset="0"/>
              </a:rPr>
              <a:t>interpret</a:t>
            </a:r>
            <a:r>
              <a:rPr lang="en-US" altLang="zh-CN" sz="2000" dirty="0">
                <a:latin typeface="Century Gothic" panose="020B0502020202020204" pitchFamily="34" charset="0"/>
              </a:rPr>
              <a:t> the Constitution?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What’s the </a:t>
            </a:r>
            <a:r>
              <a:rPr lang="en-US" altLang="zh-CN" sz="2000" b="1" dirty="0">
                <a:latin typeface="Century Gothic" panose="020B0502020202020204" pitchFamily="34" charset="0"/>
              </a:rPr>
              <a:t>boundary </a:t>
            </a:r>
            <a:r>
              <a:rPr lang="en-US" altLang="zh-CN" sz="2000" dirty="0">
                <a:latin typeface="Century Gothic" panose="020B0502020202020204" pitchFamily="34" charset="0"/>
              </a:rPr>
              <a:t>of freedom of speech? Case-by-case reflection: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r>
              <a:rPr lang="en-US" altLang="zh-CN" sz="1700" dirty="0">
                <a:latin typeface="Century Gothic" panose="020B0502020202020204" pitchFamily="34" charset="0"/>
              </a:rPr>
              <a:t> fighting words, hate speech (race, religion, …), obscenity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r>
              <a:rPr lang="en-US" altLang="zh-CN" sz="1700" dirty="0">
                <a:latin typeface="Century Gothic" panose="020B0502020202020204" pitchFamily="34" charset="0"/>
              </a:rPr>
              <a:t> public, private (Remember “freedom of speech” in law applies only to public arenas.)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p"/>
            </a:pPr>
            <a:r>
              <a:rPr lang="en-US" altLang="zh-CN" sz="1700" dirty="0">
                <a:latin typeface="Century Gothic" panose="020B0502020202020204" pitchFamily="34" charset="0"/>
              </a:rPr>
              <a:t> Can you find yourself having some clear patterns in balancing freedom &amp; order?</a:t>
            </a:r>
          </a:p>
        </p:txBody>
      </p:sp>
    </p:spTree>
    <p:extLst>
      <p:ext uri="{BB962C8B-B14F-4D97-AF65-F5344CB8AC3E}">
        <p14:creationId xmlns:p14="http://schemas.microsoft.com/office/powerpoint/2010/main" val="1355576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E965-1EC2-75B0-A138-BE54EB21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CE3BBD-CC59-43AC-483F-5B2DB4E5E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18" y="1325563"/>
            <a:ext cx="11095496" cy="54877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The Establishment Clause: ❌</a:t>
            </a:r>
            <a:r>
              <a:rPr kumimoji="1" lang="zh-CN" altLang="en-US" sz="2200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2200" b="1" dirty="0">
                <a:latin typeface="Century Gothic" panose="020B0502020202020204" pitchFamily="34" charset="0"/>
              </a:rPr>
              <a:t>establishing certain religions!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Lemon v. Kurtzman (1971)</a:t>
            </a:r>
            <a:r>
              <a:rPr kumimoji="1" lang="zh-CN" altLang="en-US" sz="2000" dirty="0">
                <a:latin typeface="Century Gothic" panose="020B0502020202020204" pitchFamily="34" charset="0"/>
              </a:rPr>
              <a:t> 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&amp;</a:t>
            </a:r>
            <a:r>
              <a:rPr kumimoji="1" lang="zh-CN" altLang="en-US" sz="2000" dirty="0">
                <a:latin typeface="Century Gothic" panose="020B0502020202020204" pitchFamily="34" charset="0"/>
              </a:rPr>
              <a:t> </a:t>
            </a:r>
            <a:r>
              <a:rPr kumimoji="1" lang="en-US" altLang="zh-CN" sz="2000" i="1" dirty="0">
                <a:latin typeface="Century Gothic" panose="020B0502020202020204" pitchFamily="34" charset="0"/>
              </a:rPr>
              <a:t>Lemon Test</a:t>
            </a:r>
            <a:r>
              <a:rPr kumimoji="1" lang="zh-CN" altLang="en-US" sz="2000" i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(see slides)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Agostini v. Felton (1997): Requires government neutrality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Lynch v. Donnelly (1984): Intermingling of religion and secular tradition; religious majority &amp; minority -&gt; complexities in reality!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Establishment clause and school prayer (see slides)</a:t>
            </a: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1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The Free-exercise Clause: ❌</a:t>
            </a:r>
            <a:r>
              <a:rPr kumimoji="1" lang="zh-CN" altLang="en-US" sz="2200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2200" b="1" dirty="0">
                <a:latin typeface="Century Gothic" panose="020B0502020202020204" pitchFamily="34" charset="0"/>
              </a:rPr>
              <a:t>interfering with certain religious exercises!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Tension between the establishment clause &amp; the free-exercise clause</a:t>
            </a:r>
            <a:endParaRPr kumimoji="1" lang="en-US" altLang="zh-CN" sz="1800" dirty="0">
              <a:latin typeface="Century Gothic" panose="020B0502020202020204" pitchFamily="34" charset="0"/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Should the government be required to grant religious exemptions from neutral laws </a:t>
            </a:r>
            <a:r>
              <a:rPr lang="en-US" altLang="zh-CN" sz="1800" dirty="0">
                <a:latin typeface="Century Gothic" panose="020B0502020202020204" pitchFamily="34" charset="0"/>
              </a:rPr>
              <a:t>(e.g., drug use, marriage licensing)?</a:t>
            </a:r>
            <a:r>
              <a:rPr lang="zh-CN" altLang="en-US" sz="1800" dirty="0">
                <a:latin typeface="Century Gothic" panose="020B0502020202020204" pitchFamily="34" charset="0"/>
              </a:rPr>
              <a:t> </a:t>
            </a:r>
            <a:r>
              <a:rPr lang="en-US" altLang="zh-CN" sz="1800" dirty="0">
                <a:latin typeface="Century Gothic" panose="020B0502020202020204" pitchFamily="34" charset="0"/>
              </a:rPr>
              <a:t>-&gt; protection of </a:t>
            </a:r>
            <a:r>
              <a:rPr lang="en-US" altLang="zh-CN" sz="1800" dirty="0" err="1">
                <a:latin typeface="Century Gothic" panose="020B0502020202020204" pitchFamily="34" charset="0"/>
              </a:rPr>
              <a:t>FoR</a:t>
            </a:r>
            <a:r>
              <a:rPr lang="en-US" altLang="zh-CN" sz="1800" dirty="0">
                <a:latin typeface="Century Gothic" panose="020B0502020202020204" pitchFamily="34" charset="0"/>
              </a:rPr>
              <a:t>, or preferences to certain religions?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How should courts balance religious liberty against other rights, such as LGBTQ protections or gender equality?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Basic principle: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Strict scrutiny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If a law imposes a burden on religious belief or conduct, it must serve a </a:t>
            </a:r>
            <a:r>
              <a:rPr lang="en-US" altLang="zh-CN" sz="1800" b="1" dirty="0">
                <a:latin typeface="Century Gothic" panose="020B0502020202020204" pitchFamily="34" charset="0"/>
              </a:rPr>
              <a:t>compelling</a:t>
            </a:r>
            <a:r>
              <a:rPr lang="en-US" altLang="zh-CN" sz="1800" dirty="0">
                <a:latin typeface="Century Gothic" panose="020B0502020202020204" pitchFamily="34" charset="0"/>
              </a:rPr>
              <a:t> governmental interest, be </a:t>
            </a:r>
            <a:r>
              <a:rPr lang="en-US" altLang="zh-CN" sz="1800" b="1" dirty="0">
                <a:latin typeface="Century Gothic" panose="020B0502020202020204" pitchFamily="34" charset="0"/>
              </a:rPr>
              <a:t>narrowly tailored</a:t>
            </a:r>
            <a:r>
              <a:rPr lang="en-US" altLang="zh-CN" sz="1800" dirty="0">
                <a:latin typeface="Century Gothic" panose="020B0502020202020204" pitchFamily="34" charset="0"/>
              </a:rPr>
              <a:t>, and employ </a:t>
            </a:r>
            <a:r>
              <a:rPr lang="en-US" altLang="zh-CN" sz="1800" b="1" dirty="0">
                <a:latin typeface="Century Gothic" panose="020B0502020202020204" pitchFamily="34" charset="0"/>
              </a:rPr>
              <a:t>the least restrictive </a:t>
            </a:r>
            <a:r>
              <a:rPr lang="en-US" altLang="zh-CN" sz="1800" dirty="0">
                <a:latin typeface="Century Gothic" panose="020B0502020202020204" pitchFamily="34" charset="0"/>
              </a:rPr>
              <a:t>means.</a:t>
            </a:r>
            <a:endParaRPr kumimoji="1" lang="en-US" altLang="zh-CN" sz="18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kumimoji="1" lang="en-US" altLang="zh-CN" sz="2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22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ED413E5-1736-8558-749C-4C81B5413F49}"/>
              </a:ext>
            </a:extLst>
          </p:cNvPr>
          <p:cNvSpPr txBox="1">
            <a:spLocks/>
          </p:cNvSpPr>
          <p:nvPr/>
        </p:nvSpPr>
        <p:spPr>
          <a:xfrm>
            <a:off x="54825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Freedom of Religion 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367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DFA5F-DDA8-B264-DA3B-C0528764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260E24-8ECA-6299-4AC5-9243E8477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2" y="1206993"/>
            <a:ext cx="11095496" cy="58251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Privacy</a:t>
            </a:r>
          </a:p>
          <a:p>
            <a:pPr lvl="1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Griswold v. Connecticut (1965): Right to privacy is an </a:t>
            </a:r>
            <a:r>
              <a:rPr lang="en-US" altLang="zh-CN" sz="1800" b="1" dirty="0">
                <a:latin typeface="Century Gothic" panose="020B0502020202020204" pitchFamily="34" charset="0"/>
              </a:rPr>
              <a:t>“implied right” </a:t>
            </a:r>
            <a:r>
              <a:rPr lang="en-US" altLang="zh-CN" sz="1800" dirty="0">
                <a:latin typeface="Century Gothic" panose="020B0502020202020204" pitchFamily="34" charset="0"/>
              </a:rPr>
              <a:t>(maybe we can call it this way!) in the Bill of Rights!</a:t>
            </a:r>
          </a:p>
          <a:p>
            <a:pPr lvl="1">
              <a:lnSpc>
                <a:spcPct val="100000"/>
              </a:lnSpc>
            </a:pPr>
            <a:endParaRPr lang="en-US" altLang="zh-CN" sz="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Roe v. Wade (1973): the right to </a:t>
            </a:r>
            <a:r>
              <a:rPr lang="en-US" altLang="zh-CN" sz="1800" b="1" dirty="0">
                <a:latin typeface="Century Gothic" panose="020B0502020202020204" pitchFamily="34" charset="0"/>
              </a:rPr>
              <a:t>abortion</a:t>
            </a:r>
          </a:p>
          <a:p>
            <a:pPr lvl="1">
              <a:lnSpc>
                <a:spcPct val="100000"/>
              </a:lnSpc>
            </a:pPr>
            <a:endParaRPr lang="en-US" altLang="zh-CN" sz="200" b="1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1" lang="en-US" altLang="zh-CN" sz="1800" dirty="0">
                <a:latin typeface="Century Gothic" panose="020B0502020202020204" pitchFamily="34" charset="0"/>
              </a:rPr>
              <a:t>Lawrence v. Texas (2003): </a:t>
            </a:r>
            <a:r>
              <a:rPr lang="en-US" altLang="zh-CN" sz="1800" dirty="0">
                <a:latin typeface="Century Gothic" panose="020B0502020202020204" pitchFamily="34" charset="0"/>
              </a:rPr>
              <a:t>legalization of </a:t>
            </a:r>
            <a:r>
              <a:rPr lang="en-US" altLang="zh-CN" sz="1800" b="1" dirty="0">
                <a:latin typeface="Century Gothic" panose="020B0502020202020204" pitchFamily="34" charset="0"/>
              </a:rPr>
              <a:t>same-sex sexual conduct</a:t>
            </a:r>
          </a:p>
          <a:p>
            <a:pPr lvl="1">
              <a:lnSpc>
                <a:spcPct val="100000"/>
              </a:lnSpc>
            </a:pPr>
            <a:endParaRPr lang="en-US" altLang="zh-CN" sz="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Obergefell v. Hodges (2015): legalization of </a:t>
            </a:r>
            <a:r>
              <a:rPr lang="en-US" altLang="zh-CN" sz="1800" b="1" dirty="0">
                <a:latin typeface="Century Gothic" panose="020B0502020202020204" pitchFamily="34" charset="0"/>
              </a:rPr>
              <a:t>same-sex marriage</a:t>
            </a:r>
          </a:p>
          <a:p>
            <a:pPr lvl="1">
              <a:lnSpc>
                <a:spcPct val="100000"/>
              </a:lnSpc>
            </a:pPr>
            <a:endParaRPr lang="en-US" altLang="zh-CN" sz="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Dobbs v. Jackson Women’s Health Organization (2022): More conservative attitude toward </a:t>
            </a:r>
            <a:r>
              <a:rPr lang="en-US" altLang="zh-CN" sz="1800" b="1" dirty="0">
                <a:latin typeface="Century Gothic" panose="020B0502020202020204" pitchFamily="34" charset="0"/>
              </a:rPr>
              <a:t>substantive due process rights (“implied rights”)</a:t>
            </a:r>
            <a:endParaRPr kumimoji="1" lang="en-US" altLang="zh-CN" sz="1800" b="1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Back to key controversies in the Constitution &amp; Federalism</a:t>
            </a:r>
            <a:endParaRPr kumimoji="1" lang="en-US" altLang="zh-CN" sz="20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How should we define “liberty” under the Due Process Clause? Is it limited to historically recognized rights, or can it evolve with society?</a:t>
            </a:r>
          </a:p>
          <a:p>
            <a:pPr lvl="1">
              <a:lnSpc>
                <a:spcPct val="100000"/>
              </a:lnSpc>
            </a:pPr>
            <a:endParaRPr kumimoji="1" lang="en-US" altLang="zh-CN" sz="2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If courts stop protecting unenumerated rights, can legislatures adequately safeguard individual liberties?</a:t>
            </a:r>
          </a:p>
          <a:p>
            <a:pPr lvl="1">
              <a:lnSpc>
                <a:spcPct val="100000"/>
              </a:lnSpc>
            </a:pPr>
            <a:endParaRPr kumimoji="1" lang="en-US" altLang="zh-CN" sz="2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After </a:t>
            </a:r>
            <a:r>
              <a:rPr lang="en-US" altLang="zh-CN" sz="1800" i="1" dirty="0">
                <a:latin typeface="Century Gothic" panose="020B0502020202020204" pitchFamily="34" charset="0"/>
              </a:rPr>
              <a:t>Dobbs</a:t>
            </a:r>
            <a:r>
              <a:rPr lang="en-US" altLang="zh-CN" sz="1800" dirty="0">
                <a:latin typeface="Century Gothic" panose="020B0502020202020204" pitchFamily="34" charset="0"/>
              </a:rPr>
              <a:t>, do</a:t>
            </a:r>
            <a:r>
              <a:rPr lang="zh-CN" altLang="en-US" sz="1800" dirty="0">
                <a:latin typeface="Century Gothic" panose="020B0502020202020204" pitchFamily="34" charset="0"/>
              </a:rPr>
              <a:t> </a:t>
            </a:r>
            <a:r>
              <a:rPr lang="en-US" altLang="zh-CN" sz="1800" dirty="0">
                <a:latin typeface="Century Gothic" panose="020B0502020202020204" pitchFamily="34" charset="0"/>
              </a:rPr>
              <a:t>you</a:t>
            </a:r>
            <a:r>
              <a:rPr lang="zh-CN" altLang="en-US" sz="1800" dirty="0">
                <a:latin typeface="Century Gothic" panose="020B0502020202020204" pitchFamily="34" charset="0"/>
              </a:rPr>
              <a:t> </a:t>
            </a:r>
            <a:r>
              <a:rPr lang="en-US" altLang="zh-CN" sz="1800" dirty="0">
                <a:latin typeface="Century Gothic" panose="020B0502020202020204" pitchFamily="34" charset="0"/>
              </a:rPr>
              <a:t>think other substantive due process rights (contraception, same-sex marriage) will also face potential rollback?</a:t>
            </a:r>
            <a:endParaRPr kumimoji="1" lang="en-US" altLang="zh-CN" sz="2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22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F4361A34-4D88-C827-0159-F5FA0DBFD11D}"/>
              </a:ext>
            </a:extLst>
          </p:cNvPr>
          <p:cNvSpPr txBox="1">
            <a:spLocks/>
          </p:cNvSpPr>
          <p:nvPr/>
        </p:nvSpPr>
        <p:spPr>
          <a:xfrm>
            <a:off x="54825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b="1" dirty="0">
                <a:latin typeface="Century Gothic" panose="020B0502020202020204" pitchFamily="34" charset="0"/>
              </a:rPr>
              <a:t>Should rights not expressly mentioned be protected? </a:t>
            </a:r>
            <a:endParaRPr kumimoji="1" lang="zh-CN" altLang="en-US" sz="32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429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80127-5347-2598-FC8B-644E3798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4F686B-C60A-14B6-0A20-3EBEEED77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18" y="1325562"/>
            <a:ext cx="11095496" cy="5097009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From </a:t>
            </a:r>
            <a:r>
              <a:rPr kumimoji="1"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Substantive liberties (due process rights)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to </a:t>
            </a:r>
            <a:r>
              <a:rPr kumimoji="1"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Procedural liberties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1800" dirty="0">
                <a:latin typeface="Century Gothic" panose="020B0502020202020204" pitchFamily="34" charset="0"/>
              </a:rPr>
              <a:t>Protecting fundamental rights (liberties)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1800" dirty="0">
                <a:latin typeface="Century Gothic" panose="020B0502020202020204" pitchFamily="34" charset="0"/>
              </a:rPr>
              <a:t>Ensuring fair process (in arrest, prosecution, trial, appeal, …)</a:t>
            </a:r>
            <a:r>
              <a:rPr kumimoji="1" lang="zh-CN" altLang="en-US" sz="1800" dirty="0">
                <a:latin typeface="Century Gothic" panose="020B0502020202020204" pitchFamily="34" charset="0"/>
              </a:rPr>
              <a:t>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-&gt; Basic respect for individuals </a:t>
            </a:r>
          </a:p>
          <a:p>
            <a:pPr lvl="1">
              <a:lnSpc>
                <a:spcPct val="100000"/>
              </a:lnSpc>
            </a:pPr>
            <a:endParaRPr kumimoji="1"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Basic concepts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Bill of attainer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: A</a:t>
            </a:r>
            <a:r>
              <a:rPr lang="en-US" altLang="zh-CN" sz="1800" dirty="0">
                <a:latin typeface="Century Gothic" panose="020B0502020202020204" pitchFamily="34" charset="0"/>
              </a:rPr>
              <a:t> law passed by a legislature that declares a specific person or group guilty of a crime and imposes punishment </a:t>
            </a:r>
            <a:r>
              <a:rPr lang="en-US" altLang="zh-CN" sz="1800" b="1" dirty="0">
                <a:latin typeface="Century Gothic" panose="020B0502020202020204" pitchFamily="34" charset="0"/>
              </a:rPr>
              <a:t>without a trial (❌)</a:t>
            </a:r>
          </a:p>
          <a:p>
            <a:pPr lvl="1">
              <a:lnSpc>
                <a:spcPct val="100000"/>
              </a:lnSpc>
            </a:pPr>
            <a:endParaRPr lang="en-US" altLang="zh-CN" sz="200" b="1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Ex post facto law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:</a:t>
            </a:r>
            <a:r>
              <a:rPr kumimoji="1" lang="zh-CN" altLang="en-US" sz="1800" dirty="0">
                <a:latin typeface="Century Gothic" panose="020B0502020202020204" pitchFamily="34" charset="0"/>
              </a:rPr>
              <a:t>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A</a:t>
            </a:r>
            <a:r>
              <a:rPr kumimoji="1" lang="zh-CN" altLang="en-US" sz="1800" dirty="0">
                <a:latin typeface="Century Gothic" panose="020B0502020202020204" pitchFamily="34" charset="0"/>
              </a:rPr>
              <a:t>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law</a:t>
            </a:r>
            <a:r>
              <a:rPr kumimoji="1" lang="zh-CN" altLang="en-US" sz="1800" dirty="0">
                <a:latin typeface="Century Gothic" panose="020B0502020202020204" pitchFamily="34" charset="0"/>
              </a:rPr>
              <a:t>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that declare an action a crime </a:t>
            </a:r>
            <a:r>
              <a:rPr kumimoji="1" lang="en-US" altLang="zh-CN" sz="1800" b="1" dirty="0">
                <a:latin typeface="Century Gothic" panose="020B0502020202020204" pitchFamily="34" charset="0"/>
              </a:rPr>
              <a:t>after it has been performed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(but not illegal when it was performed). </a:t>
            </a:r>
            <a:r>
              <a:rPr lang="en-US" altLang="zh-CN" sz="1800" b="1" dirty="0">
                <a:latin typeface="Century Gothic" panose="020B0502020202020204" pitchFamily="34" charset="0"/>
              </a:rPr>
              <a:t>(❌)</a:t>
            </a:r>
          </a:p>
          <a:p>
            <a:pPr lvl="1">
              <a:lnSpc>
                <a:spcPct val="100000"/>
              </a:lnSpc>
            </a:pPr>
            <a:endParaRPr lang="en-US" altLang="zh-CN" sz="200" b="1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Miranda Warnings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: T</a:t>
            </a:r>
            <a:r>
              <a:rPr lang="en-US" altLang="zh-CN" sz="1800" dirty="0">
                <a:latin typeface="Century Gothic" panose="020B0502020202020204" pitchFamily="34" charset="0"/>
              </a:rPr>
              <a:t>he warnings that U.S. police officers are required to give to suspects before custodial interrogation (they have to do that!)</a:t>
            </a:r>
          </a:p>
          <a:p>
            <a:pPr lvl="1">
              <a:lnSpc>
                <a:spcPct val="100000"/>
              </a:lnSpc>
            </a:pPr>
            <a:endParaRPr kumimoji="1" lang="en-US" altLang="zh-CN" sz="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Exclusionary rule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: </a:t>
            </a:r>
            <a:r>
              <a:rPr lang="en-US" altLang="zh-CN" sz="1800" dirty="0">
                <a:latin typeface="Century Gothic" panose="020B0502020202020204" pitchFamily="34" charset="0"/>
              </a:rPr>
              <a:t>evidence obtained in an illegal search and seizure cannot be used in trial.</a:t>
            </a:r>
          </a:p>
          <a:p>
            <a:pPr lvl="1">
              <a:lnSpc>
                <a:spcPct val="100000"/>
              </a:lnSpc>
            </a:pPr>
            <a:endParaRPr kumimoji="1" lang="en-US" altLang="zh-CN" sz="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Good faith exception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: However, </a:t>
            </a:r>
            <a:r>
              <a:rPr lang="en-US" altLang="zh-CN" sz="1800" dirty="0">
                <a:latin typeface="Century Gothic" panose="020B0502020202020204" pitchFamily="34" charset="0"/>
              </a:rPr>
              <a:t>If police officers obtained the evidence </a:t>
            </a:r>
            <a:r>
              <a:rPr lang="en-US" altLang="zh-CN" sz="1800" b="1" dirty="0">
                <a:latin typeface="Century Gothic" panose="020B0502020202020204" pitchFamily="34" charset="0"/>
              </a:rPr>
              <a:t>while acting in reasonable reliance on a search warrant or law they believed to be valid</a:t>
            </a:r>
            <a:r>
              <a:rPr lang="en-US" altLang="zh-CN" sz="1800" dirty="0">
                <a:latin typeface="Century Gothic" panose="020B0502020202020204" pitchFamily="34" charset="0"/>
              </a:rPr>
              <a:t>, the evidence may still be admitted, even if the warrant or law is later found unconstitutional or invalid.</a:t>
            </a:r>
            <a:endParaRPr kumimoji="1" lang="en-US" altLang="zh-CN" sz="18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78716DB-DA52-B186-3FEC-3B9621EF822A}"/>
              </a:ext>
            </a:extLst>
          </p:cNvPr>
          <p:cNvSpPr txBox="1">
            <a:spLocks/>
          </p:cNvSpPr>
          <p:nvPr/>
        </p:nvSpPr>
        <p:spPr>
          <a:xfrm>
            <a:off x="54825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The Rights of the Accused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5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F266-461F-DFC0-F19B-F4DD64CD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B36D4-3E60-4CD4-ECC1-CDF30640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14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Midterm 1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0DFA93-F961-8DB9-6735-5EC134B68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814" y="1538214"/>
            <a:ext cx="11231880" cy="473223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Location: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Normal Lecture Hall</a:t>
            </a:r>
          </a:p>
          <a:p>
            <a:pPr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Time: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Monday 1:50-2:40 (50 minutes, class time)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p"/>
            </a:pPr>
            <a:r>
              <a:rPr kumimoji="1" lang="en-US" altLang="zh-CN" sz="1600" dirty="0">
                <a:latin typeface="Century Gothic" panose="020B0502020202020204" pitchFamily="34" charset="0"/>
              </a:rPr>
              <a:t>If anyone needs A&amp;T (DRC) accommodations, please contact them to make arrangements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p"/>
            </a:pPr>
            <a:r>
              <a:rPr kumimoji="1" lang="en-US" altLang="zh-CN" sz="1600" dirty="0">
                <a:latin typeface="Century Gothic" panose="020B0502020202020204" pitchFamily="34" charset="0"/>
              </a:rPr>
              <a:t>If they need approval from instructors, please contact Dr. Nicholson, since he is responsible for this class.</a:t>
            </a:r>
          </a:p>
          <a:p>
            <a:pPr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Layout: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Multiple choices (25-30) [Scantron 882-E] &amp; Short-answer questions (choose 4-5) [Bluebook]</a:t>
            </a:r>
          </a:p>
          <a:p>
            <a:pPr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Remember: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This is a CLOSED BOOK exam! Pay attention to integrity requirements!</a:t>
            </a:r>
          </a:p>
          <a:p>
            <a:pPr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How: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Buy bluebooks, scantrons, #2 pencils at the bookstore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p"/>
            </a:pPr>
            <a:r>
              <a:rPr kumimoji="1" lang="en-US" altLang="zh-CN" sz="1600" dirty="0">
                <a:latin typeface="Century Gothic" panose="020B0502020202020204" pitchFamily="34" charset="0"/>
              </a:rPr>
              <a:t>A new bluebook and scantron for each exam is required.</a:t>
            </a:r>
          </a:p>
          <a:p>
            <a:pPr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What: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Political values – Civil liberties, all we have learned (See Review Sheet on </a:t>
            </a:r>
            <a:r>
              <a:rPr kumimoji="1" lang="en-US" altLang="zh-CN" sz="1800" dirty="0" err="1">
                <a:latin typeface="Century Gothic" panose="020B0502020202020204" pitchFamily="34" charset="0"/>
              </a:rPr>
              <a:t>eLC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Suggestions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p"/>
            </a:pPr>
            <a:r>
              <a:rPr kumimoji="1" lang="en-US" altLang="zh-CN" sz="1600" dirty="0">
                <a:latin typeface="Century Gothic" panose="020B0502020202020204" pitchFamily="34" charset="0"/>
              </a:rPr>
              <a:t>Buy your materials earlier so no rush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p"/>
            </a:pPr>
            <a:r>
              <a:rPr kumimoji="1" lang="en-US" altLang="zh-CN" sz="1600" dirty="0">
                <a:latin typeface="Century Gothic" panose="020B0502020202020204" pitchFamily="34" charset="0"/>
              </a:rPr>
              <a:t>Arrive early, settle your stuff, and calm your mind!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p"/>
            </a:pPr>
            <a:r>
              <a:rPr kumimoji="1" lang="en-US" altLang="zh-CN" sz="1600" dirty="0">
                <a:latin typeface="Century Gothic" panose="020B0502020202020204" pitchFamily="34" charset="0"/>
              </a:rPr>
              <a:t>Remember my name, since you will need to place them in a pile for me to grade.</a:t>
            </a:r>
          </a:p>
        </p:txBody>
      </p:sp>
    </p:spTree>
    <p:extLst>
      <p:ext uri="{BB962C8B-B14F-4D97-AF65-F5344CB8AC3E}">
        <p14:creationId xmlns:p14="http://schemas.microsoft.com/office/powerpoint/2010/main" val="507422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BD609-8535-2B26-7B06-419D4356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3FBD6-8B29-3BD6-A33F-9DB758776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Midterm 1 Review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2802DE-79F9-89A9-ED4A-4A864777F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577"/>
            <a:ext cx="10515600" cy="473223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1" lang="en-US" altLang="zh-CN" b="1" dirty="0">
                <a:solidFill>
                  <a:srgbClr val="FF0000"/>
                </a:solidFill>
                <a:latin typeface="Century Gothic" panose="020B0502020202020204" pitchFamily="34" charset="0"/>
              </a:rPr>
              <a:t>Review Sheet on </a:t>
            </a:r>
            <a:r>
              <a:rPr kumimoji="1" lang="en-US" altLang="zh-CN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eLC</a:t>
            </a:r>
            <a:endParaRPr kumimoji="1" lang="en-US" altLang="zh-CN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Combine it with </a:t>
            </a:r>
            <a:r>
              <a:rPr kumimoji="1" lang="en-US" altLang="zh-CN" b="1" dirty="0">
                <a:latin typeface="Century Gothic" panose="020B0502020202020204" pitchFamily="34" charset="0"/>
              </a:rPr>
              <a:t>lecture slides</a:t>
            </a:r>
            <a:r>
              <a:rPr kumimoji="1" lang="en-US" altLang="zh-CN" dirty="0">
                <a:latin typeface="Century Gothic" panose="020B0502020202020204" pitchFamily="34" charset="0"/>
              </a:rPr>
              <a:t>, as well as breakout session slides (if you find it helpful to understand basic concepts &amp; theories)</a:t>
            </a:r>
          </a:p>
          <a:p>
            <a:pPr lvl="1">
              <a:lnSpc>
                <a:spcPct val="100000"/>
              </a:lnSpc>
            </a:pPr>
            <a:endParaRPr kumimoji="1" lang="en-US" altLang="zh-CN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b="1" dirty="0">
                <a:latin typeface="Century Gothic" panose="020B0502020202020204" pitchFamily="34" charset="0"/>
              </a:rPr>
              <a:t>Thanks to our Lead TA, Mckinley Frees!</a:t>
            </a:r>
          </a:p>
          <a:p>
            <a:pPr lvl="1">
              <a:lnSpc>
                <a:spcPct val="100000"/>
              </a:lnSpc>
            </a:pPr>
            <a:r>
              <a:rPr kumimoji="1" lang="en-US" altLang="zh-CN" b="1" dirty="0">
                <a:latin typeface="Century Gothic" panose="020B0502020202020204" pitchFamily="34" charset="0"/>
              </a:rPr>
              <a:t>Key items review</a:t>
            </a:r>
            <a:r>
              <a:rPr kumimoji="1" lang="en-US" altLang="zh-CN" dirty="0">
                <a:latin typeface="Century Gothic" panose="020B0502020202020204" pitchFamily="34" charset="0"/>
              </a:rPr>
              <a:t>: </a:t>
            </a:r>
            <a:r>
              <a:rPr kumimoji="1" lang="en-US" altLang="zh-CN" dirty="0">
                <a:latin typeface="Century Gothic" panose="020B0502020202020204" pitchFamily="34" charset="0"/>
                <a:hlinkClick r:id="rId2"/>
              </a:rPr>
              <a:t>https://quizlet.com/941685878/key-terms-in-political-science-flash-cards/?i=61humc&amp;x=1jqt</a:t>
            </a:r>
            <a:endParaRPr kumimoji="1" lang="en-US" altLang="zh-CN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1" lang="en-US" altLang="zh-CN" b="1" dirty="0">
                <a:latin typeface="Century Gothic" panose="020B0502020202020204" pitchFamily="34" charset="0"/>
              </a:rPr>
              <a:t>Study guide</a:t>
            </a:r>
            <a:r>
              <a:rPr kumimoji="1" lang="en-US" altLang="zh-CN" dirty="0">
                <a:latin typeface="Century Gothic" panose="020B0502020202020204" pitchFamily="34" charset="0"/>
              </a:rPr>
              <a:t>: </a:t>
            </a:r>
            <a:r>
              <a:rPr kumimoji="1" lang="en-US" altLang="zh-CN" dirty="0">
                <a:latin typeface="Century Gothic" panose="020B0502020202020204" pitchFamily="34" charset="0"/>
                <a:hlinkClick r:id="rId3"/>
              </a:rPr>
              <a:t>https://quizlet.com/study-guides/key-terms-in-political-science-d2f0198b-e0ea-489b-8865-618807e199dd?i=61humc&amp;x=13qt</a:t>
            </a:r>
            <a:endParaRPr kumimoji="1" lang="en-US" altLang="zh-CN" dirty="0">
              <a:latin typeface="Century Gothic" panose="020B0502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276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0A489-45A0-912D-E6AB-1B2F7198D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95278C-7E5D-EC30-DE85-91B001B59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Next week…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25DA2-0625-AC09-BA09-6FCE7AB8C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577"/>
            <a:ext cx="10515600" cy="473223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4000" b="1" dirty="0">
                <a:latin typeface="Century Gothic" panose="020B0502020202020204" pitchFamily="34" charset="0"/>
              </a:rPr>
              <a:t>Good luck in your Mid-term 1!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2000" dirty="0">
                <a:latin typeface="Century Gothic" panose="020B0502020202020204" pitchFamily="34" charset="0"/>
              </a:rPr>
              <a:t>And, read about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Civil Rights 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after the exam (if you’d like </a:t>
            </a:r>
            <a:r>
              <a:rPr kumimoji="1" lang="en-US" altLang="zh-CN" sz="2000" dirty="0">
                <a:latin typeface="Century Gothic" panose="020B0502020202020204" pitchFamily="34" charset="0"/>
                <a:sym typeface="Wingdings" pitchFamily="2" charset="2"/>
              </a:rPr>
              <a:t>)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endParaRPr kumimoji="1" lang="en-US" altLang="zh-CN" dirty="0">
              <a:latin typeface="Century Gothic" panose="020B0502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kumimoji="1" lang="en-US" altLang="zh-CN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Feel free to email me if you have any questions!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ENJOY YOUR WEEKEND!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Don’t</a:t>
            </a:r>
            <a:r>
              <a:rPr kumimoji="1" lang="zh-CN" altLang="en-US" dirty="0">
                <a:latin typeface="Century Gothic" panose="020B0502020202020204" pitchFamily="34" charset="0"/>
              </a:rPr>
              <a:t> </a:t>
            </a:r>
            <a:r>
              <a:rPr kumimoji="1" lang="en-US" altLang="zh-CN" dirty="0">
                <a:latin typeface="Century Gothic" panose="020B0502020202020204" pitchFamily="34" charset="0"/>
              </a:rPr>
              <a:t>forget to prepare for Monday’s exam!</a:t>
            </a:r>
          </a:p>
        </p:txBody>
      </p:sp>
    </p:spTree>
    <p:extLst>
      <p:ext uri="{BB962C8B-B14F-4D97-AF65-F5344CB8AC3E}">
        <p14:creationId xmlns:p14="http://schemas.microsoft.com/office/powerpoint/2010/main" val="931850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5283</TotalTime>
  <Words>1433</Words>
  <Application>Microsoft Macintosh PowerPoint</Application>
  <PresentationFormat>宽屏</PresentationFormat>
  <Paragraphs>142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Arial</vt:lpstr>
      <vt:lpstr>Century Gothic</vt:lpstr>
      <vt:lpstr>Wingdings</vt:lpstr>
      <vt:lpstr>Office 主题​​</vt:lpstr>
      <vt:lpstr>5. Civil Liberties  &amp; Mid-term 1 Review</vt:lpstr>
      <vt:lpstr>Review</vt:lpstr>
      <vt:lpstr>Freedom of Expression</vt:lpstr>
      <vt:lpstr>Freedom of Expression (cont`d)</vt:lpstr>
      <vt:lpstr>PowerPoint 演示文稿</vt:lpstr>
      <vt:lpstr>PowerPoint 演示文稿</vt:lpstr>
      <vt:lpstr>PowerPoint 演示文稿</vt:lpstr>
      <vt:lpstr>Midterm 1</vt:lpstr>
      <vt:lpstr>Midterm 1 Review</vt:lpstr>
      <vt:lpstr>Next week…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Zhao</dc:creator>
  <cp:lastModifiedBy>sy Zhao</cp:lastModifiedBy>
  <cp:revision>73</cp:revision>
  <dcterms:created xsi:type="dcterms:W3CDTF">2025-08-13T18:40:43Z</dcterms:created>
  <dcterms:modified xsi:type="dcterms:W3CDTF">2025-09-12T03:13:53Z</dcterms:modified>
</cp:coreProperties>
</file>