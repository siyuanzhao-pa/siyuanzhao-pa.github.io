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57" r:id="rId4"/>
    <p:sldId id="273" r:id="rId5"/>
    <p:sldId id="272" r:id="rId6"/>
    <p:sldId id="269" r:id="rId7"/>
    <p:sldId id="270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/>
    <p:restoredTop sz="83605"/>
  </p:normalViewPr>
  <p:slideViewPr>
    <p:cSldViewPr snapToGrid="0">
      <p:cViewPr varScale="1">
        <p:scale>
          <a:sx n="103" d="100"/>
          <a:sy n="103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087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Ma</a:t>
            </a:r>
            <a:r>
              <a:rPr kumimoji="1" lang="zh-CN" altLang="en-US" sz="1600" dirty="0"/>
              <a:t>：</a:t>
            </a:r>
            <a:r>
              <a:rPr kumimoji="1" lang="en-US" altLang="zh-CN" sz="1600" dirty="0"/>
              <a:t>nark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A2B2-99F4-8434-4043-90F0045D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F74401-6074-DFA7-3822-B784E477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81339-2B7E-6BEB-C024-61DAE1D07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bloodshed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C5F41-02AA-0710-0856-F0FD4FBF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998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Separation of powers + Checks and balances + Supremacy clause</a:t>
            </a:r>
          </a:p>
          <a:p>
            <a:r>
              <a:rPr kumimoji="1" lang="en-US" altLang="zh-CN" dirty="0"/>
              <a:t>Distribution of authorities under one framework, or across frameworks -&gt; no checks!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 veto powers!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258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143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2025/8/29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439425"/>
          </a:xfrm>
        </p:spPr>
        <p:txBody>
          <a:bodyPr>
            <a:normAutofit fontScale="90000"/>
          </a:bodyPr>
          <a:lstStyle/>
          <a:p>
            <a:r>
              <a:rPr kumimoji="1" lang="en-US" altLang="zh-CN" sz="5400" b="1" dirty="0">
                <a:latin typeface="Century Gothic" panose="020B0502020202020204" pitchFamily="34" charset="0"/>
              </a:rPr>
              <a:t>3. Constitutional Foundations</a:t>
            </a:r>
            <a:endParaRPr kumimoji="1" lang="zh-CN" altLang="en-US" sz="54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FDFA0-E308-F5F0-97D5-2F770A27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5019D-1247-5AE6-9513-F9D8229F8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Review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6DE02-46C9-7A4F-3619-1732F216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55"/>
            <a:ext cx="10515600" cy="4899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400" dirty="0">
                <a:latin typeface="Century Gothic" panose="020B0502020202020204" pitchFamily="34" charset="0"/>
              </a:rPr>
              <a:t>The History of the Constitution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200" dirty="0">
                <a:latin typeface="Century Gothic" panose="020B0502020202020204" pitchFamily="34" charset="0"/>
              </a:rPr>
              <a:t>Declaration of Independence (1776), </a:t>
            </a:r>
            <a:r>
              <a:rPr lang="en-US" altLang="zh-CN" sz="2200" dirty="0">
                <a:latin typeface="Century Gothic" panose="020B0502020202020204" pitchFamily="34" charset="0"/>
              </a:rPr>
              <a:t>Articles of Confederation (1777)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From Confederation to Constitution: Why? How?</a:t>
            </a: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Century Gothic" panose="020B0502020202020204" pitchFamily="34" charset="0"/>
              </a:rPr>
              <a:t>Fundamentals of the Constitution</a:t>
            </a:r>
          </a:p>
          <a:p>
            <a:pPr lvl="1"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Four basic principles</a:t>
            </a:r>
            <a:r>
              <a:rPr lang="en-US" altLang="zh-CN" sz="2200" dirty="0">
                <a:latin typeface="Century Gothic" panose="020B0502020202020204" pitchFamily="34" charset="0"/>
              </a:rPr>
              <a:t>: </a:t>
            </a:r>
            <a:r>
              <a:rPr lang="en-US" altLang="zh-CN" sz="2200" b="1" dirty="0">
                <a:latin typeface="Century Gothic" panose="020B0502020202020204" pitchFamily="34" charset="0"/>
              </a:rPr>
              <a:t>republicanism, federalism, separation of powers, checks and balances</a:t>
            </a:r>
          </a:p>
          <a:p>
            <a:pPr lvl="1"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Content</a:t>
            </a:r>
            <a:r>
              <a:rPr lang="en-US" altLang="zh-CN" sz="2200" dirty="0">
                <a:latin typeface="Century Gothic" panose="020B0502020202020204" pitchFamily="34" charset="0"/>
              </a:rPr>
              <a:t>: Specific articles (legislative, executive, judicial, …)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Development: Federalist papers, the Bill of Rights, …</a:t>
            </a:r>
          </a:p>
          <a:p>
            <a:pPr lvl="1"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Change</a:t>
            </a:r>
            <a:r>
              <a:rPr lang="en-US" altLang="zh-CN" sz="2200" dirty="0">
                <a:latin typeface="Century Gothic" panose="020B0502020202020204" pitchFamily="34" charset="0"/>
              </a:rPr>
              <a:t>: Amendment process, judicial power, political practice 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Evaluation: Perspectives from freedom, order, and equality; Perspectives from democracy</a:t>
            </a: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6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107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Declaration of Independence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1061032" cy="53167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We hold these truths to be self-evident, that </a:t>
            </a:r>
            <a:r>
              <a:rPr lang="en-US" altLang="zh-CN" sz="2200" b="1" dirty="0">
                <a:latin typeface="Century Gothic" panose="020B0502020202020204" pitchFamily="34" charset="0"/>
              </a:rPr>
              <a:t>all men are created equal</a:t>
            </a:r>
            <a:r>
              <a:rPr lang="en-US" altLang="zh-CN" sz="2200" dirty="0">
                <a:latin typeface="Century Gothic" panose="020B0502020202020204" pitchFamily="34" charset="0"/>
              </a:rPr>
              <a:t>, that they are endowed by their Creator with </a:t>
            </a:r>
            <a:r>
              <a:rPr lang="en-US" altLang="zh-CN" sz="2200" b="1" dirty="0">
                <a:latin typeface="Century Gothic" panose="020B0502020202020204" pitchFamily="34" charset="0"/>
              </a:rPr>
              <a:t>certain unalienable Rights</a:t>
            </a:r>
            <a:r>
              <a:rPr lang="en-US" altLang="zh-CN" sz="2200" dirty="0">
                <a:latin typeface="Century Gothic" panose="020B0502020202020204" pitchFamily="34" charset="0"/>
              </a:rPr>
              <a:t>, that among these are </a:t>
            </a:r>
            <a:r>
              <a:rPr lang="en-US" altLang="zh-CN" sz="2200" b="1" dirty="0">
                <a:latin typeface="Century Gothic" panose="020B0502020202020204" pitchFamily="34" charset="0"/>
              </a:rPr>
              <a:t>Life, Liberty and the pursuit of Happiness</a:t>
            </a:r>
            <a:r>
              <a:rPr lang="en-US" altLang="zh-CN" sz="22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No prerequisites for freedom!</a:t>
            </a:r>
            <a:r>
              <a:rPr lang="zh-CN" altLang="en-US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b="1" dirty="0">
                <a:latin typeface="Century Gothic" panose="020B0502020202020204" pitchFamily="34" charset="0"/>
              </a:rPr>
              <a:t>–Why?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ENLIGHTENMENT Philosophy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1800" dirty="0">
                <a:latin typeface="Constantia" panose="02030602050306030303" pitchFamily="18" charset="0"/>
              </a:rPr>
              <a:t>John Locke, </a:t>
            </a:r>
            <a:r>
              <a:rPr lang="en-US" altLang="zh-CN" sz="1800" i="1" dirty="0">
                <a:latin typeface="Constantia" panose="02030602050306030303" pitchFamily="18" charset="0"/>
              </a:rPr>
              <a:t>Treatise of Government</a:t>
            </a:r>
            <a:r>
              <a:rPr lang="en-US" altLang="zh-CN" sz="1800" dirty="0">
                <a:latin typeface="Constantia" panose="02030602050306030303" pitchFamily="18" charset="0"/>
              </a:rPr>
              <a:t> (1690): human beings possess </a:t>
            </a:r>
            <a:r>
              <a:rPr lang="en-US" altLang="zh-CN" sz="1800" b="1" dirty="0">
                <a:latin typeface="Constantia" panose="02030602050306030303" pitchFamily="18" charset="0"/>
              </a:rPr>
              <a:t>natural rights</a:t>
            </a:r>
            <a:r>
              <a:rPr lang="en-US" altLang="zh-CN" sz="1800" dirty="0">
                <a:latin typeface="Constantia" panose="02030602050306030303" pitchFamily="18" charset="0"/>
              </a:rPr>
              <a:t> to life, liberty, and property, which exist prior to and independent of government. 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History: English Constitutional Tradition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Constantia" panose="02030602050306030303" pitchFamily="18" charset="0"/>
              </a:rPr>
              <a:t>Magna Carta (1215)</a:t>
            </a:r>
            <a:r>
              <a:rPr lang="en-US" altLang="zh-CN" sz="1800" dirty="0">
                <a:latin typeface="Constantia" panose="02030602050306030303" pitchFamily="18" charset="0"/>
              </a:rPr>
              <a:t> and the </a:t>
            </a:r>
            <a:r>
              <a:rPr lang="en-US" altLang="zh-CN" sz="1800" b="1" dirty="0">
                <a:latin typeface="Constantia" panose="02030602050306030303" pitchFamily="18" charset="0"/>
              </a:rPr>
              <a:t>English Bill of Rights (1689)</a:t>
            </a:r>
            <a:r>
              <a:rPr lang="en-US" altLang="zh-CN" sz="1800" dirty="0">
                <a:latin typeface="Constantia" panose="02030602050306030303" pitchFamily="18" charset="0"/>
              </a:rPr>
              <a:t>, both of which limited the powers of rulers and affirmed certain rights of subjects – Consider: Britain’s reaction to America’s independence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History: Beliefs deeply rooted in Colonial Americans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1800" dirty="0">
                <a:latin typeface="Constantia" panose="02030602050306030303" pitchFamily="18" charset="0"/>
              </a:rPr>
              <a:t>American colonists had long practiced forms of </a:t>
            </a:r>
            <a:r>
              <a:rPr lang="en-US" altLang="zh-CN" sz="1800" b="1" dirty="0">
                <a:latin typeface="Constantia" panose="02030602050306030303" pitchFamily="18" charset="0"/>
              </a:rPr>
              <a:t>self-government</a:t>
            </a:r>
            <a:r>
              <a:rPr lang="en-US" altLang="zh-CN" sz="1800" dirty="0">
                <a:latin typeface="Constantia" panose="02030602050306030303" pitchFamily="18" charset="0"/>
              </a:rPr>
              <a:t> in local assemblies (after all, they came here for opportunities!). – So “natural rights” are really “natural”!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Reality: Call for a revolution!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1800" dirty="0">
                <a:latin typeface="Constantia" panose="02030602050306030303" pitchFamily="18" charset="0"/>
              </a:rPr>
              <a:t>What Jefferson and his colleagues did was to </a:t>
            </a:r>
            <a:r>
              <a:rPr lang="en-US" altLang="zh-CN" sz="1800" b="1" dirty="0">
                <a:latin typeface="Constantia" panose="02030602050306030303" pitchFamily="18" charset="0"/>
              </a:rPr>
              <a:t>universalize</a:t>
            </a:r>
            <a:r>
              <a:rPr lang="en-US" altLang="zh-CN" sz="1800" dirty="0">
                <a:latin typeface="Constantia" panose="02030602050306030303" pitchFamily="18" charset="0"/>
              </a:rPr>
              <a:t> ideas in traditions as </a:t>
            </a:r>
            <a:r>
              <a:rPr lang="en-US" altLang="zh-CN" sz="1800" b="1" dirty="0">
                <a:latin typeface="Constantia" panose="02030602050306030303" pitchFamily="18" charset="0"/>
              </a:rPr>
              <a:t>self-evident truths</a:t>
            </a:r>
            <a:r>
              <a:rPr lang="en-US" altLang="zh-CN" sz="1800" dirty="0">
                <a:latin typeface="Constantia" panose="02030602050306030303" pitchFamily="18" charset="0"/>
              </a:rPr>
              <a:t>, which gave the American Revolution a moral foundation.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000" b="1" i="1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Declaration of Independence (cont`d)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53167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--That to secure these rights, Governments are instituted among Men, </a:t>
            </a:r>
            <a:r>
              <a:rPr lang="en-US" altLang="zh-CN" sz="2200" b="1" dirty="0">
                <a:latin typeface="Century Gothic" panose="020B0502020202020204" pitchFamily="34" charset="0"/>
              </a:rPr>
              <a:t>deriving their just powers from the consent of the governed</a:t>
            </a:r>
            <a:r>
              <a:rPr lang="en-US" altLang="zh-CN" sz="2200" dirty="0">
                <a:latin typeface="Century Gothic" panose="020B0502020202020204" pitchFamily="34" charset="0"/>
              </a:rPr>
              <a:t>, --That whenever any Form of Government becomes destructive of these ends, it is </a:t>
            </a:r>
            <a:r>
              <a:rPr lang="en-US" altLang="zh-CN" sz="2200" b="1" dirty="0">
                <a:latin typeface="Century Gothic" panose="020B0502020202020204" pitchFamily="34" charset="0"/>
              </a:rPr>
              <a:t>the Right of the People </a:t>
            </a:r>
            <a:r>
              <a:rPr lang="en-US" altLang="zh-CN" sz="2200" dirty="0">
                <a:latin typeface="Century Gothic" panose="020B0502020202020204" pitchFamily="34" charset="0"/>
              </a:rPr>
              <a:t>to alter or to abolish it, and to institute new Government,…. </a:t>
            </a:r>
          </a:p>
          <a:p>
            <a:pPr lvl="1">
              <a:lnSpc>
                <a:spcPct val="100000"/>
              </a:lnSpc>
            </a:pPr>
            <a:r>
              <a:rPr lang="en-US" altLang="zh-CN" sz="21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Jean-Jacques Rousseau, </a:t>
            </a:r>
            <a:r>
              <a:rPr lang="en-US" altLang="zh-CN" sz="21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The Social Contract</a:t>
            </a:r>
          </a:p>
          <a:p>
            <a:pPr lvl="2"/>
            <a:r>
              <a:rPr lang="en-US" altLang="zh-CN" sz="1900" b="1" dirty="0">
                <a:solidFill>
                  <a:srgbClr val="FF0000"/>
                </a:solidFill>
                <a:latin typeface="Constantia" panose="02030602050306030303" pitchFamily="18" charset="0"/>
              </a:rPr>
              <a:t>The Social Contract</a:t>
            </a:r>
            <a:r>
              <a:rPr lang="en-US" altLang="zh-CN" sz="1900" dirty="0">
                <a:latin typeface="Constantia" panose="02030602050306030303" pitchFamily="18" charset="0"/>
              </a:rPr>
              <a:t>: Legitimate political authority comes not from monarchs or tradition, but from an agreement among the people.</a:t>
            </a:r>
          </a:p>
          <a:p>
            <a:pPr lvl="2"/>
            <a:r>
              <a:rPr lang="en-US" altLang="zh-CN" sz="1900" b="1" dirty="0">
                <a:solidFill>
                  <a:srgbClr val="FF0000"/>
                </a:solidFill>
                <a:latin typeface="Constantia" panose="02030602050306030303" pitchFamily="18" charset="0"/>
              </a:rPr>
              <a:t>Popular Sovereignty</a:t>
            </a:r>
            <a:r>
              <a:rPr lang="en-US" altLang="zh-CN" sz="1900" dirty="0">
                <a:latin typeface="Constantia" panose="02030602050306030303" pitchFamily="18" charset="0"/>
              </a:rPr>
              <a:t>: Sovereignty rests with the people as a whole, and governments are merely executors of the people’s will.</a:t>
            </a:r>
          </a:p>
          <a:p>
            <a:pPr lvl="2"/>
            <a:r>
              <a:rPr lang="en-US" altLang="zh-CN" sz="1900" b="1" dirty="0">
                <a:solidFill>
                  <a:srgbClr val="FF0000"/>
                </a:solidFill>
                <a:latin typeface="Constantia" panose="02030602050306030303" pitchFamily="18" charset="0"/>
              </a:rPr>
              <a:t>The General Will</a:t>
            </a:r>
            <a:r>
              <a:rPr lang="en-US" altLang="zh-CN" sz="1900" dirty="0">
                <a:solidFill>
                  <a:srgbClr val="FF0000"/>
                </a:solidFill>
                <a:latin typeface="Constantia" panose="02030602050306030303" pitchFamily="18" charset="0"/>
              </a:rPr>
              <a:t>: </a:t>
            </a:r>
            <a:r>
              <a:rPr lang="en-US" altLang="zh-CN" sz="1900" dirty="0">
                <a:latin typeface="Constantia" panose="02030602050306030303" pitchFamily="18" charset="0"/>
              </a:rPr>
              <a:t>The collective will of the community should reflect the common good, not individual or factional interests.</a:t>
            </a:r>
          </a:p>
          <a:p>
            <a:pPr lvl="2"/>
            <a:r>
              <a:rPr lang="en-US" altLang="zh-CN" sz="1900" b="1" dirty="0">
                <a:latin typeface="Constantia" panose="02030602050306030303" pitchFamily="18" charset="0"/>
              </a:rPr>
              <a:t>Freedom and Law</a:t>
            </a:r>
            <a:r>
              <a:rPr lang="en-US" altLang="zh-CN" sz="1900" dirty="0">
                <a:latin typeface="Constantia" panose="02030602050306030303" pitchFamily="18" charset="0"/>
              </a:rPr>
              <a:t>: </a:t>
            </a:r>
            <a:r>
              <a:rPr lang="en-US" altLang="zh-CN" sz="1900" b="1" dirty="0">
                <a:solidFill>
                  <a:srgbClr val="FF0000"/>
                </a:solidFill>
                <a:latin typeface="Constantia" panose="02030602050306030303" pitchFamily="18" charset="0"/>
              </a:rPr>
              <a:t>True freedom </a:t>
            </a:r>
            <a:r>
              <a:rPr lang="en-US" altLang="zh-CN" sz="1900" dirty="0">
                <a:latin typeface="Constantia" panose="02030602050306030303" pitchFamily="18" charset="0"/>
              </a:rPr>
              <a:t>is not the absence of rules, but obedience to laws that citizens have prescribed for themselves collectively.</a:t>
            </a:r>
          </a:p>
          <a:p>
            <a:pPr lvl="3"/>
            <a:r>
              <a:rPr lang="en-US" altLang="zh-CN" dirty="0">
                <a:latin typeface="Century Gothic" panose="020B0502020202020204" pitchFamily="34" charset="0"/>
              </a:rPr>
              <a:t>Implied prerequisites of freedom? (obedience to “the general will”)</a:t>
            </a:r>
          </a:p>
          <a:p>
            <a:pPr lvl="2">
              <a:lnSpc>
                <a:spcPct val="100000"/>
              </a:lnSpc>
            </a:pPr>
            <a:endParaRPr lang="en-US" altLang="zh-CN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287D-C457-579B-A48C-6E7D3714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CACDC-29F8-55A7-6D55-60C0B2E1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Declaration of Independence (cont`d)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A1A25-C9C8-E0B0-F4A9-6937D415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7"/>
            <a:ext cx="10515600" cy="53167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Prudence, indeed, will dictate that Governments long established should not be changed for light and transient causes; and accordingly all experience hath shewn, that </a:t>
            </a:r>
            <a:r>
              <a:rPr lang="en-US" altLang="zh-CN" sz="2000" b="1" dirty="0">
                <a:latin typeface="Century Gothic" panose="020B0502020202020204" pitchFamily="34" charset="0"/>
              </a:rPr>
              <a:t>mankind are more disposed to suffer, while evils are sufferable, than to right themselves by abolishing the forms to which they are accustomed </a:t>
            </a:r>
            <a:r>
              <a:rPr lang="en-US" altLang="zh-CN" sz="2000" b="1" dirty="0">
                <a:solidFill>
                  <a:srgbClr val="FF0000"/>
                </a:solidFill>
                <a:latin typeface="Constantia" panose="02030602050306030303" pitchFamily="18" charset="0"/>
              </a:rPr>
              <a:t>(high organizational cost)</a:t>
            </a:r>
            <a:r>
              <a:rPr lang="en-US" altLang="zh-CN" sz="2000" dirty="0">
                <a:solidFill>
                  <a:srgbClr val="FF0000"/>
                </a:solidFill>
                <a:latin typeface="Constantia" panose="02030602050306030303" pitchFamily="18" charset="0"/>
              </a:rPr>
              <a:t>. </a:t>
            </a:r>
            <a:r>
              <a:rPr lang="en-US" altLang="zh-CN" sz="2000" dirty="0">
                <a:latin typeface="Century Gothic" panose="020B0502020202020204" pitchFamily="34" charset="0"/>
              </a:rPr>
              <a:t>But when a long train of abuses and usurpations, pursuing invariably the same Object evinces a design to reduce them under absolute Despotism, </a:t>
            </a:r>
            <a:r>
              <a:rPr lang="en-US" altLang="zh-CN" sz="2000" b="1" dirty="0">
                <a:latin typeface="Century Gothic" panose="020B0502020202020204" pitchFamily="34" charset="0"/>
              </a:rPr>
              <a:t>it is their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right</a:t>
            </a:r>
            <a:r>
              <a:rPr lang="en-US" altLang="zh-CN" sz="2000" b="1" dirty="0">
                <a:latin typeface="Century Gothic" panose="020B0502020202020204" pitchFamily="34" charset="0"/>
              </a:rPr>
              <a:t>, it is their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duty</a:t>
            </a:r>
            <a:r>
              <a:rPr lang="en-US" altLang="zh-CN" sz="2000" b="1" dirty="0">
                <a:latin typeface="Century Gothic" panose="020B0502020202020204" pitchFamily="34" charset="0"/>
              </a:rPr>
              <a:t>, to throw off such Government, and to provide new Guards for their future security</a:t>
            </a:r>
            <a:r>
              <a:rPr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Legitimacy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: </a:t>
            </a:r>
            <a:r>
              <a:rPr lang="en-US" altLang="zh-CN" sz="1800" dirty="0">
                <a:latin typeface="Constantia" panose="02030602050306030303" pitchFamily="18" charset="0"/>
              </a:rPr>
              <a:t>the acceptance and recognition of a political authority or government as rightful and justified by the people. When we say a government has “legitimacy”, it means that citizens believe the government has the moral and political right to rule.</a:t>
            </a:r>
          </a:p>
          <a:p>
            <a:pPr lvl="1">
              <a:lnSpc>
                <a:spcPct val="10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Freedom of + Freedom to do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Does an individual have the freedom to give up his/her freedom?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Right -&gt; duty: Individual freedom -&gt; Collective freedom (republican)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Locke -&gt; Rousseau?</a:t>
            </a:r>
          </a:p>
          <a:p>
            <a:pPr lvl="2">
              <a:lnSpc>
                <a:spcPct val="100000"/>
              </a:lnSpc>
            </a:pPr>
            <a:endParaRPr lang="en-US" altLang="zh-CN" sz="1800" dirty="0">
              <a:latin typeface="Constantia" panose="02030602050306030303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zh-CN" sz="1800" dirty="0">
              <a:latin typeface="Constantia" panose="02030602050306030303" pitchFamily="18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7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965-1EC2-75B0-A138-BE54EB2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E5495-3DAE-73D0-54C9-226B8CD9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Articles of Confederation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E3BBD-CC59-43AC-483F-5B2DB4E5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618076" cy="51200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Article II. </a:t>
            </a:r>
            <a:r>
              <a:rPr lang="en-US" altLang="zh-CN" sz="2200" dirty="0">
                <a:latin typeface="Century Gothic" panose="020B0502020202020204" pitchFamily="34" charset="0"/>
              </a:rPr>
              <a:t>Each state retains its </a:t>
            </a:r>
            <a:r>
              <a:rPr lang="en-US" altLang="zh-CN" sz="2200" b="1" dirty="0">
                <a:latin typeface="Century Gothic" panose="020B0502020202020204" pitchFamily="34" charset="0"/>
              </a:rPr>
              <a:t>sovereignty</a:t>
            </a:r>
            <a:r>
              <a:rPr lang="en-US" altLang="zh-CN" sz="2200" dirty="0">
                <a:latin typeface="Century Gothic" panose="020B0502020202020204" pitchFamily="34" charset="0"/>
              </a:rPr>
              <a:t>, freedom and independence, and </a:t>
            </a:r>
            <a:r>
              <a:rPr lang="en-US" altLang="zh-CN" sz="2200" b="1" dirty="0">
                <a:latin typeface="Century Gothic" panose="020B0502020202020204" pitchFamily="34" charset="0"/>
              </a:rPr>
              <a:t>every Power, Jurisdiction and right</a:t>
            </a:r>
            <a:r>
              <a:rPr lang="en-US" altLang="zh-CN" sz="2200" dirty="0">
                <a:latin typeface="Century Gothic" panose="020B0502020202020204" pitchFamily="34" charset="0"/>
              </a:rPr>
              <a:t>, which is not by this confederation expressly delegated to the United States, in Congress assembled</a:t>
            </a:r>
            <a:r>
              <a:rPr kumimoji="1" lang="en-US" altLang="zh-CN" sz="22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Default autonomy, Exceptional empowerment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This principle often applies to individuals.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When it is used for regulating macro political entities, what’s the problem? (Review)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A weak government, which deviates from its original purpose (order)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An unsuccessful distribution of representation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The Constitution articulated the principle of 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enumerated powers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, which means Congress can exercise only the power that the Constitution assigns to it – so Congress also gets limited empowerment.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What’s the difference here?</a:t>
            </a:r>
            <a:endParaRPr kumimoji="1" lang="en-US" altLang="zh-CN" sz="1800" b="1" dirty="0">
              <a:latin typeface="Century Gothic" panose="020B0502020202020204" pitchFamily="34" charset="0"/>
            </a:endParaRPr>
          </a:p>
          <a:p>
            <a:pPr lvl="2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Incommensurable level of analysis in social sciences, incommensurable values in political practice!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6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8F11-E91B-20AA-5453-F5EEF3FB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84913-AD23-3C6B-3CAA-E2B452A6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Constitution – It cannot cover everything!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20428F-9651-1ED8-AF2B-1EDCE5FF7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618076" cy="51200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Implied Powers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Those powers that Congress needs to execute its enumerated powers.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A kind of discretion under the Constitutional framework?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Expansion of Presidency 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100" dirty="0">
                <a:latin typeface="Century Gothic" panose="020B0502020202020204" pitchFamily="34" charset="0"/>
              </a:rPr>
              <a:t>– Why?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Personal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Institutional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100" dirty="0">
                <a:latin typeface="Century Gothic" panose="020B0502020202020204" pitchFamily="34" charset="0"/>
              </a:rPr>
              <a:t>– Is it good?</a:t>
            </a:r>
            <a:endParaRPr kumimoji="1" lang="en-US" altLang="zh-CN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Judicial Review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The power of the courts to declare congressional (and presidential) acts invalid because they violate the Constitution.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Transforming law interpreters into lawmakers </a:t>
            </a:r>
            <a:r>
              <a:rPr kumimoji="1" lang="en-US" altLang="zh-CN" sz="2000" b="1" i="1" dirty="0">
                <a:latin typeface="Century Gothic" panose="020B0502020202020204" pitchFamily="34" charset="0"/>
              </a:rPr>
              <a:t>vs.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Essential discretional power when we are faced with the modern society?</a:t>
            </a:r>
          </a:p>
        </p:txBody>
      </p:sp>
    </p:spTree>
    <p:extLst>
      <p:ext uri="{BB962C8B-B14F-4D97-AF65-F5344CB8AC3E}">
        <p14:creationId xmlns:p14="http://schemas.microsoft.com/office/powerpoint/2010/main" val="93949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351338"/>
          </a:xfrm>
        </p:spPr>
        <p:txBody>
          <a:bodyPr/>
          <a:lstStyle/>
          <a:p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lang="en-US" altLang="zh-CN" b="1" dirty="0">
                <a:latin typeface="Century Gothic" panose="020B0502020202020204" pitchFamily="34" charset="0"/>
              </a:rPr>
              <a:t>Federalism &amp; Georgia politics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  <a:p>
            <a:endParaRPr kumimoji="1" lang="zh-CN" alt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4698</TotalTime>
  <Words>999</Words>
  <Application>Microsoft Macintosh PowerPoint</Application>
  <PresentationFormat>宽屏</PresentationFormat>
  <Paragraphs>85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Arial</vt:lpstr>
      <vt:lpstr>Century Gothic</vt:lpstr>
      <vt:lpstr>Constantia</vt:lpstr>
      <vt:lpstr>Office 主题​​</vt:lpstr>
      <vt:lpstr>3. Constitutional Foundations</vt:lpstr>
      <vt:lpstr>Review</vt:lpstr>
      <vt:lpstr>Declaration of Independence</vt:lpstr>
      <vt:lpstr>Declaration of Independence (cont`d)</vt:lpstr>
      <vt:lpstr>Declaration of Independence (cont`d)</vt:lpstr>
      <vt:lpstr>Articles of Confederation</vt:lpstr>
      <vt:lpstr>The Constitution – It cannot cover everything!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41</cp:revision>
  <dcterms:created xsi:type="dcterms:W3CDTF">2025-08-13T18:40:43Z</dcterms:created>
  <dcterms:modified xsi:type="dcterms:W3CDTF">2025-08-29T15:09:29Z</dcterms:modified>
</cp:coreProperties>
</file>