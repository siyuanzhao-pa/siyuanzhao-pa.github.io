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75" r:id="rId4"/>
    <p:sldId id="273" r:id="rId5"/>
    <p:sldId id="274" r:id="rId6"/>
    <p:sldId id="272" r:id="rId7"/>
    <p:sldId id="269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24"/>
    <p:restoredTop sz="83621"/>
  </p:normalViewPr>
  <p:slideViewPr>
    <p:cSldViewPr snapToGrid="0">
      <p:cViewPr varScale="1">
        <p:scale>
          <a:sx n="118" d="100"/>
          <a:sy n="118" d="100"/>
        </p:scale>
        <p:origin x="11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FC2761-774B-F042-9BD3-0C52A688F4FB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92E27-0BA6-464B-8F92-818B943024A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9391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Today we re going to talk about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08652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6756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C2D2-BFAD-3B36-C34D-50304F6E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916811-73B5-3398-D1BB-FF95C1864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24DA2D6-A05C-18B5-5F8B-AEE437CF31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78468B-1F6C-3561-25E6-F82EF6838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30303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028DC-9620-41E7-B96A-CA01E6CFD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E0AF89-89D5-489D-07AC-4CE0A44A5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4A5A20E-CEA6-2270-1030-48B82B13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sz="1600" dirty="0"/>
              <a:t>milestone</a:t>
            </a:r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36ADAA-E146-684B-A076-081810DA21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610389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EE2E8-E750-CA7C-223D-240C4463B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3EDC6F9-C999-D0B0-5D74-F67EBD3EB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75C42D-2BBD-EFDA-CB8F-C36FC84BA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D92B43D-B4D8-E3C1-9EA1-2011F41E5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636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2A2B2-99F4-8434-4043-90F0045DF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5F74401-6074-DFA7-3822-B784E477F0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381339-2B7E-6BEB-C024-61DAE1D07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sz="16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FC5F41-02AA-0710-0856-F0FD4FBFB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19998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err="1"/>
              <a:t>ju</a:t>
            </a:r>
            <a:r>
              <a:rPr lang="en-US" altLang="zh-CN" dirty="0"/>
              <a:t>ːˈ</a:t>
            </a:r>
            <a:r>
              <a:rPr lang="en-US" altLang="zh-CN" dirty="0" err="1"/>
              <a:t>zɜːrp</a:t>
            </a:r>
            <a:r>
              <a:rPr lang="en-US" altLang="zh-CN" dirty="0"/>
              <a:t>/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B092E27-0BA6-464B-8F92-818B943024AB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0258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E9CAC4-5603-9540-4746-DF7D478F11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B3E1C22-AA04-379D-70C6-A670FBE5C3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2DF2C8-367E-2D45-DF75-FE56AEE42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AD1C0-22F7-2B75-E5B6-416C33D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D5D4F-5543-EF94-7D9E-26E2EB420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588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683152-C981-6237-7465-0F9D4C52A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0A163B-9301-5E7F-A6C9-6D50534B0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07EFE64-6FB4-1927-0FA3-40A1ED40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C80ED6-E235-BE41-6C84-57A951726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1D644E8-37BB-F946-0182-7EFE141D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8791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850F04-C3CD-2F64-01B3-3226F98B9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1D39D8-BB09-E9E1-AE46-BD0402C3C7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97D90E-E49A-C653-33E4-3399376B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CBD9D7-4579-F439-2979-C756072B3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7746B-C90D-95F8-97AA-3FFEA7681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07041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304D9-3BF5-05E6-96B1-4655A1D5D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D08483-110C-D43D-A3FD-2BB20209E4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4C839D-DA8C-28CB-E5BA-B4723E5B08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DFE45B9-76B7-AB04-8094-C8CE369E1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E34B5-B673-FBFE-4EFF-91DAE128E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9DB086-FF5A-FE0C-D4BB-2ED5948A4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940464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483DD5-6BE7-B60B-3830-1C9163723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8B3FFE-61EA-239B-F19E-01B3295484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309DF50-77E9-6A8A-B7FD-52C3A0A2AA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CBEA94-5C16-949F-958E-F32A629BA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E3CCEDE-D71C-351E-8E59-1DC6C8EEE5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AD051A4-8FC0-4958-27ED-3FD5D613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CB8DCF7-45C3-EA2A-1701-202A609F6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C826FD-6CBB-9310-BCE6-0AFD91F0D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94661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17DEE7-0D18-A3AB-6312-227BEE98C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8787988-EB72-BBF2-97A0-18FCAEDE4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DEEEE-9CED-3233-301C-D61D4952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FAB2A8-6D82-8150-1ACA-546DA505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539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5F89BB-2D98-C933-488B-E600CB065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27A268E-C4F6-B77D-1351-5DE83C0A3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EF8E4A0-1ACD-7A8E-7C68-98F88D65D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83184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FC987B-49C3-BFCA-7CA6-9ADDA1558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330DC1-52A9-D64F-9566-03B17EB21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77648F5-B097-B233-8517-D224C2405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E39B80-C04B-2C82-D564-BE82DA119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E4910C-3003-45C9-57B8-FCF2A71F5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B572AEE-EF5E-7D71-EEBA-B8379AA6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1915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A6230-C7A5-86BA-5615-904D96A6B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8371D64-943D-9794-C679-047246E73E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4449E2F-39C8-500F-46E0-0C78B0397F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EA0B88-6CC1-DD08-915A-A518D5E2F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51EC198-B676-0D20-89AE-543DC4633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C72265-ADC9-100E-D5B9-3493AC71C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653469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269B29-53BC-8508-9E8C-83082E837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C1E39E-2C6E-E37C-2D42-EA3A825182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32F3AD-94BB-4CB2-C858-7F07E36DE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B73678-DBC5-35FE-7720-4954170E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C3E6E86-AEF4-9E51-11FF-DBEEDF93F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3162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3943D8-D242-3E2F-C24F-4E005E76AE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29DC73-6886-F0DB-9DA5-9ED96CE82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2B799C-9E0E-429F-C629-2A1862666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94BFC4-5811-57DC-FF5C-4868DB2A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4A7796-940B-415F-C832-E381105EE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49128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0E35921-9950-2FB0-6355-6B06F016D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DD1B157-D31D-54B9-7D6A-F6D4AD6AC9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3F31D3-1A38-6B87-4306-66D57169E8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FA171-DF96-1B41-A089-FAB6FE9A340F}" type="datetimeFigureOut">
              <a:rPr kumimoji="1" lang="zh-CN" altLang="en-US" smtClean="0"/>
              <a:t>2025/9/18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C11102-B856-C277-A8F6-8D6AF8F93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9D88C62-D975-E146-FD0A-E318C54052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1F6A94-DD61-3B4A-BCA2-E2F8F1493E8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2235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8E6EF4-2BC6-E096-750F-ECCBB9D42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903888"/>
            <a:ext cx="9444788" cy="1439425"/>
          </a:xfrm>
        </p:spPr>
        <p:txBody>
          <a:bodyPr>
            <a:normAutofit/>
          </a:bodyPr>
          <a:lstStyle/>
          <a:p>
            <a:r>
              <a:rPr kumimoji="1" lang="en-US" altLang="zh-CN" sz="5400" b="1" dirty="0">
                <a:latin typeface="Century Gothic" panose="020B0502020202020204" pitchFamily="34" charset="0"/>
              </a:rPr>
              <a:t>6. Civil Rights</a:t>
            </a:r>
            <a:endParaRPr kumimoji="1" lang="zh-CN" altLang="en-US" sz="5400" dirty="0">
              <a:latin typeface="Century Gothic" panose="020B0502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D47D000-FF03-80F2-FC6B-25D1B58BDF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8998"/>
            <a:ext cx="9144000" cy="2982311"/>
          </a:xfrm>
        </p:spPr>
        <p:txBody>
          <a:bodyPr>
            <a:normAutofit lnSpcReduction="10000"/>
          </a:bodyPr>
          <a:lstStyle/>
          <a:p>
            <a:r>
              <a:rPr kumimoji="1" lang="en-US" altLang="zh-CN" b="1" dirty="0">
                <a:latin typeface="Century Gothic" panose="020B0502020202020204" pitchFamily="34" charset="0"/>
              </a:rPr>
              <a:t>Breakout Sessions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POLS 1101</a:t>
            </a: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12:40pm-1:30pm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Park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Hall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145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&amp;</a:t>
            </a:r>
            <a:r>
              <a:rPr kumimoji="1" lang="zh-CN" altLang="en-US" b="1" dirty="0">
                <a:latin typeface="Century Gothic" panose="020B0502020202020204" pitchFamily="34" charset="0"/>
              </a:rPr>
              <a:t> </a:t>
            </a:r>
            <a:r>
              <a:rPr kumimoji="1" lang="en-US" altLang="zh-CN" b="1" dirty="0">
                <a:latin typeface="Century Gothic" panose="020B0502020202020204" pitchFamily="34" charset="0"/>
              </a:rPr>
              <a:t>1:50pm-2:40pm Leconte Hall 135</a:t>
            </a:r>
          </a:p>
          <a:p>
            <a:endParaRPr kumimoji="1" lang="en-US" altLang="zh-CN" b="1" dirty="0">
              <a:latin typeface="Century Gothic" panose="020B0502020202020204" pitchFamily="34" charset="0"/>
            </a:endParaRPr>
          </a:p>
          <a:p>
            <a:r>
              <a:rPr kumimoji="1" lang="en-US" altLang="zh-CN" b="1" dirty="0">
                <a:latin typeface="Century Gothic" panose="020B0502020202020204" pitchFamily="34" charset="0"/>
              </a:rPr>
              <a:t>SIYUAN (Siri) ZHAO</a:t>
            </a:r>
          </a:p>
          <a:p>
            <a:r>
              <a:rPr kumimoji="1" lang="en-US" altLang="zh-CN" b="1" dirty="0" err="1">
                <a:latin typeface="Century Gothic" panose="020B0502020202020204" pitchFamily="34" charset="0"/>
              </a:rPr>
              <a:t>Siri.Zhao@uga.edu</a:t>
            </a:r>
            <a:endParaRPr kumimoji="1" lang="zh-CN" altLang="en-US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74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778BB4-4865-3E7B-0D4E-C002FE68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Mid term 1 Feedback: Short-answer Questions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27992-FA10-911D-8961-FB5AE68C2E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3818"/>
            <a:ext cx="11201400" cy="52529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Use key items as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much / accurate </a:t>
            </a:r>
            <a:r>
              <a:rPr lang="en-US" altLang="zh-CN" sz="2200" b="1" dirty="0">
                <a:latin typeface="Century Gothic" panose="020B0502020202020204" pitchFamily="34" charset="0"/>
              </a:rPr>
              <a:t>as possible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Telling stories is okay if you forget the concepts, where can get some of the points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Only when the story you tell is extremely close to the key idea of professional items can you get all the points.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onstantia" panose="02030602050306030303" pitchFamily="18" charset="0"/>
              </a:rPr>
              <a:t>e.g. </a:t>
            </a:r>
            <a:r>
              <a:rPr lang="en-US" altLang="zh-CN" sz="1800" dirty="0">
                <a:latin typeface="Century Gothic" panose="020B0502020202020204" pitchFamily="34" charset="0"/>
              </a:rPr>
              <a:t>For #1, did you emphasize how libertarianism &amp; communitarianism rank </a:t>
            </a:r>
            <a:r>
              <a:rPr lang="en-US" altLang="zh-CN" sz="1800" b="1" dirty="0">
                <a:latin typeface="Century Gothic" panose="020B0502020202020204" pitchFamily="34" charset="0"/>
              </a:rPr>
              <a:t>freedom, order, and equality</a:t>
            </a:r>
            <a:r>
              <a:rPr lang="en-US" altLang="zh-CN" sz="1800" dirty="0">
                <a:latin typeface="Century Gothic" panose="020B0502020202020204" pitchFamily="34" charset="0"/>
              </a:rPr>
              <a:t>?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Avoid too big, too general a picture in your answer -&gt;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BE SPECIFIC!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For history: </a:t>
            </a:r>
            <a:r>
              <a:rPr lang="en-US" altLang="zh-CN" sz="2000" b="1" dirty="0">
                <a:latin typeface="Century Gothic" panose="020B0502020202020204" pitchFamily="34" charset="0"/>
              </a:rPr>
              <a:t>Who</a:t>
            </a:r>
            <a:r>
              <a:rPr lang="en-US" altLang="zh-CN" sz="2000" dirty="0">
                <a:latin typeface="Century Gothic" panose="020B0502020202020204" pitchFamily="34" charset="0"/>
              </a:rPr>
              <a:t>? </a:t>
            </a:r>
            <a:r>
              <a:rPr lang="en-US" altLang="zh-CN" sz="2000" b="1" dirty="0">
                <a:latin typeface="Century Gothic" panose="020B0502020202020204" pitchFamily="34" charset="0"/>
              </a:rPr>
              <a:t>Why</a:t>
            </a:r>
            <a:r>
              <a:rPr lang="en-US" altLang="zh-CN" sz="2000" dirty="0">
                <a:latin typeface="Century Gothic" panose="020B0502020202020204" pitchFamily="34" charset="0"/>
              </a:rPr>
              <a:t> (especially its relation to </a:t>
            </a:r>
            <a:r>
              <a:rPr lang="en-US" altLang="zh-CN" sz="2000" b="1" dirty="0">
                <a:latin typeface="Century Gothic" panose="020B0502020202020204" pitchFamily="34" charset="0"/>
              </a:rPr>
              <a:t>theoretical implications</a:t>
            </a:r>
            <a:r>
              <a:rPr lang="en-US" altLang="zh-CN" sz="2000" dirty="0">
                <a:latin typeface="Century Gothic" panose="020B0502020202020204" pitchFamily="34" charset="0"/>
              </a:rPr>
              <a:t>)? </a:t>
            </a:r>
            <a:r>
              <a:rPr lang="en-US" altLang="zh-CN" sz="2000" b="1" dirty="0">
                <a:latin typeface="Century Gothic" panose="020B0502020202020204" pitchFamily="34" charset="0"/>
              </a:rPr>
              <a:t>What</a:t>
            </a:r>
            <a:r>
              <a:rPr lang="en-US" altLang="zh-CN" sz="2000" dirty="0">
                <a:latin typeface="Century Gothic" panose="020B0502020202020204" pitchFamily="34" charset="0"/>
              </a:rPr>
              <a:t>? (e.g. names of </a:t>
            </a:r>
            <a:r>
              <a:rPr lang="en-US" altLang="zh-CN" sz="2000" b="1" dirty="0">
                <a:latin typeface="Century Gothic" panose="020B0502020202020204" pitchFamily="34" charset="0"/>
              </a:rPr>
              <a:t>influential cases of the SC</a:t>
            </a:r>
            <a:r>
              <a:rPr lang="en-US" altLang="zh-CN" sz="2000" dirty="0">
                <a:latin typeface="Century Gothic" panose="020B0502020202020204" pitchFamily="34" charset="0"/>
              </a:rPr>
              <a:t>)   </a:t>
            </a:r>
            <a:r>
              <a:rPr lang="en-US" altLang="zh-CN" sz="2000" b="1" dirty="0">
                <a:latin typeface="Century Gothic" panose="020B0502020202020204" pitchFamily="34" charset="0"/>
              </a:rPr>
              <a:t>How</a:t>
            </a:r>
            <a:r>
              <a:rPr lang="en-US" altLang="zh-CN" sz="2000" dirty="0">
                <a:latin typeface="Century Gothic" panose="020B0502020202020204" pitchFamily="34" charset="0"/>
              </a:rPr>
              <a:t>? </a:t>
            </a:r>
            <a:r>
              <a:rPr lang="en-US" altLang="zh-CN" sz="2000" b="1" dirty="0">
                <a:latin typeface="Century Gothic" panose="020B0502020202020204" pitchFamily="34" charset="0"/>
              </a:rPr>
              <a:t>Impacts</a:t>
            </a:r>
            <a:r>
              <a:rPr lang="en-US" altLang="zh-CN" sz="2000" dirty="0">
                <a:latin typeface="Century Gothic" panose="020B0502020202020204" pitchFamily="34" charset="0"/>
              </a:rPr>
              <a:t> on later events?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For theoretical questions: </a:t>
            </a:r>
            <a:r>
              <a:rPr lang="en-US" altLang="zh-CN" sz="2000" b="1" dirty="0">
                <a:latin typeface="Century Gothic" panose="020B0502020202020204" pitchFamily="34" charset="0"/>
              </a:rPr>
              <a:t>Item</a:t>
            </a:r>
            <a:r>
              <a:rPr lang="en-US" altLang="zh-CN" sz="2000" dirty="0">
                <a:latin typeface="Century Gothic" panose="020B0502020202020204" pitchFamily="34" charset="0"/>
              </a:rPr>
              <a:t> + </a:t>
            </a:r>
            <a:r>
              <a:rPr lang="en-US" altLang="zh-CN" sz="2000" b="1" dirty="0">
                <a:latin typeface="Century Gothic" panose="020B0502020202020204" pitchFamily="34" charset="0"/>
              </a:rPr>
              <a:t>key meaning </a:t>
            </a:r>
            <a:r>
              <a:rPr lang="en-US" altLang="zh-CN" sz="2000" dirty="0">
                <a:latin typeface="Century Gothic" panose="020B0502020202020204" pitchFamily="34" charset="0"/>
              </a:rPr>
              <a:t>+ How it </a:t>
            </a:r>
            <a:r>
              <a:rPr lang="en-US" altLang="zh-CN" sz="2000" b="1" dirty="0">
                <a:latin typeface="Century Gothic" panose="020B0502020202020204" pitchFamily="34" charset="0"/>
              </a:rPr>
              <a:t>applies</a:t>
            </a:r>
            <a:r>
              <a:rPr lang="en-US" altLang="zh-CN" sz="2000" dirty="0">
                <a:latin typeface="Century Gothic" panose="020B0502020202020204" pitchFamily="34" charset="0"/>
              </a:rPr>
              <a:t> to your answer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This is also because the key to the exam given by Dr. Nicholson is in the form of </a:t>
            </a:r>
            <a:r>
              <a:rPr lang="en-US" altLang="zh-CN" sz="2000" b="1" dirty="0">
                <a:latin typeface="Century Gothic" panose="020B0502020202020204" pitchFamily="34" charset="0"/>
              </a:rPr>
              <a:t>several key points</a:t>
            </a:r>
            <a:r>
              <a:rPr lang="en-US" altLang="zh-CN" sz="2000" dirty="0">
                <a:latin typeface="Century Gothic" panose="020B0502020202020204" pitchFamily="34" charset="0"/>
              </a:rPr>
              <a:t>, so you have to cover </a:t>
            </a:r>
            <a:r>
              <a:rPr lang="en-US" altLang="zh-CN" sz="2000" b="1" dirty="0">
                <a:latin typeface="Century Gothic" panose="020B0502020202020204" pitchFamily="34" charset="0"/>
              </a:rPr>
              <a:t>each of them to get a 10/10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altLang="zh-CN" sz="2000" dirty="0">
                <a:latin typeface="Constantia" panose="02030602050306030303" pitchFamily="18" charset="0"/>
              </a:rPr>
              <a:t>Suggestion: Maybe you can make full use of your bluebook – no need to fit all the answers onto two pages. And, write the time for your </a:t>
            </a: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DISCUSSION SESSIONS </a:t>
            </a:r>
            <a:r>
              <a:rPr lang="en-US" altLang="zh-CN" sz="2000" dirty="0">
                <a:latin typeface="Constantia" panose="02030602050306030303" pitchFamily="18" charset="0"/>
              </a:rPr>
              <a:t>(not MW 1:50-2:40, but </a:t>
            </a:r>
            <a:r>
              <a:rPr lang="en-US" altLang="zh-CN" sz="2000" b="1" dirty="0">
                <a:solidFill>
                  <a:srgbClr val="FF0000"/>
                </a:solidFill>
                <a:latin typeface="Constantia" panose="02030602050306030303" pitchFamily="18" charset="0"/>
              </a:rPr>
              <a:t>F 12:40-1:30 / F 1:50-2:40</a:t>
            </a:r>
            <a:r>
              <a:rPr lang="en-US" altLang="zh-CN" sz="2000" dirty="0">
                <a:latin typeface="Constantia" panose="02030602050306030303" pitchFamily="18" charset="0"/>
              </a:rPr>
              <a:t>) on top of your bluebook next time!</a:t>
            </a: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837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9B0FF-853F-30B5-D92F-B03B3FBE4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7DBC9-E614-C5F0-B91E-1B5BCD7DD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Basic Concepts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78F014-17A5-A7B3-BC84-EFD47A642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645"/>
            <a:ext cx="11061032" cy="5818983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i="1" dirty="0">
                <a:latin typeface="Century Gothic" panose="020B0502020202020204" pitchFamily="34" charset="0"/>
              </a:rPr>
              <a:t>Equality of opportunity </a:t>
            </a:r>
            <a:r>
              <a:rPr lang="en-US" altLang="zh-CN" sz="2200" dirty="0">
                <a:latin typeface="Century Gothic" panose="020B0502020202020204" pitchFamily="34" charset="0"/>
              </a:rPr>
              <a:t>vs. </a:t>
            </a:r>
            <a:r>
              <a:rPr lang="en-US" altLang="zh-CN" sz="2200" i="1" dirty="0">
                <a:latin typeface="Century Gothic" panose="020B0502020202020204" pitchFamily="34" charset="0"/>
              </a:rPr>
              <a:t>Equality of outcome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Invidious discrimination: </a:t>
            </a:r>
            <a:r>
              <a:rPr lang="en-US" altLang="zh-CN" sz="2200" dirty="0">
                <a:latin typeface="Century Gothic" panose="020B0502020202020204" pitchFamily="34" charset="0"/>
              </a:rPr>
              <a:t>Discrimination based on animosity, working to harm.</a:t>
            </a:r>
            <a:br>
              <a:rPr lang="en-US" altLang="zh-CN" sz="2200" dirty="0">
                <a:latin typeface="Century Gothic" panose="020B0502020202020204" pitchFamily="34" charset="0"/>
              </a:rPr>
            </a:br>
            <a:r>
              <a:rPr lang="en-US" altLang="zh-CN" sz="2200" b="1" dirty="0">
                <a:latin typeface="Century Gothic" panose="020B0502020202020204" pitchFamily="34" charset="0"/>
              </a:rPr>
              <a:t>Benign discrimination</a:t>
            </a:r>
            <a:r>
              <a:rPr lang="en-US" altLang="zh-CN" sz="2200" dirty="0">
                <a:latin typeface="Century Gothic" panose="020B0502020202020204" pitchFamily="34" charset="0"/>
              </a:rPr>
              <a:t>: Discrimination grounded in reason, causing no harm.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Systemic racism</a:t>
            </a:r>
            <a:r>
              <a:rPr lang="en-US" altLang="zh-CN" sz="2000" dirty="0">
                <a:latin typeface="Century Gothic" panose="020B0502020202020204" pitchFamily="34" charset="0"/>
              </a:rPr>
              <a:t>: Laws, policies, processes, and structures in society that create racially disparate outcomes.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Imagining a world without differences may be impossible, so we have to bear some kind of inequality. -&gt; </a:t>
            </a: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Do you agree with this idea?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sz="1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Classification: Criteria can be natural or arbitrary!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Race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Sex &amp; Gender (identity)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Native or immigrant groups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People with / without disabilities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College admission criteria…</a:t>
            </a: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029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7828F-98B4-0444-DF92-C3D4A45A1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47DF19-AE2F-E17B-5060-D172DE001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Less controversial: Equality for Black Americans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4461B-7676-BF5C-15AD-6B279E37D3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3817"/>
            <a:ext cx="10808367" cy="531675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Civil War Amendments (13</a:t>
            </a:r>
            <a:r>
              <a:rPr lang="en-US" altLang="zh-CN" sz="2200" b="1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200" b="1" dirty="0">
                <a:latin typeface="Century Gothic" panose="020B0502020202020204" pitchFamily="34" charset="0"/>
              </a:rPr>
              <a:t> – 15</a:t>
            </a:r>
            <a:r>
              <a:rPr lang="en-US" altLang="zh-CN" sz="2200" b="1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200" b="1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Even after that, the Constitutional rights of African-Americans are not sufficiently protected (only better than before)</a:t>
            </a: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entury Gothic" panose="020B0502020202020204" pitchFamily="34" charset="0"/>
              </a:rPr>
              <a:t>Examples: Black Codes, Jim Crow Laws, poll tax (tax on voting citizens)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Separate but equal doctrine</a:t>
            </a:r>
            <a:r>
              <a:rPr lang="en-US" altLang="zh-CN" sz="2000" dirty="0">
                <a:latin typeface="Century Gothic" panose="020B0502020202020204" pitchFamily="34" charset="0"/>
              </a:rPr>
              <a:t>: Plessy v. Ferguson (1896)</a:t>
            </a:r>
          </a:p>
          <a:p>
            <a:pPr>
              <a:lnSpc>
                <a:spcPct val="100000"/>
              </a:lnSpc>
            </a:pPr>
            <a:r>
              <a:rPr lang="en-US" altLang="zh-CN" sz="2200" b="1" dirty="0">
                <a:latin typeface="Century Gothic" panose="020B0502020202020204" pitchFamily="34" charset="0"/>
              </a:rPr>
              <a:t>Courtroom</a:t>
            </a:r>
            <a:r>
              <a:rPr lang="zh-CN" altLang="en-US" sz="2200" b="1" dirty="0"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latin typeface="Century Gothic" panose="020B0502020202020204" pitchFamily="34" charset="0"/>
              </a:rPr>
              <a:t>Efforts</a:t>
            </a:r>
            <a:r>
              <a:rPr lang="zh-CN" altLang="en-US" sz="2200" b="1" dirty="0"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latin typeface="Century Gothic" panose="020B0502020202020204" pitchFamily="34" charset="0"/>
              </a:rPr>
              <a:t>to Dismantle Barriers</a:t>
            </a:r>
            <a:r>
              <a:rPr lang="zh-CN" altLang="en-US" sz="2200" b="1" dirty="0">
                <a:latin typeface="Century Gothic" panose="020B0502020202020204" pitchFamily="34" charset="0"/>
              </a:rPr>
              <a:t> </a:t>
            </a:r>
            <a:r>
              <a:rPr lang="en-US" altLang="zh-CN" sz="2200" b="1" dirty="0">
                <a:latin typeface="Century Gothic" panose="020B0502020202020204" pitchFamily="34" charset="0"/>
              </a:rPr>
              <a:t>to Full Citizenship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Desegregation</a:t>
            </a:r>
            <a:r>
              <a:rPr lang="en-US" altLang="zh-CN" sz="2000" dirty="0">
                <a:latin typeface="Century Gothic" panose="020B0502020202020204" pitchFamily="34" charset="0"/>
              </a:rPr>
              <a:t>: Brown v. Board of Education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Remember: Applied </a:t>
            </a:r>
            <a:r>
              <a:rPr lang="en-US" altLang="zh-CN" sz="1800" b="1" dirty="0">
                <a:latin typeface="Century Gothic" panose="020B0502020202020204" pitchFamily="34" charset="0"/>
              </a:rPr>
              <a:t>only to De jure segregation </a:t>
            </a:r>
            <a:r>
              <a:rPr lang="en-US" altLang="zh-CN" sz="1800" dirty="0">
                <a:latin typeface="Century Gothic" panose="020B0502020202020204" pitchFamily="34" charset="0"/>
              </a:rPr>
              <a:t>(Government-imposed segregation), not to </a:t>
            </a:r>
            <a:r>
              <a:rPr lang="en-US" altLang="zh-CN" sz="1800" b="1" dirty="0">
                <a:latin typeface="Century Gothic" panose="020B0502020202020204" pitchFamily="34" charset="0"/>
              </a:rPr>
              <a:t>de facto segregation </a:t>
            </a:r>
            <a:r>
              <a:rPr lang="en-US" altLang="zh-CN" sz="1800" dirty="0">
                <a:latin typeface="Century Gothic" panose="020B0502020202020204" pitchFamily="34" charset="0"/>
              </a:rPr>
              <a:t>(segregation that is not the result of direct public policy)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Two “opposite” ideas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“Separate educational facilities are inherently unequal!”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“The way to stop discrimination on the basis of race is to stop discriminating on the basis of race.”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solidFill>
                  <a:srgbClr val="FF0000"/>
                </a:solidFill>
                <a:latin typeface="Century Gothic" panose="020B0502020202020204" pitchFamily="34" charset="0"/>
              </a:rPr>
              <a:t>Exchange your understanding of these two ideas with classmates. </a:t>
            </a:r>
          </a:p>
          <a:p>
            <a:pPr marL="914400" lvl="2" indent="0">
              <a:lnSpc>
                <a:spcPct val="100000"/>
              </a:lnSpc>
              <a:buNone/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Which do you think best applied to that era? How about today? Why?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4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7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5A65B-35DA-F3D8-9A11-DE9CFDA4E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BF7710-DC54-9115-C82C-9427A2C99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433" y="18254"/>
            <a:ext cx="10808368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Equality for Black Americans (cont`d)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7EE0F9-F7DC-BE94-7853-2D5CCD28B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433" y="1343817"/>
            <a:ext cx="11168744" cy="586252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The Civil Rights Movement (see </a:t>
            </a:r>
            <a:r>
              <a:rPr lang="en-US" altLang="zh-CN" sz="2200" b="1" dirty="0">
                <a:latin typeface="Century Gothic" panose="020B0502020202020204" pitchFamily="34" charset="0"/>
              </a:rPr>
              <a:t>Letter from a Birmingham Jail</a:t>
            </a:r>
            <a:r>
              <a:rPr lang="en-US" altLang="zh-CN" sz="2200" dirty="0">
                <a:latin typeface="Century Gothic" panose="020B0502020202020204" pitchFamily="34" charset="0"/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zh-CN" altLang="en-US" sz="2000" dirty="0">
                <a:latin typeface="Constantia" panose="02030602050306030303" pitchFamily="18" charset="0"/>
              </a:rPr>
              <a:t>“</a:t>
            </a:r>
            <a:r>
              <a:rPr lang="en-US" altLang="zh-CN" sz="2000" b="1" dirty="0">
                <a:latin typeface="Constantia" panose="02030602050306030303" pitchFamily="18" charset="0"/>
              </a:rPr>
              <a:t>An unjust law </a:t>
            </a:r>
            <a:r>
              <a:rPr lang="en-US" altLang="zh-CN" sz="2000" dirty="0">
                <a:latin typeface="Constantia" panose="02030602050306030303" pitchFamily="18" charset="0"/>
              </a:rPr>
              <a:t>is a code that a numerical or power majority group compels a minority group to obey but does not make binding on itself. </a:t>
            </a:r>
            <a:r>
              <a:rPr lang="en-US" altLang="zh-CN" sz="2000" b="1" dirty="0">
                <a:latin typeface="Constantia" panose="02030602050306030303" pitchFamily="18" charset="0"/>
              </a:rPr>
              <a:t>A just law </a:t>
            </a:r>
            <a:r>
              <a:rPr lang="en-US" altLang="zh-CN" sz="2000" dirty="0">
                <a:latin typeface="Constantia" panose="02030602050306030303" pitchFamily="18" charset="0"/>
              </a:rPr>
              <a:t>is a code that a majority compels a minority to follow and that it is willing to follow itself.</a:t>
            </a:r>
            <a:r>
              <a:rPr lang="zh-CN" altLang="en-US" sz="2000" dirty="0">
                <a:latin typeface="Constantia" panose="02030602050306030303" pitchFamily="18" charset="0"/>
              </a:rPr>
              <a:t>” </a:t>
            </a:r>
            <a:endParaRPr lang="en-US" altLang="zh-CN" sz="2000" dirty="0">
              <a:latin typeface="Constantia" panose="02030602050306030303" pitchFamily="18" charset="0"/>
            </a:endParaRPr>
          </a:p>
          <a:p>
            <a:pPr lvl="1">
              <a:lnSpc>
                <a:spcPct val="100000"/>
              </a:lnSpc>
              <a:buFont typeface="Wingdings" pitchFamily="2" charset="2"/>
              <a:buChar char="è"/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Do you agree with his criteria? Under what circumstances, if any, is breaking the law justified?</a:t>
            </a:r>
          </a:p>
          <a:p>
            <a:pPr lvl="1">
              <a:lnSpc>
                <a:spcPct val="100000"/>
              </a:lnSpc>
            </a:pPr>
            <a:endParaRPr lang="en-US" altLang="zh-CN" sz="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lang="en-US" altLang="zh-CN" sz="2000" dirty="0">
                <a:latin typeface="Constantia" panose="02030602050306030303" pitchFamily="18" charset="0"/>
              </a:rPr>
              <a:t>King makes frequent appeals to religious and ethical principles. He draws on </a:t>
            </a:r>
            <a:r>
              <a:rPr lang="en-US" altLang="zh-CN" sz="2000" b="1" dirty="0">
                <a:latin typeface="Constantia" panose="02030602050306030303" pitchFamily="18" charset="0"/>
              </a:rPr>
              <a:t>biblical figures </a:t>
            </a:r>
            <a:r>
              <a:rPr lang="en-US" altLang="zh-CN" sz="2000" dirty="0">
                <a:latin typeface="Constantia" panose="02030602050306030303" pitchFamily="18" charset="0"/>
              </a:rPr>
              <a:t>like the Apostle Paul and invokes natural law theory, arguing that an unjust law is “a code </a:t>
            </a:r>
            <a:r>
              <a:rPr lang="en-US" altLang="zh-CN" sz="2000" b="1" dirty="0">
                <a:latin typeface="Constantia" panose="02030602050306030303" pitchFamily="18" charset="0"/>
              </a:rPr>
              <a:t>out of harmony with the moral law or the law of God</a:t>
            </a:r>
            <a:r>
              <a:rPr lang="en-US" altLang="zh-CN" sz="2000" dirty="0">
                <a:latin typeface="Constantia" panose="02030602050306030303" pitchFamily="18" charset="0"/>
              </a:rPr>
              <a:t>.”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è"/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Q1: What kind of civil liberties was he exercising? Based on which Constitutional clause?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è"/>
            </a:pPr>
            <a:r>
              <a:rPr lang="en-US" altLang="zh-CN" sz="18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Q2: Many politicians in the U.S. end speeches with “God bless America.” Should religious references be acceptable in democracy, or should leaders avoid them to respect pluralism?</a:t>
            </a: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Legislative Efforts</a:t>
            </a:r>
            <a:r>
              <a:rPr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to Advance</a:t>
            </a:r>
            <a:r>
              <a:rPr lang="zh-CN" altLang="en-US" sz="2200" dirty="0">
                <a:latin typeface="Century Gothic" panose="020B0502020202020204" pitchFamily="34" charset="0"/>
              </a:rPr>
              <a:t> </a:t>
            </a:r>
            <a:r>
              <a:rPr lang="en-US" altLang="zh-CN" sz="2200" dirty="0">
                <a:latin typeface="Century Gothic" panose="020B0502020202020204" pitchFamily="34" charset="0"/>
              </a:rPr>
              <a:t>Civil Rights (see the last few slides)</a:t>
            </a:r>
          </a:p>
          <a:p>
            <a:pPr>
              <a:lnSpc>
                <a:spcPct val="100000"/>
              </a:lnSpc>
            </a:pPr>
            <a:endParaRPr lang="en-US" altLang="zh-CN" sz="22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In a democratic society, should courts, legislatures, or grassroots movements bear the main responsibility for advancing civil rights?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b="1" i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0491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2287D-C457-579B-A48C-6E7D3714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8CACDC-29F8-55A7-6D55-60C0B2E17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Less controversial: Women’s rights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BA1A25-C9C8-E0B0-F4A9-6937D41505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3817"/>
            <a:ext cx="10700657" cy="572101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Background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Protectionism</a:t>
            </a:r>
            <a:r>
              <a:rPr lang="en-US" altLang="zh-CN" sz="2000" dirty="0">
                <a:latin typeface="Century Gothic" panose="020B0502020202020204" pitchFamily="34" charset="0"/>
              </a:rPr>
              <a:t>: Women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dirty="0">
                <a:latin typeface="Century Gothic" panose="020B0502020202020204" pitchFamily="34" charset="0"/>
              </a:rPr>
              <a:t>must be sheltered from life’s harsh realities.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The 19</a:t>
            </a:r>
            <a:r>
              <a:rPr lang="en-US" altLang="zh-CN" sz="2000" b="1" baseline="30000" dirty="0">
                <a:latin typeface="Century Gothic" panose="020B0502020202020204" pitchFamily="34" charset="0"/>
              </a:rPr>
              <a:t>th</a:t>
            </a:r>
            <a:r>
              <a:rPr lang="en-US" altLang="zh-CN" sz="2000" b="1" dirty="0">
                <a:latin typeface="Century Gothic" panose="020B0502020202020204" pitchFamily="34" charset="0"/>
              </a:rPr>
              <a:t> Amendment</a:t>
            </a:r>
            <a:r>
              <a:rPr lang="en-US" altLang="zh-CN" sz="2000" dirty="0">
                <a:latin typeface="Century Gothic" panose="020B0502020202020204" pitchFamily="34" charset="0"/>
              </a:rPr>
              <a:t>: ensured women of the right to vote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latin typeface="Century Gothic" panose="020B0502020202020204" pitchFamily="34" charset="0"/>
              </a:rPr>
              <a:t>Equal rights amendment (ERA): </a:t>
            </a:r>
            <a:r>
              <a:rPr lang="en-US" altLang="zh-CN" sz="2000" dirty="0">
                <a:latin typeface="Century Gothic" panose="020B0502020202020204" pitchFamily="34" charset="0"/>
              </a:rPr>
              <a:t>(failed) “Equality of rights under the law shall not be denied or abridged by the United States or any state on account of sex.”</a:t>
            </a:r>
          </a:p>
          <a:p>
            <a:pPr lvl="1">
              <a:lnSpc>
                <a:spcPct val="100000"/>
              </a:lnSpc>
            </a:pPr>
            <a:endParaRPr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2200" dirty="0">
                <a:latin typeface="Century Gothic" panose="020B0502020202020204" pitchFamily="34" charset="0"/>
              </a:rPr>
              <a:t>Discussion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Is there any case where gender-based distinctions are justifiable?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Intermediate scrutiny </a:t>
            </a:r>
            <a:r>
              <a:rPr lang="en-US" altLang="zh-CN" sz="1800" dirty="0">
                <a:latin typeface="Century Gothic" panose="020B0502020202020204" pitchFamily="34" charset="0"/>
              </a:rPr>
              <a:t>(1976): If a law differentiates between people on the basis of gender, it must serve an </a:t>
            </a:r>
            <a:r>
              <a:rPr lang="en-US" altLang="zh-CN" sz="1800" b="1" dirty="0">
                <a:latin typeface="Century Gothic" panose="020B0502020202020204" pitchFamily="34" charset="0"/>
              </a:rPr>
              <a:t>important governmental purpose</a:t>
            </a:r>
            <a:r>
              <a:rPr lang="en-US" altLang="zh-CN" sz="1800" dirty="0">
                <a:latin typeface="Century Gothic" panose="020B0502020202020204" pitchFamily="34" charset="0"/>
              </a:rPr>
              <a:t>, and the means must be </a:t>
            </a:r>
            <a:r>
              <a:rPr lang="en-US" altLang="zh-CN" sz="1800" b="1" dirty="0">
                <a:latin typeface="Century Gothic" panose="020B0502020202020204" pitchFamily="34" charset="0"/>
              </a:rPr>
              <a:t>substantially related </a:t>
            </a:r>
            <a:r>
              <a:rPr lang="en-US" altLang="zh-CN" sz="1800" dirty="0">
                <a:latin typeface="Century Gothic" panose="020B0502020202020204" pitchFamily="34" charset="0"/>
              </a:rPr>
              <a:t>to that purpose.</a:t>
            </a:r>
          </a:p>
          <a:p>
            <a:pPr lvl="2">
              <a:lnSpc>
                <a:spcPct val="100000"/>
              </a:lnSpc>
            </a:pPr>
            <a:r>
              <a:rPr lang="en-US" altLang="zh-CN" sz="1800" dirty="0">
                <a:latin typeface="Century Gothic" panose="020B0502020202020204" pitchFamily="34" charset="0"/>
              </a:rPr>
              <a:t>Why does strict scrutiny apply to race differences, while only intermediate scrutiny applied to gender differences?</a:t>
            </a:r>
          </a:p>
          <a:p>
            <a:pPr lvl="1">
              <a:lnSpc>
                <a:spcPct val="100000"/>
              </a:lnSpc>
            </a:pPr>
            <a:r>
              <a:rPr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Some argued that women already had protections under the Equal Protection Clause and intermediate scrutiny. Was a constitutional amendment necessary, or redundant?</a:t>
            </a:r>
            <a:r>
              <a:rPr lang="zh-CN" altLang="en-US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  <a:endParaRPr lang="en-US" altLang="zh-CN" sz="2000" b="1" dirty="0">
              <a:solidFill>
                <a:srgbClr val="FF0000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557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9E965-1EC2-75B0-A138-BE54EB21F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CE3BBD-CC59-43AC-483F-5B2DB4E5E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252" y="1370280"/>
            <a:ext cx="11095496" cy="54877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Freedom AND Equality </a:t>
            </a:r>
            <a:r>
              <a:rPr kumimoji="1" lang="en-US" altLang="zh-CN" sz="2200" dirty="0">
                <a:latin typeface="Century Gothic" panose="020B0502020202020204" pitchFamily="34" charset="0"/>
              </a:rPr>
              <a:t>in </a:t>
            </a:r>
            <a:r>
              <a:rPr lang="en-US" altLang="zh-CN" sz="2200" dirty="0">
                <a:latin typeface="Century Gothic" panose="020B0502020202020204" pitchFamily="34" charset="0"/>
              </a:rPr>
              <a:t>Obergefell v. Hodges (2015) – </a:t>
            </a:r>
            <a:r>
              <a:rPr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Your idea?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Supporters: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Legalization of same sex marriage drew on both </a:t>
            </a:r>
            <a:r>
              <a:rPr kumimoji="1" lang="en-US" altLang="zh-CN" sz="2000" b="1" dirty="0">
                <a:latin typeface="Century Gothic" panose="020B0502020202020204" pitchFamily="34" charset="0"/>
              </a:rPr>
              <a:t>freedom and equality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, which justified the court’s decision.</a:t>
            </a:r>
          </a:p>
          <a:p>
            <a:pPr lvl="2">
              <a:lnSpc>
                <a:spcPct val="100000"/>
              </a:lnSpc>
            </a:pPr>
            <a:r>
              <a:rPr lang="en-US" altLang="zh-CN" sz="1800" b="1" dirty="0">
                <a:latin typeface="Century Gothic" panose="020B0502020202020204" pitchFamily="34" charset="0"/>
              </a:rPr>
              <a:t>Premise</a:t>
            </a:r>
            <a:r>
              <a:rPr lang="zh-CN" altLang="en-US" sz="1800" b="1" dirty="0">
                <a:latin typeface="Century Gothic" panose="020B0502020202020204" pitchFamily="34" charset="0"/>
              </a:rPr>
              <a:t> </a:t>
            </a:r>
            <a:r>
              <a:rPr lang="en-US" altLang="zh-CN" sz="1800" b="1" dirty="0">
                <a:latin typeface="Century Gothic" panose="020B0502020202020204" pitchFamily="34" charset="0"/>
              </a:rPr>
              <a:t>here: </a:t>
            </a:r>
            <a:r>
              <a:rPr lang="en-US" altLang="zh-CN" sz="1800" dirty="0">
                <a:latin typeface="Century Gothic" panose="020B0502020202020204" pitchFamily="34" charset="0"/>
              </a:rPr>
              <a:t>The right to marry is a fundamental liberty protected by the Due Process and Equal Protection Clauses of the 14th Amendment.</a:t>
            </a:r>
            <a:endParaRPr kumimoji="1" lang="en-US" altLang="zh-CN" sz="18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latin typeface="Century Gothic" panose="020B0502020202020204" pitchFamily="34" charset="0"/>
              </a:rPr>
              <a:t>Opponents: </a:t>
            </a:r>
            <a:r>
              <a:rPr kumimoji="1" lang="en-US" altLang="zh-CN" sz="2000" dirty="0">
                <a:latin typeface="Century Gothic" panose="020B0502020202020204" pitchFamily="34" charset="0"/>
              </a:rPr>
              <a:t>The court had gone too far, </a:t>
            </a:r>
            <a:r>
              <a:rPr lang="en-US" altLang="zh-CN" sz="2000" dirty="0">
                <a:latin typeface="Century Gothic" panose="020B0502020202020204" pitchFamily="34" charset="0"/>
              </a:rPr>
              <a:t>usurping the power of the legislatures across the country, which</a:t>
            </a:r>
            <a:r>
              <a:rPr lang="zh-CN" altLang="en-US" sz="2000" dirty="0">
                <a:latin typeface="Century Gothic" panose="020B0502020202020204" pitchFamily="34" charset="0"/>
              </a:rPr>
              <a:t> </a:t>
            </a:r>
            <a:r>
              <a:rPr lang="en-US" altLang="zh-CN" sz="2000" dirty="0">
                <a:latin typeface="Century Gothic" panose="020B0502020202020204" pitchFamily="34" charset="0"/>
              </a:rPr>
              <a:t>have the legitimate authority to define marriage.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Order vs. Equality </a:t>
            </a:r>
            <a:r>
              <a:rPr kumimoji="1" lang="en-US" altLang="zh-CN" sz="2200" dirty="0">
                <a:latin typeface="Century Gothic" panose="020B0502020202020204" pitchFamily="34" charset="0"/>
              </a:rPr>
              <a:t>in transgender cases</a:t>
            </a:r>
          </a:p>
          <a:p>
            <a:pPr lvl="1">
              <a:lnSpc>
                <a:spcPct val="100000"/>
              </a:lnSpc>
            </a:pPr>
            <a:r>
              <a:rPr kumimoji="1" lang="en-US" altLang="zh-CN" sz="20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Should transgenders use the bathroom fitting their gender identity, but at odds with their sex?</a:t>
            </a:r>
          </a:p>
          <a:p>
            <a:pPr>
              <a:lnSpc>
                <a:spcPct val="100000"/>
              </a:lnSpc>
            </a:pPr>
            <a:r>
              <a:rPr kumimoji="1" lang="en-US" altLang="zh-CN" sz="2200" b="1" dirty="0">
                <a:latin typeface="Century Gothic" panose="020B0502020202020204" pitchFamily="34" charset="0"/>
              </a:rPr>
              <a:t>Different meanings of “Equality” </a:t>
            </a:r>
            <a:r>
              <a:rPr kumimoji="1" lang="en-US" altLang="zh-CN" sz="2200" dirty="0">
                <a:latin typeface="Century Gothic" panose="020B0502020202020204" pitchFamily="34" charset="0"/>
              </a:rPr>
              <a:t>in LGBTQ+ issues – </a:t>
            </a:r>
            <a:r>
              <a:rPr kumimoji="1" lang="en-US" altLang="zh-CN" sz="2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How about your opinion?</a:t>
            </a:r>
          </a:p>
          <a:p>
            <a:pPr lvl="1"/>
            <a:r>
              <a:rPr lang="en-US" altLang="zh-CN" sz="2000" dirty="0">
                <a:latin typeface="Century Gothic" panose="020B0502020202020204" pitchFamily="34" charset="0"/>
              </a:rPr>
              <a:t>The transgender athletes ask to be treated </a:t>
            </a:r>
            <a:r>
              <a:rPr lang="en-US" altLang="zh-CN" sz="2000" b="1" dirty="0">
                <a:latin typeface="Century Gothic" panose="020B0502020202020204" pitchFamily="34" charset="0"/>
              </a:rPr>
              <a:t>equitably</a:t>
            </a:r>
            <a:r>
              <a:rPr lang="en-US" altLang="zh-CN" sz="2000" dirty="0">
                <a:latin typeface="Century Gothic" panose="020B0502020202020204" pitchFamily="34" charset="0"/>
              </a:rPr>
              <a:t> by being able to race against competitors who identify with the same gender they do, </a:t>
            </a:r>
          </a:p>
          <a:p>
            <a:pPr lvl="1"/>
            <a:r>
              <a:rPr lang="en-US" altLang="zh-CN" sz="2000" dirty="0">
                <a:latin typeface="Century Gothic" panose="020B0502020202020204" pitchFamily="34" charset="0"/>
              </a:rPr>
              <a:t>The cisgender athletes believe that their transgender competitors have biological advantages that make racing against them unfair, undermining</a:t>
            </a:r>
            <a:r>
              <a:rPr lang="en-US" altLang="zh-CN" sz="2000" b="1" dirty="0">
                <a:latin typeface="Century Gothic" panose="020B0502020202020204" pitchFamily="34" charset="0"/>
              </a:rPr>
              <a:t> equity</a:t>
            </a:r>
            <a:r>
              <a:rPr lang="en-US" altLang="zh-CN" sz="2000" dirty="0">
                <a:latin typeface="Century Gothic" panose="020B0502020202020204" pitchFamily="34" charset="0"/>
              </a:rPr>
              <a:t>.</a:t>
            </a:r>
          </a:p>
          <a:p>
            <a:pPr marL="457200" lvl="1" indent="0">
              <a:lnSpc>
                <a:spcPct val="100000"/>
              </a:lnSpc>
              <a:buNone/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000" dirty="0">
              <a:latin typeface="Century Gothic" panose="020B0502020202020204" pitchFamily="34" charset="0"/>
            </a:endParaRPr>
          </a:p>
          <a:p>
            <a:pPr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  <a:p>
            <a:pPr lvl="1">
              <a:lnSpc>
                <a:spcPct val="100000"/>
              </a:lnSpc>
            </a:pPr>
            <a:endParaRPr kumimoji="1" lang="en-US" altLang="zh-CN" sz="2200" dirty="0">
              <a:latin typeface="Century Gothic" panose="020B0502020202020204" pitchFamily="34" charset="0"/>
            </a:endParaRP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DED413E5-1736-8558-749C-4C81B5413F49}"/>
              </a:ext>
            </a:extLst>
          </p:cNvPr>
          <p:cNvSpPr txBox="1">
            <a:spLocks/>
          </p:cNvSpPr>
          <p:nvPr/>
        </p:nvSpPr>
        <p:spPr>
          <a:xfrm>
            <a:off x="838200" y="182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3600" b="1" dirty="0">
                <a:latin typeface="Century Gothic" panose="020B0502020202020204" pitchFamily="34" charset="0"/>
              </a:rPr>
              <a:t>More controversial: LGBTQ+ Rights</a:t>
            </a:r>
            <a:endParaRPr kumimoji="1" lang="zh-CN" altLang="en-US" sz="3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36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F266-461F-DFC0-F19B-F4DD64CD0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3B36D4-3E60-4CD4-ECC1-CDF306405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kumimoji="1" lang="en-US" altLang="zh-CN" sz="4000" b="1" dirty="0">
                <a:latin typeface="Century Gothic" panose="020B0502020202020204" pitchFamily="34" charset="0"/>
              </a:rPr>
              <a:t>Next week…</a:t>
            </a:r>
            <a:endParaRPr kumimoji="1" lang="zh-CN" altLang="en-US" sz="4000" b="1" dirty="0">
              <a:latin typeface="Century Gothic" panose="020B0502020202020204" pitchFamily="34" charset="0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0DFA93-F961-8DB9-6735-5EC134B68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6577"/>
            <a:ext cx="10515600" cy="473223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Read materials on </a:t>
            </a:r>
            <a:r>
              <a:rPr lang="en-US" altLang="zh-CN" b="1" dirty="0">
                <a:latin typeface="Century Gothic" panose="020B0502020202020204" pitchFamily="34" charset="0"/>
              </a:rPr>
              <a:t>Congress </a:t>
            </a:r>
            <a:r>
              <a:rPr kumimoji="1" lang="en-US" altLang="zh-CN" dirty="0">
                <a:latin typeface="Century Gothic" panose="020B0502020202020204" pitchFamily="34" charset="0"/>
              </a:rPr>
              <a:t>before class, and that will be helpful to participate in peer discussions.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Feel free to email me if you have any questions!</a:t>
            </a:r>
          </a:p>
          <a:p>
            <a:pPr>
              <a:lnSpc>
                <a:spcPct val="100000"/>
              </a:lnSpc>
            </a:pPr>
            <a:r>
              <a:rPr kumimoji="1" lang="en-US" altLang="zh-CN" dirty="0">
                <a:latin typeface="Century Gothic" panose="020B0502020202020204" pitchFamily="34" charset="0"/>
              </a:rPr>
              <a:t>ENJOY YOUR WEEKEND!</a:t>
            </a:r>
          </a:p>
        </p:txBody>
      </p:sp>
    </p:spTree>
    <p:extLst>
      <p:ext uri="{BB962C8B-B14F-4D97-AF65-F5344CB8AC3E}">
        <p14:creationId xmlns:p14="http://schemas.microsoft.com/office/powerpoint/2010/main" val="507422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5412</TotalTime>
  <Words>1159</Words>
  <Application>Microsoft Macintosh PowerPoint</Application>
  <PresentationFormat>宽屏</PresentationFormat>
  <Paragraphs>94</Paragraphs>
  <Slides>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等线</vt:lpstr>
      <vt:lpstr>等线 Light</vt:lpstr>
      <vt:lpstr>Arial</vt:lpstr>
      <vt:lpstr>Century Gothic</vt:lpstr>
      <vt:lpstr>Constantia</vt:lpstr>
      <vt:lpstr>Wingdings</vt:lpstr>
      <vt:lpstr>Office 主题​​</vt:lpstr>
      <vt:lpstr>6. Civil Rights</vt:lpstr>
      <vt:lpstr>Mid term 1 Feedback: Short-answer Questions</vt:lpstr>
      <vt:lpstr>Basic Concepts</vt:lpstr>
      <vt:lpstr>Less controversial: Equality for Black Americans</vt:lpstr>
      <vt:lpstr>Equality for Black Americans (cont`d)</vt:lpstr>
      <vt:lpstr>Less controversial: Women’s rights</vt:lpstr>
      <vt:lpstr>PowerPoint 演示文稿</vt:lpstr>
      <vt:lpstr>Next week…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sy Zhao</dc:creator>
  <cp:lastModifiedBy>sy Zhao</cp:lastModifiedBy>
  <cp:revision>72</cp:revision>
  <dcterms:created xsi:type="dcterms:W3CDTF">2025-08-13T18:40:43Z</dcterms:created>
  <dcterms:modified xsi:type="dcterms:W3CDTF">2025-09-19T00:21:16Z</dcterms:modified>
</cp:coreProperties>
</file>