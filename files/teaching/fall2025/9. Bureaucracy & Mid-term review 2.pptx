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78" r:id="rId4"/>
    <p:sldId id="269" r:id="rId5"/>
    <p:sldId id="273" r:id="rId6"/>
    <p:sldId id="279" r:id="rId7"/>
    <p:sldId id="277" r:id="rId8"/>
    <p:sldId id="276" r:id="rId9"/>
    <p:sldId id="282" r:id="rId10"/>
    <p:sldId id="272" r:id="rId11"/>
    <p:sldId id="280" r:id="rId12"/>
    <p:sldId id="263"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45"/>
    <p:restoredTop sz="83600"/>
  </p:normalViewPr>
  <p:slideViewPr>
    <p:cSldViewPr snapToGrid="0">
      <p:cViewPr varScale="1">
        <p:scale>
          <a:sx n="118" d="100"/>
          <a:sy n="118" d="100"/>
        </p:scale>
        <p:origin x="125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FC2761-774B-F042-9BD3-0C52A688F4FB}" type="datetimeFigureOut">
              <a:rPr kumimoji="1" lang="zh-CN" altLang="en-US" smtClean="0"/>
              <a:t>2025/10/10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092E27-0BA6-464B-8F92-818B943024AB}" type="slidenum">
              <a:rPr kumimoji="1" lang="zh-CN" altLang="en-US" smtClean="0"/>
              <a:t>‹#›</a:t>
            </a:fld>
            <a:endParaRPr kumimoji="1" lang="zh-CN" altLang="en-US"/>
          </a:p>
        </p:txBody>
      </p:sp>
    </p:spTree>
    <p:extLst>
      <p:ext uri="{BB962C8B-B14F-4D97-AF65-F5344CB8AC3E}">
        <p14:creationId xmlns:p14="http://schemas.microsoft.com/office/powerpoint/2010/main" val="59391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Today we re going to talk about</a:t>
            </a:r>
            <a:endParaRPr kumimoji="1" lang="zh-CN" altLang="en-US"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1</a:t>
            </a:fld>
            <a:endParaRPr kumimoji="1" lang="zh-CN" altLang="en-US"/>
          </a:p>
        </p:txBody>
      </p:sp>
    </p:spTree>
    <p:extLst>
      <p:ext uri="{BB962C8B-B14F-4D97-AF65-F5344CB8AC3E}">
        <p14:creationId xmlns:p14="http://schemas.microsoft.com/office/powerpoint/2010/main" val="970865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sz="1600"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2</a:t>
            </a:fld>
            <a:endParaRPr kumimoji="1" lang="zh-CN" altLang="en-US"/>
          </a:p>
        </p:txBody>
      </p:sp>
    </p:spTree>
    <p:extLst>
      <p:ext uri="{BB962C8B-B14F-4D97-AF65-F5344CB8AC3E}">
        <p14:creationId xmlns:p14="http://schemas.microsoft.com/office/powerpoint/2010/main" val="251675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4015E-7C30-95E0-50B7-2BC75A196C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407B06-328E-B4C4-79CE-77515F6CCB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FE706A-9F42-8BFA-6CCD-149A2B82600D}"/>
              </a:ext>
            </a:extLst>
          </p:cNvPr>
          <p:cNvSpPr>
            <a:spLocks noGrp="1"/>
          </p:cNvSpPr>
          <p:nvPr>
            <p:ph type="body" idx="1"/>
          </p:nvPr>
        </p:nvSpPr>
        <p:spPr/>
        <p:txBody>
          <a:bodyPr/>
          <a:lstStyle/>
          <a:p>
            <a:r>
              <a:rPr kumimoji="1" lang="en-US" altLang="zh-CN" sz="1600" dirty="0"/>
              <a:t>Fairness, transparency, safety</a:t>
            </a:r>
          </a:p>
          <a:p>
            <a:r>
              <a:rPr kumimoji="1" lang="en-US" altLang="zh-CN" sz="1600" dirty="0"/>
              <a:t>A blame-avoidance strategy -&gt; but it can also be a shortcoming!</a:t>
            </a:r>
            <a:endParaRPr kumimoji="1" lang="zh-CN" altLang="en-US" sz="1600" dirty="0"/>
          </a:p>
        </p:txBody>
      </p:sp>
      <p:sp>
        <p:nvSpPr>
          <p:cNvPr id="4" name="灯片编号占位符 3">
            <a:extLst>
              <a:ext uri="{FF2B5EF4-FFF2-40B4-BE49-F238E27FC236}">
                <a16:creationId xmlns:a16="http://schemas.microsoft.com/office/drawing/2014/main" id="{1973F599-BBF3-CD7F-FE75-BFACA0AD09A5}"/>
              </a:ext>
            </a:extLst>
          </p:cNvPr>
          <p:cNvSpPr>
            <a:spLocks noGrp="1"/>
          </p:cNvSpPr>
          <p:nvPr>
            <p:ph type="sldNum" sz="quarter" idx="5"/>
          </p:nvPr>
        </p:nvSpPr>
        <p:spPr/>
        <p:txBody>
          <a:bodyPr/>
          <a:lstStyle/>
          <a:p>
            <a:fld id="{CB092E27-0BA6-464B-8F92-818B943024AB}" type="slidenum">
              <a:rPr kumimoji="1" lang="zh-CN" altLang="en-US" smtClean="0"/>
              <a:t>3</a:t>
            </a:fld>
            <a:endParaRPr kumimoji="1" lang="zh-CN" altLang="en-US"/>
          </a:p>
        </p:txBody>
      </p:sp>
    </p:spTree>
    <p:extLst>
      <p:ext uri="{BB962C8B-B14F-4D97-AF65-F5344CB8AC3E}">
        <p14:creationId xmlns:p14="http://schemas.microsoft.com/office/powerpoint/2010/main" val="442658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4</a:t>
            </a:fld>
            <a:endParaRPr kumimoji="1" lang="zh-CN" altLang="en-US"/>
          </a:p>
        </p:txBody>
      </p:sp>
    </p:spTree>
    <p:extLst>
      <p:ext uri="{BB962C8B-B14F-4D97-AF65-F5344CB8AC3E}">
        <p14:creationId xmlns:p14="http://schemas.microsoft.com/office/powerpoint/2010/main" val="3060258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028DC-9620-41E7-B96A-CA01E6CFDF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E0AF89-89D5-489D-07AC-4CE0A44A55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A5A20E-CEA6-2270-1030-48B82B136163}"/>
              </a:ext>
            </a:extLst>
          </p:cNvPr>
          <p:cNvSpPr>
            <a:spLocks noGrp="1"/>
          </p:cNvSpPr>
          <p:nvPr>
            <p:ph type="body" idx="1"/>
          </p:nvPr>
        </p:nvSpPr>
        <p:spPr/>
        <p:txBody>
          <a:bodyPr/>
          <a:lstStyle/>
          <a:p>
            <a:endParaRPr kumimoji="1" lang="zh-CN" altLang="en-US" sz="1600" dirty="0"/>
          </a:p>
        </p:txBody>
      </p:sp>
      <p:sp>
        <p:nvSpPr>
          <p:cNvPr id="4" name="灯片编号占位符 3">
            <a:extLst>
              <a:ext uri="{FF2B5EF4-FFF2-40B4-BE49-F238E27FC236}">
                <a16:creationId xmlns:a16="http://schemas.microsoft.com/office/drawing/2014/main" id="{A036ADAA-E146-684B-A076-081810DA21EC}"/>
              </a:ext>
            </a:extLst>
          </p:cNvPr>
          <p:cNvSpPr>
            <a:spLocks noGrp="1"/>
          </p:cNvSpPr>
          <p:nvPr>
            <p:ph type="sldNum" sz="quarter" idx="5"/>
          </p:nvPr>
        </p:nvSpPr>
        <p:spPr/>
        <p:txBody>
          <a:bodyPr/>
          <a:lstStyle/>
          <a:p>
            <a:fld id="{CB092E27-0BA6-464B-8F92-818B943024AB}" type="slidenum">
              <a:rPr kumimoji="1" lang="zh-CN" altLang="en-US" smtClean="0"/>
              <a:t>5</a:t>
            </a:fld>
            <a:endParaRPr kumimoji="1" lang="zh-CN" altLang="en-US"/>
          </a:p>
        </p:txBody>
      </p:sp>
    </p:spTree>
    <p:extLst>
      <p:ext uri="{BB962C8B-B14F-4D97-AF65-F5344CB8AC3E}">
        <p14:creationId xmlns:p14="http://schemas.microsoft.com/office/powerpoint/2010/main" val="2361038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FA19D-9ECD-73F8-FB68-03DDD97010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DDB9B9-50E1-CFC8-BE2F-74596FF500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DCCCB5-062A-BFA3-EDEE-CE6C0DB8CDD9}"/>
              </a:ext>
            </a:extLst>
          </p:cNvPr>
          <p:cNvSpPr>
            <a:spLocks noGrp="1"/>
          </p:cNvSpPr>
          <p:nvPr>
            <p:ph type="body" idx="1"/>
          </p:nvPr>
        </p:nvSpPr>
        <p:spPr/>
        <p:txBody>
          <a:bodyPr/>
          <a:lstStyle/>
          <a:p>
            <a:endParaRPr kumimoji="1" lang="zh-CN" altLang="en-US" sz="1600" dirty="0"/>
          </a:p>
        </p:txBody>
      </p:sp>
      <p:sp>
        <p:nvSpPr>
          <p:cNvPr id="4" name="灯片编号占位符 3">
            <a:extLst>
              <a:ext uri="{FF2B5EF4-FFF2-40B4-BE49-F238E27FC236}">
                <a16:creationId xmlns:a16="http://schemas.microsoft.com/office/drawing/2014/main" id="{9E4A5870-4D31-39CB-E7B3-0A6952748FF4}"/>
              </a:ext>
            </a:extLst>
          </p:cNvPr>
          <p:cNvSpPr>
            <a:spLocks noGrp="1"/>
          </p:cNvSpPr>
          <p:nvPr>
            <p:ph type="sldNum" sz="quarter" idx="5"/>
          </p:nvPr>
        </p:nvSpPr>
        <p:spPr/>
        <p:txBody>
          <a:bodyPr/>
          <a:lstStyle/>
          <a:p>
            <a:fld id="{CB092E27-0BA6-464B-8F92-818B943024AB}" type="slidenum">
              <a:rPr kumimoji="1" lang="zh-CN" altLang="en-US" smtClean="0"/>
              <a:t>6</a:t>
            </a:fld>
            <a:endParaRPr kumimoji="1" lang="zh-CN" altLang="en-US"/>
          </a:p>
        </p:txBody>
      </p:sp>
    </p:spTree>
    <p:extLst>
      <p:ext uri="{BB962C8B-B14F-4D97-AF65-F5344CB8AC3E}">
        <p14:creationId xmlns:p14="http://schemas.microsoft.com/office/powerpoint/2010/main" val="2336067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E40A-A8F4-FDE3-3612-62CC209BDA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DE4750-D1A4-38C5-F498-193DD68110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7A7F0E-14E6-3716-BCB6-AC1F579F730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8934AB4D-6D58-DCD7-3730-62CA58F6885A}"/>
              </a:ext>
            </a:extLst>
          </p:cNvPr>
          <p:cNvSpPr>
            <a:spLocks noGrp="1"/>
          </p:cNvSpPr>
          <p:nvPr>
            <p:ph type="sldNum" sz="quarter" idx="5"/>
          </p:nvPr>
        </p:nvSpPr>
        <p:spPr/>
        <p:txBody>
          <a:bodyPr/>
          <a:lstStyle/>
          <a:p>
            <a:fld id="{CB092E27-0BA6-464B-8F92-818B943024AB}" type="slidenum">
              <a:rPr kumimoji="1" lang="zh-CN" altLang="en-US" smtClean="0"/>
              <a:t>7</a:t>
            </a:fld>
            <a:endParaRPr kumimoji="1" lang="zh-CN" altLang="en-US"/>
          </a:p>
        </p:txBody>
      </p:sp>
    </p:spTree>
    <p:extLst>
      <p:ext uri="{BB962C8B-B14F-4D97-AF65-F5344CB8AC3E}">
        <p14:creationId xmlns:p14="http://schemas.microsoft.com/office/powerpoint/2010/main" val="4241743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4D9A2-5C48-AD20-9E21-5F634BF4D1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F92647-51EA-0FA6-6F4B-0D0C5F7648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25089E-1B52-E613-B9F7-5AC772D15F4D}"/>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7B4D08FC-D181-84A6-8924-419EF3150381}"/>
              </a:ext>
            </a:extLst>
          </p:cNvPr>
          <p:cNvSpPr>
            <a:spLocks noGrp="1"/>
          </p:cNvSpPr>
          <p:nvPr>
            <p:ph type="sldNum" sz="quarter" idx="5"/>
          </p:nvPr>
        </p:nvSpPr>
        <p:spPr/>
        <p:txBody>
          <a:bodyPr/>
          <a:lstStyle/>
          <a:p>
            <a:fld id="{CB092E27-0BA6-464B-8F92-818B943024AB}" type="slidenum">
              <a:rPr kumimoji="1" lang="zh-CN" altLang="en-US" smtClean="0"/>
              <a:t>8</a:t>
            </a:fld>
            <a:endParaRPr kumimoji="1" lang="zh-CN" altLang="en-US"/>
          </a:p>
        </p:txBody>
      </p:sp>
    </p:spTree>
    <p:extLst>
      <p:ext uri="{BB962C8B-B14F-4D97-AF65-F5344CB8AC3E}">
        <p14:creationId xmlns:p14="http://schemas.microsoft.com/office/powerpoint/2010/main" val="958005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1A0BA-21DE-B48A-67BB-395EC03FB9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AFEDB1-2BB5-5FDA-5C67-EC7EC317D5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14B3F0-529C-F62A-AF87-CAD4C3B397D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3C9322A1-D6FE-2675-D1FA-2C3DEBA69E60}"/>
              </a:ext>
            </a:extLst>
          </p:cNvPr>
          <p:cNvSpPr>
            <a:spLocks noGrp="1"/>
          </p:cNvSpPr>
          <p:nvPr>
            <p:ph type="sldNum" sz="quarter" idx="5"/>
          </p:nvPr>
        </p:nvSpPr>
        <p:spPr/>
        <p:txBody>
          <a:bodyPr/>
          <a:lstStyle/>
          <a:p>
            <a:fld id="{CB092E27-0BA6-464B-8F92-818B943024AB}" type="slidenum">
              <a:rPr kumimoji="1" lang="zh-CN" altLang="en-US" smtClean="0"/>
              <a:t>9</a:t>
            </a:fld>
            <a:endParaRPr kumimoji="1" lang="zh-CN" altLang="en-US"/>
          </a:p>
        </p:txBody>
      </p:sp>
    </p:spTree>
    <p:extLst>
      <p:ext uri="{BB962C8B-B14F-4D97-AF65-F5344CB8AC3E}">
        <p14:creationId xmlns:p14="http://schemas.microsoft.com/office/powerpoint/2010/main" val="3664245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2A2B2-99F4-8434-4043-90F0045DF0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F74401-6074-DFA7-3822-B784E477F0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381339-2B7E-6BEB-C024-61DAE1D07C21}"/>
              </a:ext>
            </a:extLst>
          </p:cNvPr>
          <p:cNvSpPr>
            <a:spLocks noGrp="1"/>
          </p:cNvSpPr>
          <p:nvPr>
            <p:ph type="body" idx="1"/>
          </p:nvPr>
        </p:nvSpPr>
        <p:spPr/>
        <p:txBody>
          <a:bodyPr/>
          <a:lstStyle/>
          <a:p>
            <a:endParaRPr kumimoji="1" lang="zh-CN" altLang="en-US" sz="1600" dirty="0"/>
          </a:p>
        </p:txBody>
      </p:sp>
      <p:sp>
        <p:nvSpPr>
          <p:cNvPr id="4" name="灯片编号占位符 3">
            <a:extLst>
              <a:ext uri="{FF2B5EF4-FFF2-40B4-BE49-F238E27FC236}">
                <a16:creationId xmlns:a16="http://schemas.microsoft.com/office/drawing/2014/main" id="{C6FC5F41-02AA-0710-0856-F0FD4FBFB66F}"/>
              </a:ext>
            </a:extLst>
          </p:cNvPr>
          <p:cNvSpPr>
            <a:spLocks noGrp="1"/>
          </p:cNvSpPr>
          <p:nvPr>
            <p:ph type="sldNum" sz="quarter" idx="5"/>
          </p:nvPr>
        </p:nvSpPr>
        <p:spPr/>
        <p:txBody>
          <a:bodyPr/>
          <a:lstStyle/>
          <a:p>
            <a:fld id="{CB092E27-0BA6-464B-8F92-818B943024AB}" type="slidenum">
              <a:rPr kumimoji="1" lang="zh-CN" altLang="en-US" smtClean="0"/>
              <a:t>10</a:t>
            </a:fld>
            <a:endParaRPr kumimoji="1" lang="zh-CN" altLang="en-US"/>
          </a:p>
        </p:txBody>
      </p:sp>
    </p:spTree>
    <p:extLst>
      <p:ext uri="{BB962C8B-B14F-4D97-AF65-F5344CB8AC3E}">
        <p14:creationId xmlns:p14="http://schemas.microsoft.com/office/powerpoint/2010/main" val="919998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E9CAC4-5603-9540-4746-DF7D478F111C}"/>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EB3E1C22-AA04-379D-70C6-A670FBE5C3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442DF2C8-367E-2D45-DF75-FE56AEE427B5}"/>
              </a:ext>
            </a:extLst>
          </p:cNvPr>
          <p:cNvSpPr>
            <a:spLocks noGrp="1"/>
          </p:cNvSpPr>
          <p:nvPr>
            <p:ph type="dt" sz="half" idx="10"/>
          </p:nvPr>
        </p:nvSpPr>
        <p:spPr/>
        <p:txBody>
          <a:bodyPr/>
          <a:lstStyle/>
          <a:p>
            <a:fld id="{092FA171-DF96-1B41-A089-FAB6FE9A340F}" type="datetimeFigureOut">
              <a:rPr kumimoji="1" lang="zh-CN" altLang="en-US" smtClean="0"/>
              <a:t>2025/10/10</a:t>
            </a:fld>
            <a:endParaRPr kumimoji="1" lang="zh-CN" altLang="en-US"/>
          </a:p>
        </p:txBody>
      </p:sp>
      <p:sp>
        <p:nvSpPr>
          <p:cNvPr id="5" name="页脚占位符 4">
            <a:extLst>
              <a:ext uri="{FF2B5EF4-FFF2-40B4-BE49-F238E27FC236}">
                <a16:creationId xmlns:a16="http://schemas.microsoft.com/office/drawing/2014/main" id="{96EAD1C0-22F7-2B75-E5B6-416C33DEB9B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00D5D4F-5543-EF94-7D9E-26E2EB42014E}"/>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254588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683152-C981-6237-7465-0F9D4C52A92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2E0A163B-9301-5E7F-A6C9-6D50534B07CE}"/>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07EFE64-6FB4-1927-0FA3-40A1ED4055FA}"/>
              </a:ext>
            </a:extLst>
          </p:cNvPr>
          <p:cNvSpPr>
            <a:spLocks noGrp="1"/>
          </p:cNvSpPr>
          <p:nvPr>
            <p:ph type="dt" sz="half" idx="10"/>
          </p:nvPr>
        </p:nvSpPr>
        <p:spPr/>
        <p:txBody>
          <a:bodyPr/>
          <a:lstStyle/>
          <a:p>
            <a:fld id="{092FA171-DF96-1B41-A089-FAB6FE9A340F}" type="datetimeFigureOut">
              <a:rPr kumimoji="1" lang="zh-CN" altLang="en-US" smtClean="0"/>
              <a:t>2025/10/10</a:t>
            </a:fld>
            <a:endParaRPr kumimoji="1" lang="zh-CN" altLang="en-US"/>
          </a:p>
        </p:txBody>
      </p:sp>
      <p:sp>
        <p:nvSpPr>
          <p:cNvPr id="5" name="页脚占位符 4">
            <a:extLst>
              <a:ext uri="{FF2B5EF4-FFF2-40B4-BE49-F238E27FC236}">
                <a16:creationId xmlns:a16="http://schemas.microsoft.com/office/drawing/2014/main" id="{B2C80ED6-E235-BE41-6C84-57A9517261C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1D644E8-37BB-F946-0182-7EFE141D75BF}"/>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18791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850F04-C3CD-2F64-01B3-3226F98B90C2}"/>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CD1D39D8-BB09-E9E1-AE46-BD0402C3C7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B97D90E-E49A-C653-33E4-3399376B1FD5}"/>
              </a:ext>
            </a:extLst>
          </p:cNvPr>
          <p:cNvSpPr>
            <a:spLocks noGrp="1"/>
          </p:cNvSpPr>
          <p:nvPr>
            <p:ph type="dt" sz="half" idx="10"/>
          </p:nvPr>
        </p:nvSpPr>
        <p:spPr/>
        <p:txBody>
          <a:bodyPr/>
          <a:lstStyle/>
          <a:p>
            <a:fld id="{092FA171-DF96-1B41-A089-FAB6FE9A340F}" type="datetimeFigureOut">
              <a:rPr kumimoji="1" lang="zh-CN" altLang="en-US" smtClean="0"/>
              <a:t>2025/10/10</a:t>
            </a:fld>
            <a:endParaRPr kumimoji="1" lang="zh-CN" altLang="en-US"/>
          </a:p>
        </p:txBody>
      </p:sp>
      <p:sp>
        <p:nvSpPr>
          <p:cNvPr id="5" name="页脚占位符 4">
            <a:extLst>
              <a:ext uri="{FF2B5EF4-FFF2-40B4-BE49-F238E27FC236}">
                <a16:creationId xmlns:a16="http://schemas.microsoft.com/office/drawing/2014/main" id="{82CBD9D7-4579-F439-2979-C756072B3C2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217746B-C90D-95F8-97AA-3FFEA76812E3}"/>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307041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0304D9-3BF5-05E6-96B1-4655A1D5D0B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2D08483-110C-D43D-A3FD-2BB20209E417}"/>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A4C839D-DA8C-28CB-E5BA-B4723E5B08B8}"/>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DFE45B9-76B7-AB04-8094-C8CE369E1FC5}"/>
              </a:ext>
            </a:extLst>
          </p:cNvPr>
          <p:cNvSpPr>
            <a:spLocks noGrp="1"/>
          </p:cNvSpPr>
          <p:nvPr>
            <p:ph type="dt" sz="half" idx="10"/>
          </p:nvPr>
        </p:nvSpPr>
        <p:spPr/>
        <p:txBody>
          <a:bodyPr/>
          <a:lstStyle/>
          <a:p>
            <a:fld id="{092FA171-DF96-1B41-A089-FAB6FE9A340F}" type="datetimeFigureOut">
              <a:rPr kumimoji="1" lang="zh-CN" altLang="en-US" smtClean="0"/>
              <a:t>2025/10/10</a:t>
            </a:fld>
            <a:endParaRPr kumimoji="1" lang="zh-CN" altLang="en-US"/>
          </a:p>
        </p:txBody>
      </p:sp>
      <p:sp>
        <p:nvSpPr>
          <p:cNvPr id="6" name="页脚占位符 5">
            <a:extLst>
              <a:ext uri="{FF2B5EF4-FFF2-40B4-BE49-F238E27FC236}">
                <a16:creationId xmlns:a16="http://schemas.microsoft.com/office/drawing/2014/main" id="{D4AE34B5-B673-FBFE-4EFF-91DAE128E81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F9DB086-FF5A-FE0C-D4BB-2ED5948A4B9D}"/>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594046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483DD5-6BE7-B60B-3830-1C91637238F3}"/>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58B3FFE-61EA-239B-F19E-01B3295484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A309DF50-77E9-6A8A-B7FD-52C3A0A2AA2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50CBEA94-5C16-949F-958E-F32A629BA2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1E3CCEDE-D71C-351E-8E59-1DC6C8EEE59F}"/>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6AD051A4-8FC0-4958-27ED-3FD5D613C09D}"/>
              </a:ext>
            </a:extLst>
          </p:cNvPr>
          <p:cNvSpPr>
            <a:spLocks noGrp="1"/>
          </p:cNvSpPr>
          <p:nvPr>
            <p:ph type="dt" sz="half" idx="10"/>
          </p:nvPr>
        </p:nvSpPr>
        <p:spPr/>
        <p:txBody>
          <a:bodyPr/>
          <a:lstStyle/>
          <a:p>
            <a:fld id="{092FA171-DF96-1B41-A089-FAB6FE9A340F}" type="datetimeFigureOut">
              <a:rPr kumimoji="1" lang="zh-CN" altLang="en-US" smtClean="0"/>
              <a:t>2025/10/10</a:t>
            </a:fld>
            <a:endParaRPr kumimoji="1" lang="zh-CN" altLang="en-US"/>
          </a:p>
        </p:txBody>
      </p:sp>
      <p:sp>
        <p:nvSpPr>
          <p:cNvPr id="8" name="页脚占位符 7">
            <a:extLst>
              <a:ext uri="{FF2B5EF4-FFF2-40B4-BE49-F238E27FC236}">
                <a16:creationId xmlns:a16="http://schemas.microsoft.com/office/drawing/2014/main" id="{8CB8DCF7-45C3-EA2A-1701-202A609F6A3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4C826FD-6CBB-9310-BCE6-0AFD91F0D78C}"/>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294661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7DEE7-0D18-A3AB-6312-227BEE98C67E}"/>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8787988-EB72-BBF2-97A0-18FCAEDE436C}"/>
              </a:ext>
            </a:extLst>
          </p:cNvPr>
          <p:cNvSpPr>
            <a:spLocks noGrp="1"/>
          </p:cNvSpPr>
          <p:nvPr>
            <p:ph type="dt" sz="half" idx="10"/>
          </p:nvPr>
        </p:nvSpPr>
        <p:spPr/>
        <p:txBody>
          <a:bodyPr/>
          <a:lstStyle/>
          <a:p>
            <a:fld id="{092FA171-DF96-1B41-A089-FAB6FE9A340F}" type="datetimeFigureOut">
              <a:rPr kumimoji="1" lang="zh-CN" altLang="en-US" smtClean="0"/>
              <a:t>2025/10/10</a:t>
            </a:fld>
            <a:endParaRPr kumimoji="1" lang="zh-CN" altLang="en-US"/>
          </a:p>
        </p:txBody>
      </p:sp>
      <p:sp>
        <p:nvSpPr>
          <p:cNvPr id="4" name="页脚占位符 3">
            <a:extLst>
              <a:ext uri="{FF2B5EF4-FFF2-40B4-BE49-F238E27FC236}">
                <a16:creationId xmlns:a16="http://schemas.microsoft.com/office/drawing/2014/main" id="{F71DEEEE-9CED-3233-301C-D61D4952DE6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1FAB2A8-6D82-8150-1ACA-546DA505F5D0}"/>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395394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45F89BB-2D98-C933-488B-E600CB0651F0}"/>
              </a:ext>
            </a:extLst>
          </p:cNvPr>
          <p:cNvSpPr>
            <a:spLocks noGrp="1"/>
          </p:cNvSpPr>
          <p:nvPr>
            <p:ph type="dt" sz="half" idx="10"/>
          </p:nvPr>
        </p:nvSpPr>
        <p:spPr/>
        <p:txBody>
          <a:bodyPr/>
          <a:lstStyle/>
          <a:p>
            <a:fld id="{092FA171-DF96-1B41-A089-FAB6FE9A340F}" type="datetimeFigureOut">
              <a:rPr kumimoji="1" lang="zh-CN" altLang="en-US" smtClean="0"/>
              <a:t>2025/10/10</a:t>
            </a:fld>
            <a:endParaRPr kumimoji="1" lang="zh-CN" altLang="en-US"/>
          </a:p>
        </p:txBody>
      </p:sp>
      <p:sp>
        <p:nvSpPr>
          <p:cNvPr id="3" name="页脚占位符 2">
            <a:extLst>
              <a:ext uri="{FF2B5EF4-FFF2-40B4-BE49-F238E27FC236}">
                <a16:creationId xmlns:a16="http://schemas.microsoft.com/office/drawing/2014/main" id="{427A268E-C4F6-B77D-1351-5DE83C0A386A}"/>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EF8E4A0-1ACD-7A8E-7C68-98F88D65DBE2}"/>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483184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FC987B-49C3-BFCA-7CA6-9ADDA1558D3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0330DC1-52A9-D64F-9566-03B17EB210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77648F5-B097-B233-8517-D224C24051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DE39B80-C04B-2C82-D564-BE82DA1191AE}"/>
              </a:ext>
            </a:extLst>
          </p:cNvPr>
          <p:cNvSpPr>
            <a:spLocks noGrp="1"/>
          </p:cNvSpPr>
          <p:nvPr>
            <p:ph type="dt" sz="half" idx="10"/>
          </p:nvPr>
        </p:nvSpPr>
        <p:spPr/>
        <p:txBody>
          <a:bodyPr/>
          <a:lstStyle/>
          <a:p>
            <a:fld id="{092FA171-DF96-1B41-A089-FAB6FE9A340F}" type="datetimeFigureOut">
              <a:rPr kumimoji="1" lang="zh-CN" altLang="en-US" smtClean="0"/>
              <a:t>2025/10/10</a:t>
            </a:fld>
            <a:endParaRPr kumimoji="1" lang="zh-CN" altLang="en-US"/>
          </a:p>
        </p:txBody>
      </p:sp>
      <p:sp>
        <p:nvSpPr>
          <p:cNvPr id="6" name="页脚占位符 5">
            <a:extLst>
              <a:ext uri="{FF2B5EF4-FFF2-40B4-BE49-F238E27FC236}">
                <a16:creationId xmlns:a16="http://schemas.microsoft.com/office/drawing/2014/main" id="{DAE4910C-3003-45C9-57B8-FCF2A71F597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B572AEE-EF5E-7D71-EEBA-B8379AA66BFA}"/>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051915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1A6230-C7A5-86BA-5615-904D96A6BC1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C8371D64-943D-9794-C679-047246E73E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4449E2F-39C8-500F-46E0-0C78B0397F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3EA0B88-6CC1-DD08-915A-A518D5E2FECC}"/>
              </a:ext>
            </a:extLst>
          </p:cNvPr>
          <p:cNvSpPr>
            <a:spLocks noGrp="1"/>
          </p:cNvSpPr>
          <p:nvPr>
            <p:ph type="dt" sz="half" idx="10"/>
          </p:nvPr>
        </p:nvSpPr>
        <p:spPr/>
        <p:txBody>
          <a:bodyPr/>
          <a:lstStyle/>
          <a:p>
            <a:fld id="{092FA171-DF96-1B41-A089-FAB6FE9A340F}" type="datetimeFigureOut">
              <a:rPr kumimoji="1" lang="zh-CN" altLang="en-US" smtClean="0"/>
              <a:t>2025/10/10</a:t>
            </a:fld>
            <a:endParaRPr kumimoji="1" lang="zh-CN" altLang="en-US"/>
          </a:p>
        </p:txBody>
      </p:sp>
      <p:sp>
        <p:nvSpPr>
          <p:cNvPr id="6" name="页脚占位符 5">
            <a:extLst>
              <a:ext uri="{FF2B5EF4-FFF2-40B4-BE49-F238E27FC236}">
                <a16:creationId xmlns:a16="http://schemas.microsoft.com/office/drawing/2014/main" id="{E51EC198-B676-0D20-89AE-543DC463373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BC72265-ADC9-100E-D5B9-3493AC71CEBB}"/>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665346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269B29-53BC-8508-9E8C-83082E837C41}"/>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6C1E39E-2C6E-E37C-2D42-EA3A825182CF}"/>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B32F3AD-94BB-4CB2-C858-7F07E36DE0C5}"/>
              </a:ext>
            </a:extLst>
          </p:cNvPr>
          <p:cNvSpPr>
            <a:spLocks noGrp="1"/>
          </p:cNvSpPr>
          <p:nvPr>
            <p:ph type="dt" sz="half" idx="10"/>
          </p:nvPr>
        </p:nvSpPr>
        <p:spPr/>
        <p:txBody>
          <a:bodyPr/>
          <a:lstStyle/>
          <a:p>
            <a:fld id="{092FA171-DF96-1B41-A089-FAB6FE9A340F}" type="datetimeFigureOut">
              <a:rPr kumimoji="1" lang="zh-CN" altLang="en-US" smtClean="0"/>
              <a:t>2025/10/10</a:t>
            </a:fld>
            <a:endParaRPr kumimoji="1" lang="zh-CN" altLang="en-US"/>
          </a:p>
        </p:txBody>
      </p:sp>
      <p:sp>
        <p:nvSpPr>
          <p:cNvPr id="5" name="页脚占位符 4">
            <a:extLst>
              <a:ext uri="{FF2B5EF4-FFF2-40B4-BE49-F238E27FC236}">
                <a16:creationId xmlns:a16="http://schemas.microsoft.com/office/drawing/2014/main" id="{45B73678-DBC5-35FE-7720-4954170E715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C3E6E86-AEF4-9E51-11FF-DBEEDF93F677}"/>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093162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3943D8-D242-3E2F-C24F-4E005E76AE4E}"/>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629DC73-6886-F0DB-9DA5-9ED96CE8253F}"/>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22B799C-9E0E-429F-C629-2A18626668DB}"/>
              </a:ext>
            </a:extLst>
          </p:cNvPr>
          <p:cNvSpPr>
            <a:spLocks noGrp="1"/>
          </p:cNvSpPr>
          <p:nvPr>
            <p:ph type="dt" sz="half" idx="10"/>
          </p:nvPr>
        </p:nvSpPr>
        <p:spPr/>
        <p:txBody>
          <a:bodyPr/>
          <a:lstStyle/>
          <a:p>
            <a:fld id="{092FA171-DF96-1B41-A089-FAB6FE9A340F}" type="datetimeFigureOut">
              <a:rPr kumimoji="1" lang="zh-CN" altLang="en-US" smtClean="0"/>
              <a:t>2025/10/10</a:t>
            </a:fld>
            <a:endParaRPr kumimoji="1" lang="zh-CN" altLang="en-US"/>
          </a:p>
        </p:txBody>
      </p:sp>
      <p:sp>
        <p:nvSpPr>
          <p:cNvPr id="5" name="页脚占位符 4">
            <a:extLst>
              <a:ext uri="{FF2B5EF4-FFF2-40B4-BE49-F238E27FC236}">
                <a16:creationId xmlns:a16="http://schemas.microsoft.com/office/drawing/2014/main" id="{8794BFC4-5811-57DC-FF5C-4868DB2AC9C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24A7796-940B-415F-C832-E381105EE3EB}"/>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449128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0E35921-9950-2FB0-6355-6B06F016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DD1B157-D31D-54B9-7D6A-F6D4AD6AC9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33F31D3-1A38-6B87-4306-66D57169E8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2FA171-DF96-1B41-A089-FAB6FE9A340F}" type="datetimeFigureOut">
              <a:rPr kumimoji="1" lang="zh-CN" altLang="en-US" smtClean="0"/>
              <a:t>2025/10/10</a:t>
            </a:fld>
            <a:endParaRPr kumimoji="1" lang="zh-CN" altLang="en-US"/>
          </a:p>
        </p:txBody>
      </p:sp>
      <p:sp>
        <p:nvSpPr>
          <p:cNvPr id="5" name="页脚占位符 4">
            <a:extLst>
              <a:ext uri="{FF2B5EF4-FFF2-40B4-BE49-F238E27FC236}">
                <a16:creationId xmlns:a16="http://schemas.microsoft.com/office/drawing/2014/main" id="{FBC11102-B856-C277-A8F6-8D6AF8F933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9D88C62-D975-E146-FD0A-E318C54052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232235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quizlet.com/study-guides/pols-1101-midterm-2-key-terms-review-fe50d865-3d53-437b-9b77-70df3462d078?funnelUUID=72497043-5a96-483f-a405-5e9de2876c20" TargetMode="External"/><Relationship Id="rId2" Type="http://schemas.openxmlformats.org/officeDocument/2006/relationships/hyperlink" Target="https://quizlet.com/954378427/pols-1101-midterm-2-key-terms-review-flash-cards/?funnelUUID=00accdac-af35-4659-851e-fdf4954236fc"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8E6EF4-2BC6-E096-750F-ECCBB9D42F48}"/>
              </a:ext>
            </a:extLst>
          </p:cNvPr>
          <p:cNvSpPr>
            <a:spLocks noGrp="1"/>
          </p:cNvSpPr>
          <p:nvPr>
            <p:ph type="ctrTitle"/>
          </p:nvPr>
        </p:nvSpPr>
        <p:spPr>
          <a:xfrm>
            <a:off x="1373606" y="807635"/>
            <a:ext cx="9444788" cy="1767123"/>
          </a:xfrm>
        </p:spPr>
        <p:txBody>
          <a:bodyPr>
            <a:normAutofit/>
          </a:bodyPr>
          <a:lstStyle/>
          <a:p>
            <a:pPr>
              <a:lnSpc>
                <a:spcPct val="100000"/>
              </a:lnSpc>
            </a:pPr>
            <a:r>
              <a:rPr kumimoji="1" lang="en-US" altLang="zh-CN" sz="5000" b="1" dirty="0">
                <a:latin typeface="Century Gothic" panose="020B0502020202020204" pitchFamily="34" charset="0"/>
              </a:rPr>
              <a:t>9. Bureaucracy </a:t>
            </a:r>
            <a:br>
              <a:rPr kumimoji="1" lang="en-US" altLang="zh-CN" sz="5000" b="1" dirty="0">
                <a:latin typeface="Century Gothic" panose="020B0502020202020204" pitchFamily="34" charset="0"/>
              </a:rPr>
            </a:br>
            <a:r>
              <a:rPr kumimoji="1" lang="en-US" altLang="zh-CN" sz="5000" b="1" dirty="0">
                <a:latin typeface="Century Gothic" panose="020B0502020202020204" pitchFamily="34" charset="0"/>
              </a:rPr>
              <a:t>&amp; Mid-term 2 Review</a:t>
            </a:r>
            <a:endParaRPr kumimoji="1" lang="zh-CN" altLang="en-US" sz="5000" dirty="0">
              <a:latin typeface="Century Gothic" panose="020B0502020202020204" pitchFamily="34" charset="0"/>
            </a:endParaRPr>
          </a:p>
        </p:txBody>
      </p:sp>
      <p:sp>
        <p:nvSpPr>
          <p:cNvPr id="3" name="副标题 2">
            <a:extLst>
              <a:ext uri="{FF2B5EF4-FFF2-40B4-BE49-F238E27FC236}">
                <a16:creationId xmlns:a16="http://schemas.microsoft.com/office/drawing/2014/main" id="{BD47D000-FF03-80F2-FC6B-25D1B58BDF12}"/>
              </a:ext>
            </a:extLst>
          </p:cNvPr>
          <p:cNvSpPr>
            <a:spLocks noGrp="1"/>
          </p:cNvSpPr>
          <p:nvPr>
            <p:ph type="subTitle" idx="1"/>
          </p:nvPr>
        </p:nvSpPr>
        <p:spPr>
          <a:xfrm>
            <a:off x="1524000" y="3428998"/>
            <a:ext cx="9144000" cy="2982311"/>
          </a:xfrm>
        </p:spPr>
        <p:txBody>
          <a:bodyPr>
            <a:normAutofit lnSpcReduction="10000"/>
          </a:bodyPr>
          <a:lstStyle/>
          <a:p>
            <a:r>
              <a:rPr kumimoji="1" lang="en-US" altLang="zh-CN" b="1" dirty="0">
                <a:latin typeface="Century Gothic" panose="020B0502020202020204" pitchFamily="34" charset="0"/>
              </a:rPr>
              <a:t>Breakout Sessions</a:t>
            </a:r>
          </a:p>
          <a:p>
            <a:r>
              <a:rPr kumimoji="1" lang="en-US" altLang="zh-CN" b="1" dirty="0">
                <a:latin typeface="Century Gothic" panose="020B0502020202020204" pitchFamily="34" charset="0"/>
              </a:rPr>
              <a:t>POLS 1101</a:t>
            </a:r>
          </a:p>
          <a:p>
            <a:r>
              <a:rPr kumimoji="1" lang="en-US" altLang="zh-CN" b="1" dirty="0">
                <a:latin typeface="Century Gothic" panose="020B0502020202020204" pitchFamily="34" charset="0"/>
              </a:rPr>
              <a:t>12:40pm-1:30pm</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Park</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Hall</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145</a:t>
            </a:r>
            <a:r>
              <a:rPr kumimoji="1" lang="zh-CN" altLang="en-US" b="1" dirty="0">
                <a:latin typeface="Century Gothic" panose="020B0502020202020204" pitchFamily="34" charset="0"/>
              </a:rPr>
              <a:t> </a:t>
            </a:r>
            <a:endParaRPr kumimoji="1" lang="en-US" altLang="zh-CN" b="1" dirty="0">
              <a:latin typeface="Century Gothic" panose="020B0502020202020204" pitchFamily="34" charset="0"/>
            </a:endParaRPr>
          </a:p>
          <a:p>
            <a:r>
              <a:rPr kumimoji="1" lang="en-US" altLang="zh-CN" b="1" dirty="0">
                <a:latin typeface="Century Gothic" panose="020B0502020202020204" pitchFamily="34" charset="0"/>
              </a:rPr>
              <a:t>&amp;</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1:50pm-2:40pm Leconte Hall 135</a:t>
            </a:r>
          </a:p>
          <a:p>
            <a:endParaRPr kumimoji="1" lang="en-US" altLang="zh-CN" b="1" dirty="0">
              <a:latin typeface="Century Gothic" panose="020B0502020202020204" pitchFamily="34" charset="0"/>
            </a:endParaRPr>
          </a:p>
          <a:p>
            <a:r>
              <a:rPr kumimoji="1" lang="en-US" altLang="zh-CN" b="1" dirty="0">
                <a:latin typeface="Century Gothic" panose="020B0502020202020204" pitchFamily="34" charset="0"/>
              </a:rPr>
              <a:t>SIYUAN (Siri) ZHAO</a:t>
            </a:r>
          </a:p>
          <a:p>
            <a:r>
              <a:rPr kumimoji="1" lang="en-US" altLang="zh-CN" b="1" dirty="0" err="1">
                <a:latin typeface="Century Gothic" panose="020B0502020202020204" pitchFamily="34" charset="0"/>
              </a:rPr>
              <a:t>Siri.Zhao@uga.edu</a:t>
            </a:r>
            <a:endParaRPr kumimoji="1" lang="zh-CN" altLang="en-US" b="1" dirty="0">
              <a:latin typeface="Century Gothic" panose="020B0502020202020204" pitchFamily="34" charset="0"/>
            </a:endParaRPr>
          </a:p>
        </p:txBody>
      </p:sp>
    </p:spTree>
    <p:extLst>
      <p:ext uri="{BB962C8B-B14F-4D97-AF65-F5344CB8AC3E}">
        <p14:creationId xmlns:p14="http://schemas.microsoft.com/office/powerpoint/2010/main" val="339674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778BB4-4865-3E7B-0D4E-C002FE68D6EB}"/>
              </a:ext>
            </a:extLst>
          </p:cNvPr>
          <p:cNvSpPr>
            <a:spLocks noGrp="1"/>
          </p:cNvSpPr>
          <p:nvPr>
            <p:ph type="title"/>
          </p:nvPr>
        </p:nvSpPr>
        <p:spPr>
          <a:xfrm>
            <a:off x="838200" y="0"/>
            <a:ext cx="10515600" cy="1325563"/>
          </a:xfrm>
        </p:spPr>
        <p:txBody>
          <a:bodyPr>
            <a:normAutofit/>
          </a:bodyPr>
          <a:lstStyle/>
          <a:p>
            <a:r>
              <a:rPr kumimoji="1" lang="en-US" altLang="zh-CN" sz="3600" b="1" dirty="0">
                <a:latin typeface="Century Gothic" panose="020B0502020202020204" pitchFamily="34" charset="0"/>
              </a:rPr>
              <a:t>Bureaucracy in a Democracy</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C1E27992-FA10-911D-8961-FB5AE68C2E5D}"/>
              </a:ext>
            </a:extLst>
          </p:cNvPr>
          <p:cNvSpPr>
            <a:spLocks noGrp="1"/>
          </p:cNvSpPr>
          <p:nvPr>
            <p:ph idx="1"/>
          </p:nvPr>
        </p:nvSpPr>
        <p:spPr>
          <a:xfrm>
            <a:off x="838200" y="1458403"/>
            <a:ext cx="10515600" cy="5814593"/>
          </a:xfrm>
        </p:spPr>
        <p:txBody>
          <a:bodyPr>
            <a:normAutofit/>
          </a:bodyPr>
          <a:lstStyle/>
          <a:p>
            <a:pPr>
              <a:lnSpc>
                <a:spcPct val="100000"/>
              </a:lnSpc>
            </a:pPr>
            <a:r>
              <a:rPr lang="en-US" altLang="zh-CN" sz="2200" b="1" dirty="0">
                <a:latin typeface="Century Gothic" panose="020B0502020202020204" pitchFamily="34" charset="0"/>
              </a:rPr>
              <a:t>Bureaucracy</a:t>
            </a:r>
            <a:r>
              <a:rPr lang="zh-CN" altLang="en-US" sz="2200" dirty="0">
                <a:latin typeface="Century Gothic" panose="020B0502020202020204" pitchFamily="34" charset="0"/>
              </a:rPr>
              <a:t> </a:t>
            </a:r>
            <a:r>
              <a:rPr lang="en-US" altLang="zh-CN" sz="2200" dirty="0">
                <a:latin typeface="Century Gothic" panose="020B0502020202020204" pitchFamily="34" charset="0"/>
              </a:rPr>
              <a:t>is an organization that administers or carries a set of activities. The authority of government bureaucracies comes from </a:t>
            </a:r>
            <a:r>
              <a:rPr lang="en-US" altLang="zh-CN" sz="2200" b="1" dirty="0">
                <a:latin typeface="Century Gothic" panose="020B0502020202020204" pitchFamily="34" charset="0"/>
              </a:rPr>
              <a:t>the rule of law</a:t>
            </a:r>
            <a:r>
              <a:rPr lang="en-US" altLang="zh-CN" sz="2200" dirty="0">
                <a:latin typeface="Century Gothic" panose="020B0502020202020204" pitchFamily="34" charset="0"/>
              </a:rPr>
              <a:t>.</a:t>
            </a:r>
          </a:p>
          <a:p>
            <a:pPr>
              <a:lnSpc>
                <a:spcPct val="100000"/>
              </a:lnSpc>
            </a:pPr>
            <a:r>
              <a:rPr lang="en-US" altLang="zh-CN" sz="2200" b="1" dirty="0">
                <a:latin typeface="Century Gothic" panose="020B0502020202020204" pitchFamily="34" charset="0"/>
              </a:rPr>
              <a:t>Bureaucrats</a:t>
            </a:r>
            <a:r>
              <a:rPr lang="en-US" altLang="zh-CN" sz="2200" dirty="0">
                <a:latin typeface="Century Gothic" panose="020B0502020202020204" pitchFamily="34" charset="0"/>
              </a:rPr>
              <a:t> are experts in their particular domains and have specific job responsibilities that fall within the bureaucracy’s hierarchy of authority. </a:t>
            </a:r>
          </a:p>
          <a:p>
            <a:pPr>
              <a:lnSpc>
                <a:spcPct val="100000"/>
              </a:lnSpc>
            </a:pPr>
            <a:endParaRPr lang="en-US" altLang="zh-CN" sz="1000" dirty="0">
              <a:latin typeface="Century Gothic" panose="020B0502020202020204" pitchFamily="34" charset="0"/>
            </a:endParaRPr>
          </a:p>
          <a:p>
            <a:pPr>
              <a:lnSpc>
                <a:spcPct val="100000"/>
              </a:lnSpc>
            </a:pPr>
            <a:r>
              <a:rPr lang="en-US" altLang="zh-CN" sz="2200" dirty="0">
                <a:latin typeface="Century Gothic" panose="020B0502020202020204" pitchFamily="34" charset="0"/>
              </a:rPr>
              <a:t>Unavoidable Tensions between </a:t>
            </a:r>
            <a:r>
              <a:rPr lang="en-US" altLang="zh-CN" sz="2200" b="1" dirty="0">
                <a:latin typeface="Century Gothic" panose="020B0502020202020204" pitchFamily="34" charset="0"/>
              </a:rPr>
              <a:t>demands of democracy </a:t>
            </a:r>
            <a:r>
              <a:rPr lang="en-US" altLang="zh-CN" sz="2200" dirty="0">
                <a:latin typeface="Century Gothic" panose="020B0502020202020204" pitchFamily="34" charset="0"/>
              </a:rPr>
              <a:t>and the </a:t>
            </a:r>
            <a:r>
              <a:rPr lang="en-US" altLang="zh-CN" sz="2200" b="1" dirty="0">
                <a:latin typeface="Century Gothic" panose="020B0502020202020204" pitchFamily="34" charset="0"/>
              </a:rPr>
              <a:t>imperatives of bureaucracy – </a:t>
            </a:r>
            <a:r>
              <a:rPr lang="en-US" altLang="zh-CN" sz="2200" b="1" dirty="0">
                <a:solidFill>
                  <a:srgbClr val="FF0000"/>
                </a:solidFill>
                <a:latin typeface="Century Gothic" panose="020B0502020202020204" pitchFamily="34" charset="0"/>
              </a:rPr>
              <a:t>role conflict</a:t>
            </a:r>
          </a:p>
          <a:p>
            <a:pPr lvl="1">
              <a:lnSpc>
                <a:spcPct val="100000"/>
              </a:lnSpc>
            </a:pPr>
            <a:r>
              <a:rPr lang="en-US" altLang="zh-CN" sz="2000" dirty="0">
                <a:latin typeface="Century Gothic" panose="020B0502020202020204" pitchFamily="34" charset="0"/>
              </a:rPr>
              <a:t>Aspirations of the people vs. things bureaucrats desire or require for their work</a:t>
            </a:r>
          </a:p>
          <a:p>
            <a:pPr lvl="1">
              <a:lnSpc>
                <a:spcPct val="100000"/>
              </a:lnSpc>
            </a:pPr>
            <a:r>
              <a:rPr lang="en-US" altLang="zh-CN" sz="2000" dirty="0">
                <a:latin typeface="Century Gothic" panose="020B0502020202020204" pitchFamily="34" charset="0"/>
              </a:rPr>
              <a:t>Most of the bureaucrats are not directly selected by voters.</a:t>
            </a:r>
            <a:endParaRPr kumimoji="1" lang="en-US" altLang="zh-CN" sz="2000" b="1" i="1" dirty="0">
              <a:latin typeface="Century Gothic" panose="020B0502020202020204" pitchFamily="34" charset="0"/>
            </a:endParaRPr>
          </a:p>
          <a:p>
            <a:pPr lvl="1">
              <a:lnSpc>
                <a:spcPct val="100000"/>
              </a:lnSpc>
            </a:pPr>
            <a:r>
              <a:rPr kumimoji="1" lang="en-US" altLang="zh-CN" sz="2000" dirty="0">
                <a:latin typeface="Century Gothic" panose="020B0502020202020204" pitchFamily="34" charset="0"/>
              </a:rPr>
              <a:t>Professionalism -&gt; Prefer Evidence-based decision making, See the value of operating in secret away from public view</a:t>
            </a:r>
          </a:p>
          <a:p>
            <a:pPr lvl="1">
              <a:lnSpc>
                <a:spcPct val="100000"/>
              </a:lnSpc>
            </a:pPr>
            <a:r>
              <a:rPr kumimoji="1" lang="en-US" altLang="zh-CN" sz="2000" dirty="0">
                <a:latin typeface="Century Gothic" panose="020B0502020202020204" pitchFamily="34" charset="0"/>
              </a:rPr>
              <a:t>Demands of democracy -&gt; </a:t>
            </a:r>
            <a:r>
              <a:rPr kumimoji="1" lang="en-US" altLang="zh-CN" sz="2000" b="1" dirty="0">
                <a:latin typeface="Century Gothic" panose="020B0502020202020204" pitchFamily="34" charset="0"/>
              </a:rPr>
              <a:t>high responsiveness </a:t>
            </a:r>
            <a:r>
              <a:rPr kumimoji="1" lang="en-US" altLang="zh-CN" sz="2000" dirty="0">
                <a:latin typeface="Century Gothic" panose="020B0502020202020204" pitchFamily="34" charset="0"/>
              </a:rPr>
              <a:t>-&gt; </a:t>
            </a:r>
            <a:r>
              <a:rPr kumimoji="1" lang="en-US" altLang="zh-CN" sz="2000" b="1" dirty="0">
                <a:latin typeface="Century Gothic" panose="020B0502020202020204" pitchFamily="34" charset="0"/>
              </a:rPr>
              <a:t>act (too) swiftly, decisively</a:t>
            </a:r>
            <a:r>
              <a:rPr kumimoji="1" lang="en-US" altLang="zh-CN" sz="2000" dirty="0">
                <a:latin typeface="Century Gothic" panose="020B0502020202020204" pitchFamily="34" charset="0"/>
              </a:rPr>
              <a:t>, which may be against professionalism as well as </a:t>
            </a:r>
            <a:r>
              <a:rPr lang="en-US" altLang="zh-CN" sz="2000" dirty="0">
                <a:latin typeface="Century Gothic" panose="020B0502020202020204" pitchFamily="34" charset="0"/>
              </a:rPr>
              <a:t>imperatives of bureaucracy </a:t>
            </a:r>
          </a:p>
          <a:p>
            <a:pPr lvl="2">
              <a:lnSpc>
                <a:spcPct val="100000"/>
              </a:lnSpc>
            </a:pPr>
            <a:r>
              <a:rPr lang="en-US" altLang="zh-CN" sz="1800" dirty="0">
                <a:latin typeface="Century Gothic" panose="020B0502020202020204" pitchFamily="34" charset="0"/>
              </a:rPr>
              <a:t>A way to eliminate such tensions: </a:t>
            </a:r>
            <a:r>
              <a:rPr lang="en-US" altLang="zh-CN" sz="1800" b="1" dirty="0">
                <a:solidFill>
                  <a:srgbClr val="FF0000"/>
                </a:solidFill>
                <a:latin typeface="Century Gothic" panose="020B0502020202020204" pitchFamily="34" charset="0"/>
              </a:rPr>
              <a:t>red tape </a:t>
            </a:r>
            <a:r>
              <a:rPr lang="en-US" altLang="zh-CN" sz="1800" b="1" dirty="0">
                <a:latin typeface="Century Gothic" panose="020B0502020202020204" pitchFamily="34" charset="0"/>
              </a:rPr>
              <a:t>(rules and other constraints that democracies demand that restrict bureaucrats’ behavior)</a:t>
            </a:r>
          </a:p>
        </p:txBody>
      </p:sp>
    </p:spTree>
    <p:extLst>
      <p:ext uri="{BB962C8B-B14F-4D97-AF65-F5344CB8AC3E}">
        <p14:creationId xmlns:p14="http://schemas.microsoft.com/office/powerpoint/2010/main" val="3961837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86F16-9FF2-0C95-D10C-7464FE9C74D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B9E344E-C485-BD9A-0D2F-144EA77D9CC2}"/>
              </a:ext>
            </a:extLst>
          </p:cNvPr>
          <p:cNvSpPr>
            <a:spLocks noGrp="1"/>
          </p:cNvSpPr>
          <p:nvPr>
            <p:ph type="title"/>
          </p:nvPr>
        </p:nvSpPr>
        <p:spPr>
          <a:xfrm>
            <a:off x="838200" y="0"/>
            <a:ext cx="10515600" cy="1325563"/>
          </a:xfrm>
        </p:spPr>
        <p:txBody>
          <a:bodyPr>
            <a:normAutofit/>
          </a:bodyPr>
          <a:lstStyle/>
          <a:p>
            <a:r>
              <a:rPr kumimoji="1" lang="en-US" altLang="zh-CN" sz="3600" b="1" dirty="0">
                <a:latin typeface="Century Gothic" panose="020B0502020202020204" pitchFamily="34" charset="0"/>
              </a:rPr>
              <a:t>Red Tape</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234BEA0A-7F6B-738C-2DB6-849C854CE64D}"/>
              </a:ext>
            </a:extLst>
          </p:cNvPr>
          <p:cNvSpPr>
            <a:spLocks noGrp="1"/>
          </p:cNvSpPr>
          <p:nvPr>
            <p:ph idx="1"/>
          </p:nvPr>
        </p:nvSpPr>
        <p:spPr>
          <a:xfrm>
            <a:off x="838199" y="1325563"/>
            <a:ext cx="11006797" cy="5134902"/>
          </a:xfrm>
        </p:spPr>
        <p:txBody>
          <a:bodyPr>
            <a:normAutofit/>
          </a:bodyPr>
          <a:lstStyle/>
          <a:p>
            <a:pPr>
              <a:lnSpc>
                <a:spcPct val="100000"/>
              </a:lnSpc>
            </a:pPr>
            <a:r>
              <a:rPr kumimoji="1" lang="en-US" altLang="zh-CN" sz="2200" b="1" dirty="0">
                <a:latin typeface="Century Gothic" panose="020B0502020202020204" pitchFamily="34" charset="0"/>
              </a:rPr>
              <a:t>Remember: </a:t>
            </a:r>
            <a:r>
              <a:rPr kumimoji="1" lang="en-US" altLang="zh-CN" sz="2200" dirty="0">
                <a:latin typeface="Century Gothic" panose="020B0502020202020204" pitchFamily="34" charset="0"/>
              </a:rPr>
              <a:t>Red tape refers to the unnecessary, redundant, even rigid rules that the bureaucrats face – so it depicts the inside dynamics of bureaucracies</a:t>
            </a:r>
          </a:p>
          <a:p>
            <a:pPr>
              <a:lnSpc>
                <a:spcPct val="100000"/>
              </a:lnSpc>
            </a:pPr>
            <a:r>
              <a:rPr kumimoji="1" lang="en-US" altLang="zh-CN" sz="2200" b="1" dirty="0">
                <a:latin typeface="Century Gothic" panose="020B0502020202020204" pitchFamily="34" charset="0"/>
              </a:rPr>
              <a:t>Examples</a:t>
            </a:r>
          </a:p>
          <a:p>
            <a:pPr lvl="1">
              <a:lnSpc>
                <a:spcPct val="100000"/>
              </a:lnSpc>
            </a:pPr>
            <a:r>
              <a:rPr kumimoji="1" lang="en-US" altLang="zh-CN" sz="2000" dirty="0">
                <a:latin typeface="Century Gothic" panose="020B0502020202020204" pitchFamily="34" charset="0"/>
              </a:rPr>
              <a:t>Federal-level: lengthy budget approval processes</a:t>
            </a:r>
            <a:r>
              <a:rPr kumimoji="1" lang="en-US" altLang="zh-CN" sz="2000" dirty="0">
                <a:latin typeface="Constantia" panose="02030602050306030303" pitchFamily="18" charset="0"/>
              </a:rPr>
              <a:t>. </a:t>
            </a:r>
            <a:r>
              <a:rPr lang="en-US" altLang="zh-CN" sz="2000" dirty="0">
                <a:latin typeface="Constantia" panose="02030602050306030303" pitchFamily="18" charset="0"/>
              </a:rPr>
              <a:t>The proposed budget must often pass through multiple layers—division, agency, department, and finally the Office of Management and Budget (OMB). This process can take months or even a year.</a:t>
            </a:r>
          </a:p>
          <a:p>
            <a:pPr lvl="1">
              <a:lnSpc>
                <a:spcPct val="100000"/>
              </a:lnSpc>
            </a:pPr>
            <a:r>
              <a:rPr kumimoji="1" lang="en-US" altLang="zh-CN" sz="2000" dirty="0">
                <a:latin typeface="Century Gothic" panose="020B0502020202020204" pitchFamily="34" charset="0"/>
              </a:rPr>
              <a:t>State-level: </a:t>
            </a:r>
            <a:r>
              <a:rPr lang="en-US" altLang="zh-CN" sz="2000" dirty="0">
                <a:latin typeface="Century Gothic" panose="020B0502020202020204" pitchFamily="34" charset="0"/>
              </a:rPr>
              <a:t>distributing federal education grants. </a:t>
            </a:r>
            <a:r>
              <a:rPr lang="en-US" altLang="zh-CN" sz="2000" dirty="0">
                <a:latin typeface="Constantia" panose="02030602050306030303" pitchFamily="18" charset="0"/>
              </a:rPr>
              <a:t>The state government can require school districts to submit numerous forms and performance reports. Different departments often demand overlapping data. Superintendents in Texas and New York have publicly complained that the burdensome grant processes “turn principals into full-time clerks.”</a:t>
            </a:r>
          </a:p>
          <a:p>
            <a:pPr>
              <a:lnSpc>
                <a:spcPct val="100000"/>
              </a:lnSpc>
            </a:pPr>
            <a:r>
              <a:rPr kumimoji="1" lang="en-US" altLang="zh-CN" sz="2200" dirty="0">
                <a:latin typeface="Century Gothic" panose="020B0502020202020204" pitchFamily="34" charset="0"/>
              </a:rPr>
              <a:t>But… </a:t>
            </a:r>
            <a:r>
              <a:rPr kumimoji="1" lang="en-US" altLang="zh-CN" sz="2200" b="1" dirty="0">
                <a:solidFill>
                  <a:srgbClr val="FF0000"/>
                </a:solidFill>
                <a:latin typeface="Century Gothic" panose="020B0502020202020204" pitchFamily="34" charset="0"/>
              </a:rPr>
              <a:t>Are there any advantages of red tape?</a:t>
            </a:r>
          </a:p>
          <a:p>
            <a:pPr lvl="1">
              <a:lnSpc>
                <a:spcPct val="100000"/>
              </a:lnSpc>
            </a:pPr>
            <a:r>
              <a:rPr kumimoji="1" lang="en-US" altLang="zh-CN" sz="2000" dirty="0">
                <a:latin typeface="Century Gothic" panose="020B0502020202020204" pitchFamily="34" charset="0"/>
              </a:rPr>
              <a:t>Don’t forget why red tape is produced!</a:t>
            </a:r>
          </a:p>
          <a:p>
            <a:pPr lvl="1">
              <a:lnSpc>
                <a:spcPct val="100000"/>
              </a:lnSpc>
            </a:pPr>
            <a:r>
              <a:rPr kumimoji="1" lang="en-US" altLang="zh-CN" sz="2000" dirty="0">
                <a:latin typeface="Century Gothic" panose="020B0502020202020204" pitchFamily="34" charset="0"/>
              </a:rPr>
              <a:t>So, </a:t>
            </a:r>
            <a:r>
              <a:rPr kumimoji="1" lang="en-US" altLang="zh-CN" sz="2000" dirty="0">
                <a:solidFill>
                  <a:srgbClr val="FF0000"/>
                </a:solidFill>
                <a:latin typeface="Century Gothic" panose="020B0502020202020204" pitchFamily="34" charset="0"/>
              </a:rPr>
              <a:t>how can it “</a:t>
            </a:r>
            <a:r>
              <a:rPr lang="en-US" altLang="zh-CN" sz="2000" dirty="0">
                <a:solidFill>
                  <a:srgbClr val="FF0000"/>
                </a:solidFill>
                <a:latin typeface="Century Gothic" panose="020B0502020202020204" pitchFamily="34" charset="0"/>
              </a:rPr>
              <a:t>eliminate tensions between </a:t>
            </a:r>
            <a:r>
              <a:rPr lang="en-US" altLang="zh-CN" sz="2000" b="1" dirty="0">
                <a:solidFill>
                  <a:srgbClr val="FF0000"/>
                </a:solidFill>
                <a:latin typeface="Century Gothic" panose="020B0502020202020204" pitchFamily="34" charset="0"/>
              </a:rPr>
              <a:t>demands of democracy </a:t>
            </a:r>
            <a:r>
              <a:rPr lang="en-US" altLang="zh-CN" sz="2000" dirty="0">
                <a:solidFill>
                  <a:srgbClr val="FF0000"/>
                </a:solidFill>
                <a:latin typeface="Century Gothic" panose="020B0502020202020204" pitchFamily="34" charset="0"/>
              </a:rPr>
              <a:t>and the </a:t>
            </a:r>
            <a:r>
              <a:rPr lang="en-US" altLang="zh-CN" sz="2000" b="1" dirty="0">
                <a:solidFill>
                  <a:srgbClr val="FF0000"/>
                </a:solidFill>
                <a:latin typeface="Century Gothic" panose="020B0502020202020204" pitchFamily="34" charset="0"/>
              </a:rPr>
              <a:t>imperatives of bureaucracy”? </a:t>
            </a:r>
            <a:endParaRPr kumimoji="1" lang="en-US" altLang="zh-CN" sz="2000" dirty="0">
              <a:solidFill>
                <a:srgbClr val="FF0000"/>
              </a:solidFill>
              <a:latin typeface="Century Gothic" panose="020B0502020202020204" pitchFamily="34" charset="0"/>
            </a:endParaRPr>
          </a:p>
        </p:txBody>
      </p:sp>
    </p:spTree>
    <p:extLst>
      <p:ext uri="{BB962C8B-B14F-4D97-AF65-F5344CB8AC3E}">
        <p14:creationId xmlns:p14="http://schemas.microsoft.com/office/powerpoint/2010/main" val="3096586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9E965-1EC2-75B0-A138-BE54EB21F41C}"/>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6CCE3BBD-CC59-43AC-483F-5B2DB4E5E97C}"/>
              </a:ext>
            </a:extLst>
          </p:cNvPr>
          <p:cNvSpPr>
            <a:spLocks noGrp="1"/>
          </p:cNvSpPr>
          <p:nvPr>
            <p:ph idx="1"/>
          </p:nvPr>
        </p:nvSpPr>
        <p:spPr>
          <a:xfrm>
            <a:off x="548252" y="1165743"/>
            <a:ext cx="11095496" cy="5692257"/>
          </a:xfrm>
        </p:spPr>
        <p:txBody>
          <a:bodyPr>
            <a:normAutofit lnSpcReduction="10000"/>
          </a:bodyPr>
          <a:lstStyle/>
          <a:p>
            <a:pPr>
              <a:lnSpc>
                <a:spcPct val="100000"/>
              </a:lnSpc>
            </a:pPr>
            <a:r>
              <a:rPr lang="en-US" altLang="zh-CN" sz="2200" b="1" dirty="0">
                <a:latin typeface="Century Gothic" panose="020B0502020202020204" pitchFamily="34" charset="0"/>
              </a:rPr>
              <a:t>Bureaucratic Roles</a:t>
            </a:r>
            <a:endParaRPr kumimoji="1" lang="en-US" altLang="zh-CN" sz="2200" b="1" dirty="0">
              <a:latin typeface="Century Gothic" panose="020B0502020202020204" pitchFamily="34" charset="0"/>
            </a:endParaRPr>
          </a:p>
          <a:p>
            <a:pPr lvl="1">
              <a:lnSpc>
                <a:spcPct val="100000"/>
              </a:lnSpc>
            </a:pPr>
            <a:r>
              <a:rPr lang="en-US" altLang="zh-CN" sz="2000" dirty="0">
                <a:latin typeface="Century Gothic" panose="020B0502020202020204" pitchFamily="34" charset="0"/>
              </a:rPr>
              <a:t>Bureaucrats in the civil service system are mostly hired on their </a:t>
            </a:r>
            <a:r>
              <a:rPr lang="en-US" altLang="zh-CN" sz="2000" b="1" dirty="0">
                <a:solidFill>
                  <a:srgbClr val="FF0000"/>
                </a:solidFill>
                <a:latin typeface="Century Gothic" panose="020B0502020202020204" pitchFamily="34" charset="0"/>
              </a:rPr>
              <a:t>merit</a:t>
            </a:r>
            <a:r>
              <a:rPr lang="en-US" altLang="zh-CN" sz="2000" dirty="0">
                <a:latin typeface="Century Gothic" panose="020B0502020202020204" pitchFamily="34" charset="0"/>
              </a:rPr>
              <a:t>, not </a:t>
            </a:r>
            <a:r>
              <a:rPr lang="en-US" altLang="zh-CN" sz="2000" b="1" dirty="0">
                <a:solidFill>
                  <a:srgbClr val="FF0000"/>
                </a:solidFill>
                <a:latin typeface="Century Gothic" panose="020B0502020202020204" pitchFamily="34" charset="0"/>
              </a:rPr>
              <a:t>political affiliation</a:t>
            </a:r>
            <a:r>
              <a:rPr lang="en-US" altLang="zh-CN" sz="2000" dirty="0">
                <a:latin typeface="Century Gothic" panose="020B0502020202020204" pitchFamily="34" charset="0"/>
              </a:rPr>
              <a:t>. -&gt; Ensure the </a:t>
            </a:r>
            <a:r>
              <a:rPr lang="en-US" altLang="zh-CN" sz="2000" b="1" dirty="0">
                <a:latin typeface="Century Gothic" panose="020B0502020202020204" pitchFamily="34" charset="0"/>
              </a:rPr>
              <a:t>stability and professionalism </a:t>
            </a:r>
            <a:r>
              <a:rPr lang="en-US" altLang="zh-CN" sz="2000" dirty="0">
                <a:latin typeface="Century Gothic" panose="020B0502020202020204" pitchFamily="34" charset="0"/>
              </a:rPr>
              <a:t>of the executive branch</a:t>
            </a:r>
          </a:p>
          <a:p>
            <a:pPr lvl="2">
              <a:lnSpc>
                <a:spcPct val="100000"/>
              </a:lnSpc>
            </a:pPr>
            <a:r>
              <a:rPr lang="en-US" altLang="zh-CN" sz="1800" dirty="0">
                <a:latin typeface="Century Gothic" panose="020B0502020202020204" pitchFamily="34" charset="0"/>
              </a:rPr>
              <a:t>The Pendleton Act (1883), the Hatch Act (1939)</a:t>
            </a:r>
          </a:p>
          <a:p>
            <a:pPr lvl="2">
              <a:lnSpc>
                <a:spcPct val="100000"/>
              </a:lnSpc>
            </a:pPr>
            <a:r>
              <a:rPr lang="en-US" altLang="zh-CN" sz="1800" dirty="0">
                <a:latin typeface="Century Gothic" panose="020B0502020202020204" pitchFamily="34" charset="0"/>
              </a:rPr>
              <a:t>The “Submerged State”</a:t>
            </a:r>
          </a:p>
          <a:p>
            <a:pPr lvl="1">
              <a:lnSpc>
                <a:spcPct val="100000"/>
              </a:lnSpc>
            </a:pPr>
            <a:r>
              <a:rPr lang="en-US" altLang="zh-CN" sz="2000" dirty="0">
                <a:latin typeface="Century Gothic" panose="020B0502020202020204" pitchFamily="34" charset="0"/>
              </a:rPr>
              <a:t>Hierarchies: Operators -&gt; Managers -&gt; Executives (sometimes overlapping!)</a:t>
            </a:r>
            <a:endParaRPr lang="en-US" altLang="zh-CN" sz="2200" dirty="0">
              <a:latin typeface="Century Gothic" panose="020B0502020202020204" pitchFamily="34" charset="0"/>
            </a:endParaRPr>
          </a:p>
          <a:p>
            <a:pPr marL="457200" lvl="1" indent="0">
              <a:lnSpc>
                <a:spcPct val="100000"/>
              </a:lnSpc>
              <a:buNone/>
            </a:pPr>
            <a:endParaRPr kumimoji="1" lang="en-US" altLang="zh-CN" sz="1000" dirty="0">
              <a:latin typeface="Century Gothic" panose="020B0502020202020204" pitchFamily="34" charset="0"/>
            </a:endParaRPr>
          </a:p>
          <a:p>
            <a:pPr>
              <a:lnSpc>
                <a:spcPct val="100000"/>
              </a:lnSpc>
            </a:pPr>
            <a:r>
              <a:rPr kumimoji="1" lang="en-US" altLang="zh-CN" sz="2200" b="1" dirty="0">
                <a:latin typeface="Century Gothic" panose="020B0502020202020204" pitchFamily="34" charset="0"/>
              </a:rPr>
              <a:t>Bureaucratic Organization &amp; Network</a:t>
            </a:r>
          </a:p>
          <a:p>
            <a:pPr lvl="1">
              <a:lnSpc>
                <a:spcPct val="100000"/>
              </a:lnSpc>
            </a:pPr>
            <a:r>
              <a:rPr kumimoji="1" lang="en-US" altLang="zh-CN" sz="2000" dirty="0">
                <a:latin typeface="Century Gothic" panose="020B0502020202020204" pitchFamily="34" charset="0"/>
              </a:rPr>
              <a:t>Departments: head (secretaries) -&gt; members of the president’s cabinet</a:t>
            </a:r>
          </a:p>
          <a:p>
            <a:pPr lvl="1">
              <a:lnSpc>
                <a:spcPct val="100000"/>
              </a:lnSpc>
            </a:pPr>
            <a:r>
              <a:rPr kumimoji="1" lang="en-US" altLang="zh-CN" sz="2000" dirty="0">
                <a:latin typeface="Century Gothic" panose="020B0502020202020204" pitchFamily="34" charset="0"/>
              </a:rPr>
              <a:t>Independent agencies (directly under presidential control; </a:t>
            </a:r>
            <a:r>
              <a:rPr kumimoji="1" lang="en-US" altLang="zh-CN" sz="2000" b="1" dirty="0">
                <a:latin typeface="Century Gothic" panose="020B0502020202020204" pitchFamily="34" charset="0"/>
              </a:rPr>
              <a:t>regulatory commissions</a:t>
            </a:r>
            <a:r>
              <a:rPr kumimoji="1" lang="en-US" altLang="zh-CN" sz="2000" dirty="0">
                <a:latin typeface="Century Gothic" panose="020B0502020202020204" pitchFamily="34" charset="0"/>
              </a:rPr>
              <a:t>)</a:t>
            </a:r>
          </a:p>
          <a:p>
            <a:pPr lvl="1">
              <a:lnSpc>
                <a:spcPct val="100000"/>
              </a:lnSpc>
            </a:pPr>
            <a:r>
              <a:rPr kumimoji="1" lang="en-US" altLang="zh-CN" sz="2000" dirty="0">
                <a:latin typeface="Century Gothic" panose="020B0502020202020204" pitchFamily="34" charset="0"/>
              </a:rPr>
              <a:t>Government corporations (“state-owned enterprises”, SOE)</a:t>
            </a:r>
          </a:p>
          <a:p>
            <a:pPr lvl="1">
              <a:lnSpc>
                <a:spcPct val="100000"/>
              </a:lnSpc>
            </a:pPr>
            <a:r>
              <a:rPr kumimoji="1" lang="en-US" altLang="zh-CN" sz="2000" dirty="0">
                <a:latin typeface="Century Gothic" panose="020B0502020202020204" pitchFamily="34" charset="0"/>
              </a:rPr>
              <a:t>A bureaucratic network can involve the above institutions, as well as private profit-seeking and private nonprofit organizations</a:t>
            </a:r>
          </a:p>
          <a:p>
            <a:pPr lvl="2">
              <a:lnSpc>
                <a:spcPct val="100000"/>
              </a:lnSpc>
            </a:pPr>
            <a:r>
              <a:rPr kumimoji="1" lang="en-US" altLang="zh-CN" sz="1800" dirty="0">
                <a:solidFill>
                  <a:srgbClr val="FF0000"/>
                </a:solidFill>
                <a:latin typeface="Century Gothic" panose="020B0502020202020204" pitchFamily="34" charset="0"/>
              </a:rPr>
              <a:t>Comparisons between </a:t>
            </a:r>
            <a:r>
              <a:rPr kumimoji="1" lang="en-US" altLang="zh-CN" sz="1800" b="1" dirty="0">
                <a:solidFill>
                  <a:srgbClr val="FF0000"/>
                </a:solidFill>
                <a:latin typeface="Century Gothic" panose="020B0502020202020204" pitchFamily="34" charset="0"/>
              </a:rPr>
              <a:t>pure bureaucracy </a:t>
            </a:r>
            <a:r>
              <a:rPr kumimoji="1" lang="en-US" altLang="zh-CN" sz="1800" dirty="0">
                <a:solidFill>
                  <a:srgbClr val="FF0000"/>
                </a:solidFill>
                <a:latin typeface="Century Gothic" panose="020B0502020202020204" pitchFamily="34" charset="0"/>
              </a:rPr>
              <a:t>and </a:t>
            </a:r>
            <a:r>
              <a:rPr kumimoji="1" lang="en-US" altLang="zh-CN" sz="1800" b="1" dirty="0">
                <a:solidFill>
                  <a:srgbClr val="FF0000"/>
                </a:solidFill>
                <a:latin typeface="Century Gothic" panose="020B0502020202020204" pitchFamily="34" charset="0"/>
              </a:rPr>
              <a:t>bureaucratic network</a:t>
            </a:r>
          </a:p>
          <a:p>
            <a:pPr lvl="3">
              <a:lnSpc>
                <a:spcPct val="100000"/>
              </a:lnSpc>
            </a:pPr>
            <a:r>
              <a:rPr kumimoji="1" lang="en-US" altLang="zh-CN" sz="1600" b="1" dirty="0">
                <a:latin typeface="Century Gothic" panose="020B0502020202020204" pitchFamily="34" charset="0"/>
              </a:rPr>
              <a:t>Chains of command</a:t>
            </a:r>
          </a:p>
          <a:p>
            <a:pPr lvl="3">
              <a:lnSpc>
                <a:spcPct val="100000"/>
              </a:lnSpc>
            </a:pPr>
            <a:r>
              <a:rPr kumimoji="1" lang="en-US" altLang="zh-CN" sz="1600" dirty="0">
                <a:latin typeface="Century Gothic" panose="020B0502020202020204" pitchFamily="34" charset="0"/>
              </a:rPr>
              <a:t>Leadership (</a:t>
            </a:r>
            <a:r>
              <a:rPr kumimoji="1" lang="en-US" altLang="zh-CN" sz="1600" b="1" dirty="0">
                <a:latin typeface="Century Gothic" panose="020B0502020202020204" pitchFamily="34" charset="0"/>
              </a:rPr>
              <a:t>critical tasks, organizational culture, sense of mission</a:t>
            </a:r>
            <a:r>
              <a:rPr kumimoji="1" lang="en-US" altLang="zh-CN" sz="1600" dirty="0">
                <a:latin typeface="Century Gothic" panose="020B0502020202020204" pitchFamily="34" charset="0"/>
              </a:rPr>
              <a:t>)</a:t>
            </a:r>
          </a:p>
          <a:p>
            <a:pPr lvl="3">
              <a:lnSpc>
                <a:spcPct val="100000"/>
              </a:lnSpc>
            </a:pPr>
            <a:r>
              <a:rPr kumimoji="1" lang="en-US" altLang="zh-CN" sz="1600" b="1" dirty="0">
                <a:latin typeface="Century Gothic" panose="020B0502020202020204" pitchFamily="34" charset="0"/>
              </a:rPr>
              <a:t>Efficiency, Accountability, Transparency</a:t>
            </a:r>
          </a:p>
          <a:p>
            <a:pPr lvl="3">
              <a:lnSpc>
                <a:spcPct val="100000"/>
              </a:lnSpc>
            </a:pPr>
            <a:r>
              <a:rPr kumimoji="1" lang="en-US" altLang="zh-CN" sz="1600" b="1" dirty="0">
                <a:latin typeface="Century Gothic" panose="020B0502020202020204" pitchFamily="34" charset="0"/>
              </a:rPr>
              <a:t>Resources and expertise</a:t>
            </a:r>
          </a:p>
          <a:p>
            <a:pPr>
              <a:lnSpc>
                <a:spcPct val="100000"/>
              </a:lnSpc>
            </a:pPr>
            <a:endParaRPr kumimoji="1" lang="en-US" altLang="zh-CN" sz="2200" dirty="0">
              <a:latin typeface="Century Gothic" panose="020B0502020202020204" pitchFamily="34" charset="0"/>
            </a:endParaRPr>
          </a:p>
          <a:p>
            <a:pPr lvl="1">
              <a:lnSpc>
                <a:spcPct val="100000"/>
              </a:lnSpc>
            </a:pPr>
            <a:endParaRPr kumimoji="1" lang="en-US" altLang="zh-CN" sz="2200" dirty="0">
              <a:latin typeface="Century Gothic" panose="020B0502020202020204" pitchFamily="34" charset="0"/>
            </a:endParaRPr>
          </a:p>
        </p:txBody>
      </p:sp>
      <p:sp>
        <p:nvSpPr>
          <p:cNvPr id="7" name="标题 1">
            <a:extLst>
              <a:ext uri="{FF2B5EF4-FFF2-40B4-BE49-F238E27FC236}">
                <a16:creationId xmlns:a16="http://schemas.microsoft.com/office/drawing/2014/main" id="{DED413E5-1736-8558-749C-4C81B5413F49}"/>
              </a:ext>
            </a:extLst>
          </p:cNvPr>
          <p:cNvSpPr txBox="1">
            <a:spLocks/>
          </p:cNvSpPr>
          <p:nvPr/>
        </p:nvSpPr>
        <p:spPr>
          <a:xfrm>
            <a:off x="548252"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3600" b="1" dirty="0">
                <a:latin typeface="Century Gothic" panose="020B0502020202020204" pitchFamily="34" charset="0"/>
              </a:rPr>
              <a:t>Bureaucracies at Work</a:t>
            </a:r>
            <a:endParaRPr kumimoji="1" lang="zh-CN" altLang="en-US" sz="3600" b="1" dirty="0">
              <a:latin typeface="Century Gothic" panose="020B0502020202020204" pitchFamily="34" charset="0"/>
            </a:endParaRPr>
          </a:p>
        </p:txBody>
      </p:sp>
    </p:spTree>
    <p:extLst>
      <p:ext uri="{BB962C8B-B14F-4D97-AF65-F5344CB8AC3E}">
        <p14:creationId xmlns:p14="http://schemas.microsoft.com/office/powerpoint/2010/main" val="4048367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7828F-98B4-0444-DF92-C3D4A45A147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247DF19-AE2F-E17B-5060-D172DE001C8F}"/>
              </a:ext>
            </a:extLst>
          </p:cNvPr>
          <p:cNvSpPr>
            <a:spLocks noGrp="1"/>
          </p:cNvSpPr>
          <p:nvPr>
            <p:ph type="title"/>
          </p:nvPr>
        </p:nvSpPr>
        <p:spPr>
          <a:xfrm>
            <a:off x="691816" y="0"/>
            <a:ext cx="10808368" cy="1325563"/>
          </a:xfrm>
        </p:spPr>
        <p:txBody>
          <a:bodyPr>
            <a:normAutofit/>
          </a:bodyPr>
          <a:lstStyle/>
          <a:p>
            <a:r>
              <a:rPr kumimoji="1" lang="en-US" altLang="zh-CN" sz="3600" b="1" dirty="0">
                <a:latin typeface="Century Gothic" panose="020B0502020202020204" pitchFamily="34" charset="0"/>
              </a:rPr>
              <a:t>Bureaucratic Decision Making</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AA34461B-7676-BF5C-15AD-6B279E37D30A}"/>
              </a:ext>
            </a:extLst>
          </p:cNvPr>
          <p:cNvSpPr>
            <a:spLocks noGrp="1"/>
          </p:cNvSpPr>
          <p:nvPr>
            <p:ph idx="1"/>
          </p:nvPr>
        </p:nvSpPr>
        <p:spPr>
          <a:xfrm>
            <a:off x="691816" y="1199439"/>
            <a:ext cx="11203744" cy="5658561"/>
          </a:xfrm>
        </p:spPr>
        <p:txBody>
          <a:bodyPr>
            <a:normAutofit/>
          </a:bodyPr>
          <a:lstStyle/>
          <a:p>
            <a:pPr>
              <a:lnSpc>
                <a:spcPct val="100000"/>
              </a:lnSpc>
            </a:pPr>
            <a:r>
              <a:rPr lang="en-US" altLang="zh-CN" sz="2200" b="1" dirty="0">
                <a:latin typeface="Century Gothic" panose="020B0502020202020204" pitchFamily="34" charset="0"/>
              </a:rPr>
              <a:t>Criteria</a:t>
            </a:r>
            <a:endParaRPr lang="en-US" altLang="zh-CN" sz="1600" dirty="0">
              <a:latin typeface="Century Gothic" panose="020B0502020202020204" pitchFamily="34" charset="0"/>
            </a:endParaRPr>
          </a:p>
          <a:p>
            <a:pPr lvl="1">
              <a:lnSpc>
                <a:spcPct val="100000"/>
              </a:lnSpc>
            </a:pPr>
            <a:r>
              <a:rPr lang="en-US" altLang="zh-CN" sz="2000" b="1" i="1" dirty="0">
                <a:solidFill>
                  <a:srgbClr val="FF0000"/>
                </a:solidFill>
                <a:latin typeface="Century Gothic" panose="020B0502020202020204" pitchFamily="34" charset="0"/>
              </a:rPr>
              <a:t>Satisficing</a:t>
            </a:r>
            <a:r>
              <a:rPr lang="en-US" altLang="zh-CN" sz="2000" dirty="0">
                <a:latin typeface="Century Gothic" panose="020B0502020202020204" pitchFamily="34" charset="0"/>
              </a:rPr>
              <a:t> based on bounded rationality (H. Simon)</a:t>
            </a:r>
          </a:p>
          <a:p>
            <a:pPr>
              <a:lnSpc>
                <a:spcPct val="100000"/>
              </a:lnSpc>
            </a:pPr>
            <a:r>
              <a:rPr lang="en-US" altLang="zh-CN" sz="2200" b="1" dirty="0">
                <a:latin typeface="Century Gothic" panose="020B0502020202020204" pitchFamily="34" charset="0"/>
              </a:rPr>
              <a:t>Patterns</a:t>
            </a:r>
          </a:p>
          <a:p>
            <a:pPr lvl="1">
              <a:lnSpc>
                <a:spcPct val="100000"/>
              </a:lnSpc>
            </a:pPr>
            <a:r>
              <a:rPr lang="en-US" altLang="zh-CN" sz="2000" dirty="0">
                <a:latin typeface="Century Gothic" panose="020B0502020202020204" pitchFamily="34" charset="0"/>
              </a:rPr>
              <a:t>Less innovative – fear of failure, blame avoidance</a:t>
            </a:r>
          </a:p>
          <a:p>
            <a:pPr lvl="1">
              <a:lnSpc>
                <a:spcPct val="100000"/>
              </a:lnSpc>
            </a:pPr>
            <a:r>
              <a:rPr lang="en-US" altLang="zh-CN" sz="2000" dirty="0">
                <a:latin typeface="Century Gothic" panose="020B0502020202020204" pitchFamily="34" charset="0"/>
              </a:rPr>
              <a:t>So, </a:t>
            </a:r>
            <a:r>
              <a:rPr lang="en-US" altLang="zh-CN" sz="2000" b="1" i="1" dirty="0">
                <a:solidFill>
                  <a:srgbClr val="FF0000"/>
                </a:solidFill>
                <a:latin typeface="Century Gothic" panose="020B0502020202020204" pitchFamily="34" charset="0"/>
              </a:rPr>
              <a:t>incrementalism</a:t>
            </a:r>
            <a:r>
              <a:rPr lang="en-US" altLang="zh-CN" sz="2000" dirty="0">
                <a:latin typeface="Century Gothic" panose="020B0502020202020204" pitchFamily="34" charset="0"/>
              </a:rPr>
              <a:t> – policies and programs change bit-by-bit, step-by-step</a:t>
            </a:r>
          </a:p>
          <a:p>
            <a:pPr>
              <a:lnSpc>
                <a:spcPct val="100000"/>
              </a:lnSpc>
            </a:pPr>
            <a:r>
              <a:rPr lang="en-US" altLang="zh-CN" sz="2200" b="1" dirty="0">
                <a:latin typeface="Century Gothic" panose="020B0502020202020204" pitchFamily="34" charset="0"/>
              </a:rPr>
              <a:t>Factors bearing on bureaucratic decision making</a:t>
            </a:r>
          </a:p>
          <a:p>
            <a:pPr lvl="1">
              <a:lnSpc>
                <a:spcPct val="100000"/>
              </a:lnSpc>
            </a:pPr>
            <a:r>
              <a:rPr lang="en-US" altLang="zh-CN" sz="2000" dirty="0">
                <a:latin typeface="Century Gothic" panose="020B0502020202020204" pitchFamily="34" charset="0"/>
              </a:rPr>
              <a:t>External forces</a:t>
            </a:r>
          </a:p>
          <a:p>
            <a:pPr lvl="2">
              <a:lnSpc>
                <a:spcPct val="100000"/>
              </a:lnSpc>
            </a:pPr>
            <a:r>
              <a:rPr lang="en-US" altLang="zh-CN" sz="1800" dirty="0">
                <a:latin typeface="Century Gothic" panose="020B0502020202020204" pitchFamily="34" charset="0"/>
              </a:rPr>
              <a:t>Specific conditions in the environment: complexity? predictability? stability? …</a:t>
            </a:r>
          </a:p>
          <a:p>
            <a:pPr lvl="2">
              <a:lnSpc>
                <a:spcPct val="100000"/>
              </a:lnSpc>
            </a:pPr>
            <a:r>
              <a:rPr lang="en-US" altLang="zh-CN" sz="1800" dirty="0">
                <a:latin typeface="Century Gothic" panose="020B0502020202020204" pitchFamily="34" charset="0"/>
              </a:rPr>
              <a:t>Expectations of peers: on-the-job learning (peer effect)</a:t>
            </a:r>
          </a:p>
          <a:p>
            <a:pPr lvl="2">
              <a:lnSpc>
                <a:spcPct val="100000"/>
              </a:lnSpc>
            </a:pPr>
            <a:r>
              <a:rPr lang="en-US" altLang="zh-CN" sz="1800" dirty="0">
                <a:latin typeface="Century Gothic" panose="020B0502020202020204" pitchFamily="34" charset="0"/>
              </a:rPr>
              <a:t>Specific processes, routines, and technology that bureaucrats work with in their agencies</a:t>
            </a:r>
          </a:p>
          <a:p>
            <a:pPr lvl="1">
              <a:lnSpc>
                <a:spcPct val="100000"/>
              </a:lnSpc>
            </a:pPr>
            <a:r>
              <a:rPr lang="en-US" altLang="zh-CN" sz="2000" dirty="0">
                <a:latin typeface="Century Gothic" panose="020B0502020202020204" pitchFamily="34" charset="0"/>
              </a:rPr>
              <a:t>Internal forces (to bureaucrats themselves)</a:t>
            </a:r>
          </a:p>
          <a:p>
            <a:pPr lvl="2">
              <a:lnSpc>
                <a:spcPct val="100000"/>
              </a:lnSpc>
            </a:pPr>
            <a:r>
              <a:rPr lang="en-US" altLang="zh-CN" sz="1800" dirty="0">
                <a:latin typeface="Century Gothic" panose="020B0502020202020204" pitchFamily="34" charset="0"/>
              </a:rPr>
              <a:t>Prior experiences – framing effect (how do they structure the new information they get?)</a:t>
            </a:r>
          </a:p>
          <a:p>
            <a:pPr lvl="2">
              <a:lnSpc>
                <a:spcPct val="100000"/>
              </a:lnSpc>
            </a:pPr>
            <a:r>
              <a:rPr lang="en-US" altLang="zh-CN" sz="1800" dirty="0">
                <a:latin typeface="Century Gothic" panose="020B0502020202020204" pitchFamily="34" charset="0"/>
              </a:rPr>
              <a:t>Group identity / membership – Do I belong to a larger professional community?</a:t>
            </a:r>
          </a:p>
          <a:p>
            <a:pPr lvl="2">
              <a:lnSpc>
                <a:spcPct val="100000"/>
              </a:lnSpc>
            </a:pPr>
            <a:r>
              <a:rPr lang="en-US" altLang="zh-CN" sz="1800" dirty="0">
                <a:latin typeface="Century Gothic" panose="020B0502020202020204" pitchFamily="34" charset="0"/>
              </a:rPr>
              <a:t>Personal political ideology</a:t>
            </a:r>
          </a:p>
          <a:p>
            <a:pPr lvl="1">
              <a:lnSpc>
                <a:spcPct val="100000"/>
              </a:lnSpc>
            </a:pPr>
            <a:r>
              <a:rPr lang="en-US" altLang="zh-CN" sz="2000" dirty="0">
                <a:latin typeface="Century Gothic" panose="020B0502020202020204" pitchFamily="34" charset="0"/>
              </a:rPr>
              <a:t>Decision making is a complicated process -&gt; tensions between </a:t>
            </a:r>
            <a:r>
              <a:rPr lang="en-US" altLang="zh-CN" sz="2000" b="1" dirty="0">
                <a:latin typeface="Century Gothic" panose="020B0502020202020204" pitchFamily="34" charset="0"/>
              </a:rPr>
              <a:t>discretion &amp; control</a:t>
            </a:r>
          </a:p>
          <a:p>
            <a:pPr lvl="1">
              <a:lnSpc>
                <a:spcPct val="100000"/>
              </a:lnSpc>
            </a:pPr>
            <a:endParaRPr lang="en-US" altLang="zh-CN" sz="2000" dirty="0">
              <a:solidFill>
                <a:srgbClr val="FF0000"/>
              </a:solidFill>
              <a:latin typeface="Century Gothic" panose="020B0502020202020204" pitchFamily="34" charset="0"/>
            </a:endParaRPr>
          </a:p>
          <a:p>
            <a:pPr>
              <a:lnSpc>
                <a:spcPct val="100000"/>
              </a:lnSpc>
            </a:pPr>
            <a:endParaRPr lang="en-US" altLang="zh-CN" sz="2400" dirty="0">
              <a:latin typeface="Century Gothic" panose="020B0502020202020204" pitchFamily="34" charset="0"/>
            </a:endParaRPr>
          </a:p>
          <a:p>
            <a:pPr>
              <a:lnSpc>
                <a:spcPct val="100000"/>
              </a:lnSpc>
            </a:pPr>
            <a:endParaRPr lang="en-US" altLang="zh-CN" sz="2200" dirty="0">
              <a:latin typeface="Century Gothic" panose="020B0502020202020204" pitchFamily="34" charset="0"/>
            </a:endParaRPr>
          </a:p>
          <a:p>
            <a:pPr marL="457200" lvl="1" indent="0">
              <a:lnSpc>
                <a:spcPct val="100000"/>
              </a:lnSpc>
              <a:buNone/>
            </a:pPr>
            <a:endParaRPr kumimoji="1" lang="en-US" altLang="zh-CN" sz="2000" b="1" i="1" dirty="0">
              <a:latin typeface="Century Gothic" panose="020B0502020202020204" pitchFamily="34" charset="0"/>
            </a:endParaRPr>
          </a:p>
        </p:txBody>
      </p:sp>
    </p:spTree>
    <p:extLst>
      <p:ext uri="{BB962C8B-B14F-4D97-AF65-F5344CB8AC3E}">
        <p14:creationId xmlns:p14="http://schemas.microsoft.com/office/powerpoint/2010/main" val="3813278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EAFB5-6ABD-5B32-CDAB-3E148B04F16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9CCF04C-7BBB-32D1-F91E-EC4A93A24383}"/>
              </a:ext>
            </a:extLst>
          </p:cNvPr>
          <p:cNvSpPr>
            <a:spLocks noGrp="1"/>
          </p:cNvSpPr>
          <p:nvPr>
            <p:ph type="title"/>
          </p:nvPr>
        </p:nvSpPr>
        <p:spPr>
          <a:xfrm>
            <a:off x="480801" y="0"/>
            <a:ext cx="10808368" cy="1325563"/>
          </a:xfrm>
        </p:spPr>
        <p:txBody>
          <a:bodyPr>
            <a:normAutofit/>
          </a:bodyPr>
          <a:lstStyle/>
          <a:p>
            <a:r>
              <a:rPr kumimoji="1" lang="en-US" altLang="zh-CN" sz="3600" b="1" dirty="0">
                <a:latin typeface="Century Gothic" panose="020B0502020202020204" pitchFamily="34" charset="0"/>
              </a:rPr>
              <a:t>Representative Bureaucracy</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3879D70B-58B3-070E-4383-0B3E5649AC77}"/>
              </a:ext>
            </a:extLst>
          </p:cNvPr>
          <p:cNvSpPr>
            <a:spLocks noGrp="1"/>
          </p:cNvSpPr>
          <p:nvPr>
            <p:ph idx="1"/>
          </p:nvPr>
        </p:nvSpPr>
        <p:spPr>
          <a:xfrm>
            <a:off x="480801" y="1199439"/>
            <a:ext cx="11500184" cy="5440512"/>
          </a:xfrm>
        </p:spPr>
        <p:txBody>
          <a:bodyPr>
            <a:normAutofit/>
          </a:bodyPr>
          <a:lstStyle/>
          <a:p>
            <a:pPr>
              <a:lnSpc>
                <a:spcPct val="100000"/>
              </a:lnSpc>
            </a:pPr>
            <a:r>
              <a:rPr lang="en-US" altLang="zh-CN" sz="2200" b="1" dirty="0">
                <a:latin typeface="Century Gothic" panose="020B0502020202020204" pitchFamily="34" charset="0"/>
              </a:rPr>
              <a:t>Definition</a:t>
            </a:r>
            <a:endParaRPr lang="en-US" altLang="zh-CN" sz="1600" dirty="0">
              <a:latin typeface="Century Gothic" panose="020B0502020202020204" pitchFamily="34" charset="0"/>
            </a:endParaRPr>
          </a:p>
          <a:p>
            <a:pPr lvl="1">
              <a:lnSpc>
                <a:spcPct val="100000"/>
              </a:lnSpc>
            </a:pPr>
            <a:r>
              <a:rPr lang="en-US" altLang="zh-CN" sz="2000" dirty="0">
                <a:latin typeface="Century Gothic" panose="020B0502020202020204" pitchFamily="34" charset="0"/>
              </a:rPr>
              <a:t>Government bureaucracies with bureaucrats who share personal characteristics with the communities they serve are more likely to represent the interests of them.</a:t>
            </a:r>
          </a:p>
          <a:p>
            <a:pPr lvl="1">
              <a:lnSpc>
                <a:spcPct val="100000"/>
              </a:lnSpc>
            </a:pPr>
            <a:endParaRPr lang="en-US" altLang="zh-CN" sz="1000" dirty="0">
              <a:latin typeface="Century Gothic" panose="020B0502020202020204" pitchFamily="34" charset="0"/>
            </a:endParaRPr>
          </a:p>
          <a:p>
            <a:pPr>
              <a:lnSpc>
                <a:spcPct val="100000"/>
              </a:lnSpc>
            </a:pPr>
            <a:r>
              <a:rPr lang="en-US" altLang="zh-CN" sz="2200" b="1" dirty="0">
                <a:latin typeface="Century Gothic" panose="020B0502020202020204" pitchFamily="34" charset="0"/>
              </a:rPr>
              <a:t>Passive / Active representation: descriptive / substantive</a:t>
            </a:r>
          </a:p>
          <a:p>
            <a:pPr lvl="1">
              <a:lnSpc>
                <a:spcPct val="100000"/>
              </a:lnSpc>
            </a:pPr>
            <a:r>
              <a:rPr lang="en-US" altLang="zh-CN" sz="2000" b="1" dirty="0">
                <a:latin typeface="Century Gothic" panose="020B0502020202020204" pitchFamily="34" charset="0"/>
              </a:rPr>
              <a:t>When bureaucracies passively represent the community, they are more likely to effectively provide active representation to all its members (but not necessary!)</a:t>
            </a:r>
            <a:r>
              <a:rPr lang="en-US" altLang="zh-CN" sz="2000" dirty="0">
                <a:latin typeface="Century Gothic" panose="020B0502020202020204" pitchFamily="34" charset="0"/>
              </a:rPr>
              <a:t>.</a:t>
            </a:r>
          </a:p>
          <a:p>
            <a:pPr lvl="1">
              <a:lnSpc>
                <a:spcPct val="100000"/>
              </a:lnSpc>
            </a:pPr>
            <a:r>
              <a:rPr lang="en-US" altLang="zh-CN" sz="2000" dirty="0">
                <a:latin typeface="Century Gothic" panose="020B0502020202020204" pitchFamily="34" charset="0"/>
              </a:rPr>
              <a:t>One condition: </a:t>
            </a:r>
            <a:r>
              <a:rPr lang="en-US" altLang="zh-CN" sz="2000" b="1" dirty="0">
                <a:solidFill>
                  <a:srgbClr val="FF0000"/>
                </a:solidFill>
                <a:latin typeface="Century Gothic" panose="020B0502020202020204" pitchFamily="34" charset="0"/>
              </a:rPr>
              <a:t>bureaucratic discretion</a:t>
            </a:r>
            <a:r>
              <a:rPr lang="en-US" altLang="zh-CN" sz="2000" dirty="0">
                <a:latin typeface="Century Gothic" panose="020B0502020202020204" pitchFamily="34" charset="0"/>
              </a:rPr>
              <a:t>, the ability of bureaucrats to use their professional judgment when deciding how to carry out a policy.</a:t>
            </a:r>
          </a:p>
          <a:p>
            <a:pPr lvl="1">
              <a:lnSpc>
                <a:spcPct val="100000"/>
              </a:lnSpc>
            </a:pPr>
            <a:r>
              <a:rPr lang="en-US" altLang="zh-CN" sz="2000" b="1" dirty="0">
                <a:latin typeface="Century Gothic" panose="020B0502020202020204" pitchFamily="34" charset="0"/>
              </a:rPr>
              <a:t>Mechanisms relating passive representation to active representation</a:t>
            </a:r>
          </a:p>
          <a:p>
            <a:pPr lvl="2">
              <a:lnSpc>
                <a:spcPct val="100000"/>
              </a:lnSpc>
            </a:pPr>
            <a:r>
              <a:rPr lang="en-US" altLang="zh-CN" sz="1800" dirty="0">
                <a:latin typeface="Century Gothic" panose="020B0502020202020204" pitchFamily="34" charset="0"/>
              </a:rPr>
              <a:t>Creating opportunities to ensure that people who share personal characteristics with individual bureaucrats are well served by their government agency.</a:t>
            </a:r>
          </a:p>
          <a:p>
            <a:pPr lvl="2">
              <a:lnSpc>
                <a:spcPct val="100000"/>
              </a:lnSpc>
            </a:pPr>
            <a:r>
              <a:rPr lang="en-US" altLang="zh-CN" sz="1800" dirty="0">
                <a:latin typeface="Century Gothic" panose="020B0502020202020204" pitchFamily="34" charset="0"/>
              </a:rPr>
              <a:t>Peer effects</a:t>
            </a:r>
          </a:p>
          <a:p>
            <a:pPr lvl="2">
              <a:lnSpc>
                <a:spcPct val="100000"/>
              </a:lnSpc>
            </a:pPr>
            <a:r>
              <a:rPr lang="en-US" altLang="zh-CN" sz="1800" b="1" dirty="0">
                <a:latin typeface="Century Gothic" panose="020B0502020202020204" pitchFamily="34" charset="0"/>
              </a:rPr>
              <a:t>Coproduction</a:t>
            </a:r>
            <a:r>
              <a:rPr lang="en-US" altLang="zh-CN" sz="1800" dirty="0">
                <a:latin typeface="Century Gothic" panose="020B0502020202020204" pitchFamily="34" charset="0"/>
              </a:rPr>
              <a:t> – communities and bureaucrats work together to serve the public</a:t>
            </a:r>
          </a:p>
          <a:p>
            <a:pPr lvl="2">
              <a:lnSpc>
                <a:spcPct val="100000"/>
              </a:lnSpc>
            </a:pPr>
            <a:r>
              <a:rPr lang="en-US" altLang="zh-CN" sz="1800" dirty="0">
                <a:latin typeface="Century Gothic" panose="020B0502020202020204" pitchFamily="34" charset="0"/>
              </a:rPr>
              <a:t>Formal mechanism to engage community members – e.g. </a:t>
            </a:r>
            <a:r>
              <a:rPr lang="en-US" altLang="zh-CN" sz="1800" b="1" dirty="0">
                <a:latin typeface="Century Gothic" panose="020B0502020202020204" pitchFamily="34" charset="0"/>
              </a:rPr>
              <a:t>agency advisory committee</a:t>
            </a:r>
          </a:p>
          <a:p>
            <a:pPr lvl="3">
              <a:lnSpc>
                <a:spcPct val="100000"/>
              </a:lnSpc>
            </a:pPr>
            <a:endParaRPr lang="en-US" altLang="zh-CN" sz="1600" dirty="0">
              <a:latin typeface="Century Gothic" panose="020B0502020202020204" pitchFamily="34" charset="0"/>
            </a:endParaRPr>
          </a:p>
          <a:p>
            <a:pPr lvl="1">
              <a:lnSpc>
                <a:spcPct val="100000"/>
              </a:lnSpc>
            </a:pPr>
            <a:endParaRPr lang="en-US" altLang="zh-CN" sz="2000" dirty="0">
              <a:latin typeface="Century Gothic" panose="020B0502020202020204" pitchFamily="34" charset="0"/>
            </a:endParaRPr>
          </a:p>
          <a:p>
            <a:pPr>
              <a:lnSpc>
                <a:spcPct val="100000"/>
              </a:lnSpc>
            </a:pPr>
            <a:endParaRPr lang="en-US" altLang="zh-CN" sz="2400" dirty="0">
              <a:latin typeface="Century Gothic" panose="020B0502020202020204" pitchFamily="34" charset="0"/>
            </a:endParaRPr>
          </a:p>
          <a:p>
            <a:pPr>
              <a:lnSpc>
                <a:spcPct val="100000"/>
              </a:lnSpc>
            </a:pPr>
            <a:endParaRPr lang="en-US" altLang="zh-CN" sz="2200" dirty="0">
              <a:latin typeface="Century Gothic" panose="020B0502020202020204" pitchFamily="34" charset="0"/>
            </a:endParaRPr>
          </a:p>
          <a:p>
            <a:pPr marL="457200" lvl="1" indent="0">
              <a:lnSpc>
                <a:spcPct val="100000"/>
              </a:lnSpc>
              <a:buNone/>
            </a:pPr>
            <a:endParaRPr kumimoji="1" lang="en-US" altLang="zh-CN" sz="2000" b="1" i="1" dirty="0">
              <a:latin typeface="Century Gothic" panose="020B0502020202020204" pitchFamily="34" charset="0"/>
            </a:endParaRPr>
          </a:p>
        </p:txBody>
      </p:sp>
    </p:spTree>
    <p:extLst>
      <p:ext uri="{BB962C8B-B14F-4D97-AF65-F5344CB8AC3E}">
        <p14:creationId xmlns:p14="http://schemas.microsoft.com/office/powerpoint/2010/main" val="3393920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6A159-6E09-DF20-2CF9-5B674EF48B2E}"/>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204DB59-FBA6-E571-4BCA-B4175B80B8C1}"/>
              </a:ext>
            </a:extLst>
          </p:cNvPr>
          <p:cNvSpPr>
            <a:spLocks noGrp="1"/>
          </p:cNvSpPr>
          <p:nvPr>
            <p:ph idx="1"/>
          </p:nvPr>
        </p:nvSpPr>
        <p:spPr>
          <a:xfrm>
            <a:off x="548252" y="858129"/>
            <a:ext cx="11451489" cy="6358597"/>
          </a:xfrm>
        </p:spPr>
        <p:txBody>
          <a:bodyPr>
            <a:normAutofit/>
          </a:bodyPr>
          <a:lstStyle/>
          <a:p>
            <a:pPr>
              <a:lnSpc>
                <a:spcPct val="100000"/>
              </a:lnSpc>
            </a:pPr>
            <a:r>
              <a:rPr lang="en-US" altLang="zh-CN" sz="2000" b="1" dirty="0">
                <a:latin typeface="Century Gothic" panose="020B0502020202020204" pitchFamily="34" charset="0"/>
              </a:rPr>
              <a:t>Enduring rivalry between </a:t>
            </a:r>
            <a:r>
              <a:rPr lang="en-US" altLang="zh-CN" sz="2000" b="1" dirty="0">
                <a:solidFill>
                  <a:srgbClr val="FF0000"/>
                </a:solidFill>
                <a:latin typeface="Century Gothic" panose="020B0502020202020204" pitchFamily="34" charset="0"/>
              </a:rPr>
              <a:t>Congress</a:t>
            </a:r>
            <a:r>
              <a:rPr lang="en-US" altLang="zh-CN" sz="2000" b="1" dirty="0">
                <a:latin typeface="Century Gothic" panose="020B0502020202020204" pitchFamily="34" charset="0"/>
              </a:rPr>
              <a:t> and </a:t>
            </a:r>
            <a:r>
              <a:rPr lang="en-US" altLang="zh-CN" sz="2000" b="1" dirty="0">
                <a:solidFill>
                  <a:srgbClr val="FF0000"/>
                </a:solidFill>
                <a:latin typeface="Century Gothic" panose="020B0502020202020204" pitchFamily="34" charset="0"/>
              </a:rPr>
              <a:t>President</a:t>
            </a:r>
            <a:r>
              <a:rPr lang="en-US" altLang="zh-CN" sz="2000" b="1" dirty="0">
                <a:latin typeface="Century Gothic" panose="020B0502020202020204" pitchFamily="34" charset="0"/>
              </a:rPr>
              <a:t> for control of the bureaucracy</a:t>
            </a:r>
          </a:p>
          <a:p>
            <a:pPr>
              <a:lnSpc>
                <a:spcPct val="100000"/>
              </a:lnSpc>
            </a:pPr>
            <a:r>
              <a:rPr lang="en-US" altLang="zh-CN" sz="2000" b="1" dirty="0">
                <a:latin typeface="Century Gothic" panose="020B0502020202020204" pitchFamily="34" charset="0"/>
              </a:rPr>
              <a:t>Why?</a:t>
            </a:r>
          </a:p>
          <a:p>
            <a:pPr lvl="1">
              <a:lnSpc>
                <a:spcPct val="100000"/>
              </a:lnSpc>
            </a:pPr>
            <a:r>
              <a:rPr kumimoji="1" lang="en-US" altLang="zh-CN" sz="1800" b="1" dirty="0">
                <a:latin typeface="Century Gothic" panose="020B0502020202020204" pitchFamily="34" charset="0"/>
              </a:rPr>
              <a:t>The Constitution itself</a:t>
            </a:r>
          </a:p>
          <a:p>
            <a:pPr lvl="2">
              <a:lnSpc>
                <a:spcPct val="100000"/>
              </a:lnSpc>
            </a:pPr>
            <a:r>
              <a:rPr kumimoji="1" lang="en-US" altLang="zh-CN" sz="1800" b="1" dirty="0">
                <a:latin typeface="Century Gothic" panose="020B0502020202020204" pitchFamily="34" charset="0"/>
              </a:rPr>
              <a:t>Congress: </a:t>
            </a:r>
            <a:r>
              <a:rPr kumimoji="1" lang="en-US" altLang="zh-CN" sz="1800" dirty="0">
                <a:latin typeface="Century Gothic" panose="020B0502020202020204" pitchFamily="34" charset="0"/>
              </a:rPr>
              <a:t>lawmaking branch -&gt; bureaucracies follow the laws they make.</a:t>
            </a:r>
            <a:br>
              <a:rPr kumimoji="1" lang="en-US" altLang="zh-CN" sz="1800" dirty="0">
                <a:latin typeface="Century Gothic" panose="020B0502020202020204" pitchFamily="34" charset="0"/>
              </a:rPr>
            </a:br>
            <a:r>
              <a:rPr kumimoji="1" lang="en-US" altLang="zh-CN" sz="1800" dirty="0">
                <a:latin typeface="Century Gothic" panose="020B0502020202020204" pitchFamily="34" charset="0"/>
              </a:rPr>
              <a:t>Besides, Congress’s enumerated powers are highly related to bureaucratic control.</a:t>
            </a:r>
          </a:p>
          <a:p>
            <a:pPr lvl="2">
              <a:lnSpc>
                <a:spcPct val="100000"/>
              </a:lnSpc>
            </a:pPr>
            <a:r>
              <a:rPr kumimoji="1" lang="en-US" altLang="zh-CN" sz="1800" b="1" dirty="0">
                <a:latin typeface="Century Gothic" panose="020B0502020202020204" pitchFamily="34" charset="0"/>
              </a:rPr>
              <a:t>President: </a:t>
            </a:r>
            <a:r>
              <a:rPr kumimoji="1" lang="en-US" altLang="zh-CN" sz="1800" dirty="0">
                <a:latin typeface="Century Gothic" panose="020B0502020202020204" pitchFamily="34" charset="0"/>
              </a:rPr>
              <a:t>the president’s job to “take Care that the Laws be faithfully executed”;</a:t>
            </a:r>
            <a:br>
              <a:rPr kumimoji="1" lang="en-US" altLang="zh-CN" sz="1800" dirty="0">
                <a:latin typeface="Century Gothic" panose="020B0502020202020204" pitchFamily="34" charset="0"/>
              </a:rPr>
            </a:br>
            <a:r>
              <a:rPr kumimoji="1" lang="en-US" altLang="zh-CN" sz="1800" dirty="0">
                <a:latin typeface="Century Gothic" panose="020B0502020202020204" pitchFamily="34" charset="0"/>
              </a:rPr>
              <a:t>“Commander in Chief of the Army and Navy”; power to nominate officials</a:t>
            </a:r>
            <a:endParaRPr kumimoji="1" lang="en-US" altLang="zh-CN" sz="1800" b="1" dirty="0">
              <a:latin typeface="Century Gothic" panose="020B0502020202020204" pitchFamily="34" charset="0"/>
            </a:endParaRPr>
          </a:p>
          <a:p>
            <a:pPr lvl="1">
              <a:lnSpc>
                <a:spcPct val="100000"/>
              </a:lnSpc>
            </a:pPr>
            <a:r>
              <a:rPr kumimoji="1" lang="en-US" altLang="zh-CN" sz="1800" b="1" dirty="0">
                <a:latin typeface="Century Gothic" panose="020B0502020202020204" pitchFamily="34" charset="0"/>
              </a:rPr>
              <a:t>The institutional and political perspectives</a:t>
            </a:r>
          </a:p>
          <a:p>
            <a:pPr lvl="2">
              <a:lnSpc>
                <a:spcPct val="100000"/>
              </a:lnSpc>
            </a:pPr>
            <a:r>
              <a:rPr kumimoji="1" lang="en-US" altLang="zh-CN" sz="1800" b="1" dirty="0">
                <a:latin typeface="Century Gothic" panose="020B0502020202020204" pitchFamily="34" charset="0"/>
              </a:rPr>
              <a:t>Congress</a:t>
            </a:r>
            <a:r>
              <a:rPr kumimoji="1" lang="en-US" altLang="zh-CN" sz="1800" dirty="0">
                <a:latin typeface="Century Gothic" panose="020B0502020202020204" pitchFamily="34" charset="0"/>
              </a:rPr>
              <a:t>: rely on the bureaucracies to serve the constituents and thus get their votes</a:t>
            </a:r>
          </a:p>
          <a:p>
            <a:pPr lvl="2">
              <a:lnSpc>
                <a:spcPct val="100000"/>
              </a:lnSpc>
            </a:pPr>
            <a:r>
              <a:rPr kumimoji="1" lang="en-US" altLang="zh-CN" sz="1800" b="1" dirty="0">
                <a:latin typeface="Century Gothic" panose="020B0502020202020204" pitchFamily="34" charset="0"/>
              </a:rPr>
              <a:t>President</a:t>
            </a:r>
            <a:r>
              <a:rPr kumimoji="1" lang="en-US" altLang="zh-CN" sz="1800" dirty="0">
                <a:latin typeface="Century Gothic" panose="020B0502020202020204" pitchFamily="34" charset="0"/>
              </a:rPr>
              <a:t>: need bureaucracies to achieve his cross-agency policy goals influencing the whole country</a:t>
            </a:r>
          </a:p>
          <a:p>
            <a:pPr>
              <a:lnSpc>
                <a:spcPct val="100000"/>
              </a:lnSpc>
            </a:pPr>
            <a:r>
              <a:rPr kumimoji="1" lang="en-US" altLang="zh-CN" sz="2000" b="1" dirty="0">
                <a:latin typeface="Century Gothic" panose="020B0502020202020204" pitchFamily="34" charset="0"/>
              </a:rPr>
              <a:t>What / Where? </a:t>
            </a:r>
          </a:p>
          <a:p>
            <a:pPr lvl="1">
              <a:lnSpc>
                <a:spcPct val="100000"/>
              </a:lnSpc>
            </a:pPr>
            <a:r>
              <a:rPr kumimoji="1" lang="en-US" altLang="zh-CN" sz="1800" b="1" dirty="0">
                <a:latin typeface="Century Gothic" panose="020B0502020202020204" pitchFamily="34" charset="0"/>
              </a:rPr>
              <a:t>Appointment: </a:t>
            </a:r>
            <a:r>
              <a:rPr kumimoji="1" lang="en-US" altLang="zh-CN" sz="1800" dirty="0">
                <a:latin typeface="Century Gothic" panose="020B0502020202020204" pitchFamily="34" charset="0"/>
              </a:rPr>
              <a:t>Nomination by President, some of which need consent from the Senate</a:t>
            </a:r>
          </a:p>
          <a:p>
            <a:pPr lvl="1">
              <a:lnSpc>
                <a:spcPct val="100000"/>
              </a:lnSpc>
            </a:pPr>
            <a:r>
              <a:rPr kumimoji="1" lang="en-US" altLang="zh-CN" sz="1800" b="1" dirty="0">
                <a:latin typeface="Century Gothic" panose="020B0502020202020204" pitchFamily="34" charset="0"/>
              </a:rPr>
              <a:t>Rule making: Regulations</a:t>
            </a:r>
            <a:r>
              <a:rPr kumimoji="1" lang="en-US" altLang="zh-CN" sz="1800" dirty="0">
                <a:latin typeface="Century Gothic" panose="020B0502020202020204" pitchFamily="34" charset="0"/>
              </a:rPr>
              <a:t> of the bureaucracy, where presidents can exert influence, and Congress can judge whether they are at odds with legislative intent</a:t>
            </a:r>
          </a:p>
          <a:p>
            <a:pPr lvl="1">
              <a:lnSpc>
                <a:spcPct val="100000"/>
              </a:lnSpc>
            </a:pPr>
            <a:r>
              <a:rPr kumimoji="1" lang="en-US" altLang="zh-CN" sz="1800" b="1" dirty="0">
                <a:latin typeface="Century Gothic" panose="020B0502020202020204" pitchFamily="34" charset="0"/>
              </a:rPr>
              <a:t>Congress oversight</a:t>
            </a:r>
            <a:r>
              <a:rPr kumimoji="1" lang="en-US" altLang="zh-CN" sz="1800" dirty="0">
                <a:latin typeface="Century Gothic" panose="020B0502020202020204" pitchFamily="34" charset="0"/>
              </a:rPr>
              <a:t>: Presidents dislike it since it takes extra time for bureaucrats to advance the president’s priorities; it can even ignite political scandals and embarrass presidents.</a:t>
            </a:r>
          </a:p>
          <a:p>
            <a:pPr lvl="2">
              <a:lnSpc>
                <a:spcPct val="100000"/>
              </a:lnSpc>
            </a:pPr>
            <a:r>
              <a:rPr kumimoji="1" lang="en-US" altLang="zh-CN" sz="1600" b="1" dirty="0">
                <a:latin typeface="Century Gothic" panose="020B0502020202020204" pitchFamily="34" charset="0"/>
              </a:rPr>
              <a:t>Police</a:t>
            </a:r>
            <a:r>
              <a:rPr kumimoji="1" lang="zh-CN" altLang="en-US" sz="1600" b="1" dirty="0">
                <a:latin typeface="Century Gothic" panose="020B0502020202020204" pitchFamily="34" charset="0"/>
              </a:rPr>
              <a:t> </a:t>
            </a:r>
            <a:r>
              <a:rPr kumimoji="1" lang="en-US" altLang="zh-CN" sz="1600" b="1" dirty="0">
                <a:latin typeface="Century Gothic" panose="020B0502020202020204" pitchFamily="34" charset="0"/>
              </a:rPr>
              <a:t>patrol</a:t>
            </a:r>
            <a:r>
              <a:rPr kumimoji="1" lang="zh-CN" altLang="en-US" sz="1600" b="1" dirty="0">
                <a:latin typeface="Century Gothic" panose="020B0502020202020204" pitchFamily="34" charset="0"/>
              </a:rPr>
              <a:t> </a:t>
            </a:r>
            <a:r>
              <a:rPr kumimoji="1" lang="en-US" altLang="zh-CN" sz="1600" b="1" dirty="0">
                <a:latin typeface="Century Gothic" panose="020B0502020202020204" pitchFamily="34" charset="0"/>
              </a:rPr>
              <a:t>oversight (proactive and direct); fire alarm oversight (reactive and indirect)</a:t>
            </a:r>
          </a:p>
          <a:p>
            <a:pPr marL="914400" lvl="2" indent="0">
              <a:lnSpc>
                <a:spcPct val="100000"/>
              </a:lnSpc>
              <a:buNone/>
            </a:pPr>
            <a:endParaRPr kumimoji="1" lang="en-US" altLang="zh-CN" sz="1400" dirty="0">
              <a:latin typeface="Century Gothic" panose="020B0502020202020204" pitchFamily="34" charset="0"/>
            </a:endParaRPr>
          </a:p>
        </p:txBody>
      </p:sp>
      <p:sp>
        <p:nvSpPr>
          <p:cNvPr id="7" name="标题 1">
            <a:extLst>
              <a:ext uri="{FF2B5EF4-FFF2-40B4-BE49-F238E27FC236}">
                <a16:creationId xmlns:a16="http://schemas.microsoft.com/office/drawing/2014/main" id="{C753FB3A-F8D3-064D-442A-DC7D8012FA2B}"/>
              </a:ext>
            </a:extLst>
          </p:cNvPr>
          <p:cNvSpPr txBox="1">
            <a:spLocks/>
          </p:cNvSpPr>
          <p:nvPr/>
        </p:nvSpPr>
        <p:spPr>
          <a:xfrm>
            <a:off x="548251" y="-140677"/>
            <a:ext cx="1164374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3200" b="1" dirty="0">
                <a:latin typeface="Century Gothic" panose="020B0502020202020204" pitchFamily="34" charset="0"/>
              </a:rPr>
              <a:t>Administrative Discretion &amp; Controlling the Bureaucracy</a:t>
            </a:r>
            <a:endParaRPr kumimoji="1" lang="zh-CN" altLang="en-US" sz="3200" b="1" dirty="0">
              <a:latin typeface="Century Gothic" panose="020B0502020202020204" pitchFamily="34" charset="0"/>
            </a:endParaRPr>
          </a:p>
        </p:txBody>
      </p:sp>
    </p:spTree>
    <p:extLst>
      <p:ext uri="{BB962C8B-B14F-4D97-AF65-F5344CB8AC3E}">
        <p14:creationId xmlns:p14="http://schemas.microsoft.com/office/powerpoint/2010/main" val="1282128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18204-E543-7A55-D818-275370D28318}"/>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6EE0B340-FD8E-B07F-4032-D2BE8498F2B0}"/>
              </a:ext>
            </a:extLst>
          </p:cNvPr>
          <p:cNvSpPr>
            <a:spLocks noGrp="1"/>
          </p:cNvSpPr>
          <p:nvPr>
            <p:ph idx="1"/>
          </p:nvPr>
        </p:nvSpPr>
        <p:spPr>
          <a:xfrm>
            <a:off x="548252" y="1325563"/>
            <a:ext cx="11095496" cy="5692257"/>
          </a:xfrm>
        </p:spPr>
        <p:txBody>
          <a:bodyPr>
            <a:normAutofit/>
          </a:bodyPr>
          <a:lstStyle/>
          <a:p>
            <a:pPr>
              <a:lnSpc>
                <a:spcPct val="100000"/>
              </a:lnSpc>
            </a:pPr>
            <a:r>
              <a:rPr kumimoji="1" lang="en-US" altLang="zh-CN" sz="2200" b="1" dirty="0">
                <a:solidFill>
                  <a:srgbClr val="FF0000"/>
                </a:solidFill>
                <a:latin typeface="Century Gothic" panose="020B0502020202020204" pitchFamily="34" charset="0"/>
              </a:rPr>
              <a:t>Courts</a:t>
            </a:r>
            <a:r>
              <a:rPr kumimoji="1" lang="zh-CN" altLang="en-US" sz="2200" b="1" dirty="0">
                <a:latin typeface="Century Gothic" panose="020B0502020202020204" pitchFamily="34" charset="0"/>
              </a:rPr>
              <a:t> </a:t>
            </a:r>
            <a:r>
              <a:rPr kumimoji="1" lang="en-US" altLang="zh-CN" sz="2200" b="1" dirty="0">
                <a:latin typeface="Century Gothic" panose="020B0502020202020204" pitchFamily="34" charset="0"/>
              </a:rPr>
              <a:t>and the bureaucracy – </a:t>
            </a:r>
            <a:r>
              <a:rPr lang="en-US" altLang="zh-CN" sz="2200" b="1" dirty="0">
                <a:latin typeface="Century Gothic" panose="020B0502020202020204" pitchFamily="34" charset="0"/>
              </a:rPr>
              <a:t>Supreme Court strikes down </a:t>
            </a:r>
            <a:r>
              <a:rPr lang="en-US" altLang="zh-CN" sz="2200" b="1" i="1" dirty="0">
                <a:latin typeface="Century Gothic" panose="020B0502020202020204" pitchFamily="34" charset="0"/>
              </a:rPr>
              <a:t>Chevron</a:t>
            </a:r>
            <a:r>
              <a:rPr lang="en-US" altLang="zh-CN" sz="2200" b="1" dirty="0">
                <a:latin typeface="Century Gothic" panose="020B0502020202020204" pitchFamily="34" charset="0"/>
              </a:rPr>
              <a:t>, curtailing power of federal agencies</a:t>
            </a:r>
          </a:p>
          <a:p>
            <a:pPr lvl="1">
              <a:lnSpc>
                <a:spcPct val="100000"/>
              </a:lnSpc>
            </a:pPr>
            <a:r>
              <a:rPr kumimoji="1" lang="en-US" altLang="zh-CN" sz="2000" b="1" dirty="0">
                <a:latin typeface="Century Gothic" panose="020B0502020202020204" pitchFamily="34" charset="0"/>
              </a:rPr>
              <a:t>Background</a:t>
            </a:r>
            <a:r>
              <a:rPr kumimoji="1" lang="en-US" altLang="zh-CN" sz="2000" dirty="0">
                <a:latin typeface="Century Gothic" panose="020B0502020202020204" pitchFamily="34" charset="0"/>
              </a:rPr>
              <a:t>: Chevron</a:t>
            </a:r>
            <a:r>
              <a:rPr kumimoji="1" lang="zh-CN" altLang="en-US" sz="2000" dirty="0">
                <a:latin typeface="Century Gothic" panose="020B0502020202020204" pitchFamily="34" charset="0"/>
              </a:rPr>
              <a:t> </a:t>
            </a:r>
            <a:r>
              <a:rPr kumimoji="1" lang="en-US" altLang="zh-CN" sz="2000" dirty="0">
                <a:latin typeface="Century Gothic" panose="020B0502020202020204" pitchFamily="34" charset="0"/>
              </a:rPr>
              <a:t>v. </a:t>
            </a:r>
            <a:r>
              <a:rPr lang="en-US" altLang="zh-CN" sz="2000" dirty="0">
                <a:latin typeface="Century Gothic" panose="020B0502020202020204" pitchFamily="34" charset="0"/>
              </a:rPr>
              <a:t>Natural Resources Defense Council (1984)</a:t>
            </a:r>
          </a:p>
          <a:p>
            <a:pPr lvl="2">
              <a:lnSpc>
                <a:spcPct val="100000"/>
              </a:lnSpc>
            </a:pPr>
            <a:r>
              <a:rPr lang="en-US" altLang="zh-CN" sz="1800" dirty="0">
                <a:latin typeface="Century Gothic" panose="020B0502020202020204" pitchFamily="34" charset="0"/>
              </a:rPr>
              <a:t>Should courts defer to a federal agency’s interpretation of a statute when the statute is ambiguous or unclear?</a:t>
            </a:r>
          </a:p>
          <a:p>
            <a:pPr lvl="2"/>
            <a:r>
              <a:rPr lang="en-US" altLang="zh-CN" sz="1800" dirty="0">
                <a:latin typeface="Century Gothic" panose="020B0502020202020204" pitchFamily="34" charset="0"/>
              </a:rPr>
              <a:t>The Court ruled unanimously (6–0) that when statutory language is ambiguous, courts must apply the </a:t>
            </a:r>
            <a:r>
              <a:rPr lang="en-US" altLang="zh-CN" sz="1800" b="1" dirty="0">
                <a:latin typeface="Century Gothic" panose="020B0502020202020204" pitchFamily="34" charset="0"/>
              </a:rPr>
              <a:t>Chevron Two-Step Test</a:t>
            </a:r>
            <a:r>
              <a:rPr lang="en-US" altLang="zh-CN" sz="1800" dirty="0">
                <a:latin typeface="Century Gothic" panose="020B0502020202020204" pitchFamily="34" charset="0"/>
              </a:rPr>
              <a:t>:</a:t>
            </a:r>
          </a:p>
          <a:p>
            <a:pPr marL="914400" lvl="2" indent="0">
              <a:buNone/>
            </a:pPr>
            <a:r>
              <a:rPr lang="en-US" altLang="zh-CN" sz="1800" dirty="0">
                <a:latin typeface="Constantia" panose="02030602050306030303" pitchFamily="18" charset="0"/>
              </a:rPr>
              <a:t>1) If Congress’s intent is clear, courts must follow that intent.</a:t>
            </a:r>
          </a:p>
          <a:p>
            <a:pPr marL="914400" lvl="2" indent="0">
              <a:buNone/>
            </a:pPr>
            <a:r>
              <a:rPr lang="en-US" altLang="zh-CN" sz="1800" dirty="0">
                <a:latin typeface="Constantia" panose="02030602050306030303" pitchFamily="18" charset="0"/>
              </a:rPr>
              <a:t>2) If Congress’s intent is unclear, and the agency’s interpretation is “reasonable”, courts should defer to the agency’s interpretation.</a:t>
            </a:r>
          </a:p>
          <a:p>
            <a:pPr marL="914400" lvl="2" indent="0">
              <a:buNone/>
            </a:pPr>
            <a:endParaRPr lang="en-US" altLang="zh-CN" sz="1800" dirty="0">
              <a:latin typeface="Constantia" panose="02030602050306030303" pitchFamily="18" charset="0"/>
            </a:endParaRPr>
          </a:p>
          <a:p>
            <a:pPr lvl="2"/>
            <a:r>
              <a:rPr lang="en-US" altLang="zh-CN" sz="1800" dirty="0">
                <a:latin typeface="Century Gothic" panose="020B0502020202020204" pitchFamily="34" charset="0"/>
              </a:rPr>
              <a:t>The case established the principle of </a:t>
            </a:r>
            <a:r>
              <a:rPr lang="en-US" altLang="zh-CN" sz="1800" b="1" dirty="0">
                <a:latin typeface="Century Gothic" panose="020B0502020202020204" pitchFamily="34" charset="0"/>
              </a:rPr>
              <a:t>Chevron Deference</a:t>
            </a:r>
            <a:r>
              <a:rPr lang="en-US" altLang="zh-CN" sz="1800" dirty="0">
                <a:latin typeface="Century Gothic" panose="020B0502020202020204" pitchFamily="34" charset="0"/>
              </a:rPr>
              <a:t>, one of the cornerstones of U.S. administrative law. </a:t>
            </a:r>
          </a:p>
          <a:p>
            <a:pPr lvl="2"/>
            <a:r>
              <a:rPr lang="en-US" altLang="zh-CN" sz="1800" dirty="0">
                <a:latin typeface="Century Gothic" panose="020B0502020202020204" pitchFamily="34" charset="0"/>
              </a:rPr>
              <a:t>It significantly expanded </a:t>
            </a:r>
            <a:r>
              <a:rPr lang="en-US" altLang="zh-CN" sz="1800" b="1" dirty="0">
                <a:latin typeface="Century Gothic" panose="020B0502020202020204" pitchFamily="34" charset="0"/>
              </a:rPr>
              <a:t>the authority of federal agencies in statutory interpretation</a:t>
            </a:r>
            <a:r>
              <a:rPr lang="en-US" altLang="zh-CN" sz="1800" dirty="0">
                <a:latin typeface="Century Gothic" panose="020B0502020202020204" pitchFamily="34" charset="0"/>
              </a:rPr>
              <a:t>, since courts generally defer to agencies as long as their interpretations are reasonable.</a:t>
            </a:r>
          </a:p>
          <a:p>
            <a:pPr lvl="1">
              <a:lnSpc>
                <a:spcPct val="100000"/>
              </a:lnSpc>
            </a:pPr>
            <a:endParaRPr kumimoji="1" lang="en-US" altLang="zh-CN" sz="2200" dirty="0">
              <a:latin typeface="Century Gothic" panose="020B0502020202020204" pitchFamily="34" charset="0"/>
            </a:endParaRPr>
          </a:p>
        </p:txBody>
      </p:sp>
      <p:sp>
        <p:nvSpPr>
          <p:cNvPr id="7" name="标题 1">
            <a:extLst>
              <a:ext uri="{FF2B5EF4-FFF2-40B4-BE49-F238E27FC236}">
                <a16:creationId xmlns:a16="http://schemas.microsoft.com/office/drawing/2014/main" id="{B53F2B89-0EF1-EE9A-3D98-CFB2F0033F11}"/>
              </a:ext>
            </a:extLst>
          </p:cNvPr>
          <p:cNvSpPr txBox="1">
            <a:spLocks/>
          </p:cNvSpPr>
          <p:nvPr/>
        </p:nvSpPr>
        <p:spPr>
          <a:xfrm>
            <a:off x="548252" y="0"/>
            <a:ext cx="11775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3200" b="1" dirty="0">
                <a:latin typeface="Century Gothic" panose="020B0502020202020204" pitchFamily="34" charset="0"/>
              </a:rPr>
              <a:t>Administrative Discretion &amp; Controlling the Bureaucracy</a:t>
            </a:r>
            <a:endParaRPr kumimoji="1" lang="zh-CN" altLang="en-US" sz="3200" b="1" dirty="0">
              <a:latin typeface="Century Gothic" panose="020B0502020202020204" pitchFamily="34" charset="0"/>
            </a:endParaRPr>
          </a:p>
        </p:txBody>
      </p:sp>
    </p:spTree>
    <p:extLst>
      <p:ext uri="{BB962C8B-B14F-4D97-AF65-F5344CB8AC3E}">
        <p14:creationId xmlns:p14="http://schemas.microsoft.com/office/powerpoint/2010/main" val="2054344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AB2EF-5E6E-768D-4879-7D95A29DF401}"/>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24042944-4E73-E9D6-99E3-5A57CE26561C}"/>
              </a:ext>
            </a:extLst>
          </p:cNvPr>
          <p:cNvSpPr>
            <a:spLocks noGrp="1"/>
          </p:cNvSpPr>
          <p:nvPr>
            <p:ph idx="1"/>
          </p:nvPr>
        </p:nvSpPr>
        <p:spPr>
          <a:xfrm>
            <a:off x="548252" y="1128615"/>
            <a:ext cx="11095496" cy="6050982"/>
          </a:xfrm>
        </p:spPr>
        <p:txBody>
          <a:bodyPr>
            <a:normAutofit/>
          </a:bodyPr>
          <a:lstStyle/>
          <a:p>
            <a:pPr>
              <a:lnSpc>
                <a:spcPct val="100000"/>
              </a:lnSpc>
            </a:pPr>
            <a:r>
              <a:rPr lang="en-US" altLang="zh-CN" sz="2200" b="1" dirty="0">
                <a:latin typeface="Century Gothic" panose="020B0502020202020204" pitchFamily="34" charset="0"/>
              </a:rPr>
              <a:t>Supreme Court strikes down </a:t>
            </a:r>
            <a:r>
              <a:rPr lang="en-US" altLang="zh-CN" sz="2200" b="1" i="1" dirty="0">
                <a:latin typeface="Century Gothic" panose="020B0502020202020204" pitchFamily="34" charset="0"/>
              </a:rPr>
              <a:t>Chevron</a:t>
            </a:r>
            <a:r>
              <a:rPr lang="en-US" altLang="zh-CN" sz="2200" b="1" dirty="0">
                <a:latin typeface="Century Gothic" panose="020B0502020202020204" pitchFamily="34" charset="0"/>
              </a:rPr>
              <a:t>, curtailing power of federal agencies</a:t>
            </a:r>
          </a:p>
          <a:p>
            <a:pPr lvl="1">
              <a:lnSpc>
                <a:spcPct val="100000"/>
              </a:lnSpc>
            </a:pPr>
            <a:r>
              <a:rPr kumimoji="1" lang="en-US" altLang="zh-CN" sz="2000" dirty="0">
                <a:latin typeface="Century Gothic" panose="020B0502020202020204" pitchFamily="34" charset="0"/>
              </a:rPr>
              <a:t>Majority opinion</a:t>
            </a:r>
          </a:p>
          <a:p>
            <a:pPr lvl="2">
              <a:lnSpc>
                <a:spcPct val="100000"/>
              </a:lnSpc>
            </a:pPr>
            <a:r>
              <a:rPr lang="en-US" altLang="zh-CN" sz="1800" b="1" i="1" dirty="0">
                <a:latin typeface="Constantia" panose="02030602050306030303" pitchFamily="18" charset="0"/>
              </a:rPr>
              <a:t>Chevron</a:t>
            </a:r>
            <a:r>
              <a:rPr lang="en-US" altLang="zh-CN" sz="1800" b="1" dirty="0">
                <a:latin typeface="Constantia" panose="02030602050306030303" pitchFamily="18" charset="0"/>
              </a:rPr>
              <a:t> deference is inconsistent with the Administrative Procedure Act</a:t>
            </a:r>
            <a:r>
              <a:rPr lang="en-US" altLang="zh-CN" sz="1800" dirty="0">
                <a:latin typeface="Constantia" panose="02030602050306030303" pitchFamily="18" charset="0"/>
              </a:rPr>
              <a:t>, a federal law. </a:t>
            </a:r>
            <a:br>
              <a:rPr lang="en-US" altLang="zh-CN" sz="1800" dirty="0">
                <a:latin typeface="Constantia" panose="02030602050306030303" pitchFamily="18" charset="0"/>
              </a:rPr>
            </a:br>
            <a:r>
              <a:rPr lang="en-US" altLang="zh-CN" sz="1800" dirty="0">
                <a:latin typeface="Constantia" panose="02030602050306030303" pitchFamily="18" charset="0"/>
              </a:rPr>
              <a:t>The APA directs </a:t>
            </a:r>
            <a:r>
              <a:rPr lang="en-US" altLang="zh-CN" sz="1800" b="1" dirty="0">
                <a:solidFill>
                  <a:srgbClr val="FF0000"/>
                </a:solidFill>
                <a:latin typeface="Constantia" panose="02030602050306030303" pitchFamily="18" charset="0"/>
              </a:rPr>
              <a:t>courts</a:t>
            </a:r>
            <a:r>
              <a:rPr lang="en-US" altLang="zh-CN" sz="1800" dirty="0">
                <a:latin typeface="Constantia" panose="02030602050306030303" pitchFamily="18" charset="0"/>
              </a:rPr>
              <a:t> </a:t>
            </a:r>
            <a:r>
              <a:rPr lang="en-US" altLang="zh-CN" sz="1800" b="1" dirty="0">
                <a:latin typeface="Constantia" panose="02030602050306030303" pitchFamily="18" charset="0"/>
              </a:rPr>
              <a:t>to “decide legal questions by applying their own judgment” </a:t>
            </a:r>
            <a:r>
              <a:rPr lang="en-US" altLang="zh-CN" sz="1800" dirty="0">
                <a:latin typeface="Constantia" panose="02030602050306030303" pitchFamily="18" charset="0"/>
              </a:rPr>
              <a:t>and therefore “makes clear that agency interpretations of statutes — like agency interpretations of the Constitution — are </a:t>
            </a:r>
            <a:r>
              <a:rPr lang="en-US" altLang="zh-CN" sz="1800" i="1" dirty="0">
                <a:latin typeface="Constantia" panose="02030602050306030303" pitchFamily="18" charset="0"/>
              </a:rPr>
              <a:t>not</a:t>
            </a:r>
            <a:r>
              <a:rPr lang="en-US" altLang="zh-CN" sz="1800" dirty="0">
                <a:latin typeface="Constantia" panose="02030602050306030303" pitchFamily="18" charset="0"/>
              </a:rPr>
              <a:t> entitled to deference.</a:t>
            </a:r>
          </a:p>
          <a:p>
            <a:pPr lvl="2">
              <a:lnSpc>
                <a:spcPct val="100000"/>
              </a:lnSpc>
            </a:pPr>
            <a:r>
              <a:rPr lang="en-US" altLang="zh-CN" sz="1800" dirty="0">
                <a:latin typeface="Constantia" panose="02030602050306030303" pitchFamily="18" charset="0"/>
              </a:rPr>
              <a:t>Even when those ambiguities involve technical or scientific questions that fall within an agency’s area of expertise, “</a:t>
            </a:r>
            <a:r>
              <a:rPr lang="en-US" altLang="zh-CN" sz="1800" b="1" dirty="0">
                <a:latin typeface="Constantia" panose="02030602050306030303" pitchFamily="18" charset="0"/>
              </a:rPr>
              <a:t>Congress expects courts to handle technical statutory questions</a:t>
            </a:r>
            <a:r>
              <a:rPr lang="en-US" altLang="zh-CN" sz="1800" dirty="0">
                <a:latin typeface="Constantia" panose="02030602050306030303" pitchFamily="18" charset="0"/>
              </a:rPr>
              <a:t>”.</a:t>
            </a:r>
          </a:p>
          <a:p>
            <a:pPr lvl="2">
              <a:lnSpc>
                <a:spcPct val="100000"/>
              </a:lnSpc>
            </a:pPr>
            <a:r>
              <a:rPr lang="en-US" altLang="zh-CN" sz="1800" dirty="0">
                <a:latin typeface="Constantia" panose="02030602050306030303" pitchFamily="18" charset="0"/>
              </a:rPr>
              <a:t>Even if courts should not defer to an agency’s interpretation of an ambiguous statute that it administers, it </a:t>
            </a:r>
            <a:r>
              <a:rPr lang="en-US" altLang="zh-CN" sz="1800" b="1" dirty="0">
                <a:latin typeface="Constantia" panose="02030602050306030303" pitchFamily="18" charset="0"/>
              </a:rPr>
              <a:t>can</a:t>
            </a:r>
            <a:r>
              <a:rPr lang="en-US" altLang="zh-CN" sz="1800" dirty="0">
                <a:latin typeface="Constantia" panose="02030602050306030303" pitchFamily="18" charset="0"/>
              </a:rPr>
              <a:t> consider that interpretation when it falls within the agency’s purview.</a:t>
            </a:r>
            <a:endParaRPr kumimoji="1" lang="en-US" altLang="zh-CN" sz="1800" dirty="0">
              <a:latin typeface="Constantia" panose="02030602050306030303" pitchFamily="18" charset="0"/>
            </a:endParaRPr>
          </a:p>
          <a:p>
            <a:pPr lvl="1">
              <a:lnSpc>
                <a:spcPct val="100000"/>
              </a:lnSpc>
            </a:pPr>
            <a:r>
              <a:rPr kumimoji="1" lang="en-US" altLang="zh-CN" sz="2000" dirty="0">
                <a:latin typeface="Century Gothic" panose="020B0502020202020204" pitchFamily="34" charset="0"/>
              </a:rPr>
              <a:t>Dissent</a:t>
            </a:r>
          </a:p>
          <a:p>
            <a:pPr lvl="2">
              <a:lnSpc>
                <a:spcPct val="100000"/>
              </a:lnSpc>
            </a:pPr>
            <a:r>
              <a:rPr lang="en-US" altLang="zh-CN" sz="1800" dirty="0">
                <a:latin typeface="Constantia" panose="02030602050306030303" pitchFamily="18" charset="0"/>
              </a:rPr>
              <a:t>Congress often enacts regulatory laws that contain ambiguities and gaps, which agencies </a:t>
            </a:r>
            <a:r>
              <a:rPr lang="en-US" altLang="zh-CN" sz="1800" b="1" dirty="0">
                <a:latin typeface="Constantia" panose="02030602050306030303" pitchFamily="18" charset="0"/>
              </a:rPr>
              <a:t>must then interpret. Agencies are more likely to have the expertise to make such decisions. </a:t>
            </a:r>
          </a:p>
          <a:p>
            <a:pPr lvl="2">
              <a:lnSpc>
                <a:spcPct val="100000"/>
              </a:lnSpc>
            </a:pPr>
            <a:r>
              <a:rPr lang="en-US" altLang="zh-CN" sz="1800" b="1" i="1" dirty="0">
                <a:latin typeface="Constantia" panose="02030602050306030303" pitchFamily="18" charset="0"/>
              </a:rPr>
              <a:t>Chevron</a:t>
            </a:r>
            <a:r>
              <a:rPr lang="en-US" altLang="zh-CN" sz="1800" b="1" dirty="0">
                <a:latin typeface="Constantia" panose="02030602050306030303" pitchFamily="18" charset="0"/>
              </a:rPr>
              <a:t> has been applied in thousands of judicial decisions. It has become part of the warp and woof of modern government</a:t>
            </a:r>
            <a:r>
              <a:rPr lang="en-US" altLang="zh-CN" sz="1800" dirty="0">
                <a:latin typeface="Constantia" panose="02030602050306030303" pitchFamily="18" charset="0"/>
              </a:rPr>
              <a:t>, supporting regulatory efforts of all kinds.</a:t>
            </a:r>
          </a:p>
          <a:p>
            <a:pPr lvl="2">
              <a:lnSpc>
                <a:spcPct val="100000"/>
              </a:lnSpc>
            </a:pPr>
            <a:r>
              <a:rPr kumimoji="1" lang="en-US" altLang="zh-CN" sz="1800" dirty="0">
                <a:latin typeface="Constantia" panose="02030602050306030303" pitchFamily="18" charset="0"/>
              </a:rPr>
              <a:t>It is </a:t>
            </a:r>
            <a:r>
              <a:rPr lang="en-US" altLang="zh-CN" sz="1800" b="1" dirty="0">
                <a:latin typeface="Constantia" panose="02030602050306030303" pitchFamily="18" charset="0"/>
              </a:rPr>
              <a:t>a judicial power grab</a:t>
            </a:r>
            <a:r>
              <a:rPr lang="en-US" altLang="zh-CN" sz="1800" dirty="0">
                <a:latin typeface="Constantia" panose="02030602050306030303" pitchFamily="18" charset="0"/>
              </a:rPr>
              <a:t>. By overruling </a:t>
            </a:r>
            <a:r>
              <a:rPr lang="en-US" altLang="zh-CN" sz="1800" i="1" dirty="0">
                <a:latin typeface="Constantia" panose="02030602050306030303" pitchFamily="18" charset="0"/>
              </a:rPr>
              <a:t>Chevron</a:t>
            </a:r>
            <a:r>
              <a:rPr lang="en-US" altLang="zh-CN" sz="1800" dirty="0">
                <a:latin typeface="Constantia" panose="02030602050306030303" pitchFamily="18" charset="0"/>
              </a:rPr>
              <a:t>, the court had </a:t>
            </a:r>
            <a:r>
              <a:rPr lang="en-US" altLang="zh-CN" sz="1800" b="1" dirty="0">
                <a:latin typeface="Constantia" panose="02030602050306030303" pitchFamily="18" charset="0"/>
              </a:rPr>
              <a:t>given “itself exclusive power over every open issue</a:t>
            </a:r>
            <a:r>
              <a:rPr lang="en-US" altLang="zh-CN" sz="1800" dirty="0">
                <a:latin typeface="Constantia" panose="02030602050306030303" pitchFamily="18" charset="0"/>
              </a:rPr>
              <a:t> — no matter how expertise-driven or policy-laden — involving the meaning of regulatory law.</a:t>
            </a:r>
            <a:endParaRPr kumimoji="1" lang="en-US" altLang="zh-CN" sz="1800" dirty="0">
              <a:latin typeface="Constantia" panose="02030602050306030303" pitchFamily="18" charset="0"/>
            </a:endParaRPr>
          </a:p>
        </p:txBody>
      </p:sp>
      <p:sp>
        <p:nvSpPr>
          <p:cNvPr id="7" name="标题 1">
            <a:extLst>
              <a:ext uri="{FF2B5EF4-FFF2-40B4-BE49-F238E27FC236}">
                <a16:creationId xmlns:a16="http://schemas.microsoft.com/office/drawing/2014/main" id="{4BE32CAD-27CA-60BD-0F99-BA0D44CD4130}"/>
              </a:ext>
            </a:extLst>
          </p:cNvPr>
          <p:cNvSpPr txBox="1">
            <a:spLocks/>
          </p:cNvSpPr>
          <p:nvPr/>
        </p:nvSpPr>
        <p:spPr>
          <a:xfrm>
            <a:off x="548252" y="0"/>
            <a:ext cx="1177504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3200" b="1" dirty="0">
                <a:latin typeface="Century Gothic" panose="020B0502020202020204" pitchFamily="34" charset="0"/>
              </a:rPr>
              <a:t>Administrative Discretion &amp; Controlling the Bureaucracy</a:t>
            </a:r>
            <a:endParaRPr kumimoji="1" lang="zh-CN" altLang="en-US" sz="3200" b="1" dirty="0">
              <a:latin typeface="Century Gothic" panose="020B0502020202020204" pitchFamily="34" charset="0"/>
            </a:endParaRPr>
          </a:p>
        </p:txBody>
      </p:sp>
    </p:spTree>
    <p:extLst>
      <p:ext uri="{BB962C8B-B14F-4D97-AF65-F5344CB8AC3E}">
        <p14:creationId xmlns:p14="http://schemas.microsoft.com/office/powerpoint/2010/main" val="2325279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2287D-C457-579B-A48C-6E7D3714BE3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F8CACDC-29F8-55A7-6D55-60C0B2E17264}"/>
              </a:ext>
            </a:extLst>
          </p:cNvPr>
          <p:cNvSpPr>
            <a:spLocks noGrp="1"/>
          </p:cNvSpPr>
          <p:nvPr>
            <p:ph type="title"/>
          </p:nvPr>
        </p:nvSpPr>
        <p:spPr>
          <a:xfrm>
            <a:off x="838200" y="18255"/>
            <a:ext cx="10515600" cy="1325563"/>
          </a:xfrm>
        </p:spPr>
        <p:txBody>
          <a:bodyPr>
            <a:normAutofit/>
          </a:bodyPr>
          <a:lstStyle/>
          <a:p>
            <a:r>
              <a:rPr kumimoji="1" lang="en-US" altLang="zh-CN" sz="3600" b="1" dirty="0">
                <a:latin typeface="Century Gothic" panose="020B0502020202020204" pitchFamily="34" charset="0"/>
              </a:rPr>
              <a:t>Midterm 2</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EBBA1A25-C9C8-E0B0-F4A9-6937D4150532}"/>
              </a:ext>
            </a:extLst>
          </p:cNvPr>
          <p:cNvSpPr>
            <a:spLocks noGrp="1"/>
          </p:cNvSpPr>
          <p:nvPr>
            <p:ph idx="1"/>
          </p:nvPr>
        </p:nvSpPr>
        <p:spPr>
          <a:xfrm>
            <a:off x="838200" y="1247564"/>
            <a:ext cx="10832433" cy="5592181"/>
          </a:xfrm>
        </p:spPr>
        <p:txBody>
          <a:bodyPr>
            <a:normAutofit/>
          </a:bodyPr>
          <a:lstStyle/>
          <a:p>
            <a:pPr>
              <a:lnSpc>
                <a:spcPct val="100000"/>
              </a:lnSpc>
            </a:pPr>
            <a:r>
              <a:rPr kumimoji="1" lang="en-US" altLang="zh-CN" sz="1800" b="1" dirty="0">
                <a:latin typeface="Century Gothic" panose="020B0502020202020204" pitchFamily="34" charset="0"/>
              </a:rPr>
              <a:t>Location: </a:t>
            </a:r>
            <a:r>
              <a:rPr kumimoji="1" lang="en-US" altLang="zh-CN" sz="1800" dirty="0">
                <a:latin typeface="Century Gothic" panose="020B0502020202020204" pitchFamily="34" charset="0"/>
              </a:rPr>
              <a:t>Normal Lecture Hall</a:t>
            </a:r>
          </a:p>
          <a:p>
            <a:pPr>
              <a:lnSpc>
                <a:spcPct val="100000"/>
              </a:lnSpc>
            </a:pPr>
            <a:r>
              <a:rPr kumimoji="1" lang="en-US" altLang="zh-CN" sz="1800" b="1" dirty="0">
                <a:latin typeface="Century Gothic" panose="020B0502020202020204" pitchFamily="34" charset="0"/>
              </a:rPr>
              <a:t>Time: Wednesday</a:t>
            </a:r>
            <a:r>
              <a:rPr kumimoji="1" lang="en-US" altLang="zh-CN" sz="1800" dirty="0">
                <a:latin typeface="Century Gothic" panose="020B0502020202020204" pitchFamily="34" charset="0"/>
              </a:rPr>
              <a:t> 1:50-2:40 (50 minutes, class time)</a:t>
            </a:r>
          </a:p>
          <a:p>
            <a:pPr lvl="1">
              <a:lnSpc>
                <a:spcPct val="100000"/>
              </a:lnSpc>
              <a:buFont typeface="Wingdings" pitchFamily="2" charset="2"/>
              <a:buChar char="p"/>
            </a:pPr>
            <a:r>
              <a:rPr kumimoji="1" lang="en-US" altLang="zh-CN" sz="1600" dirty="0">
                <a:latin typeface="Century Gothic" panose="020B0502020202020204" pitchFamily="34" charset="0"/>
              </a:rPr>
              <a:t>If anyone needs A&amp;T (DRC) accommodations, please contact them to make arrangements</a:t>
            </a:r>
          </a:p>
          <a:p>
            <a:pPr lvl="1">
              <a:lnSpc>
                <a:spcPct val="100000"/>
              </a:lnSpc>
              <a:buFont typeface="Wingdings" pitchFamily="2" charset="2"/>
              <a:buChar char="p"/>
            </a:pPr>
            <a:r>
              <a:rPr kumimoji="1" lang="en-US" altLang="zh-CN" sz="1600" dirty="0">
                <a:latin typeface="Century Gothic" panose="020B0502020202020204" pitchFamily="34" charset="0"/>
              </a:rPr>
              <a:t>If they need approval from instructors, please contact Dr. Nicholson, since he is responsible for this class.</a:t>
            </a:r>
          </a:p>
          <a:p>
            <a:pPr>
              <a:lnSpc>
                <a:spcPct val="100000"/>
              </a:lnSpc>
            </a:pPr>
            <a:r>
              <a:rPr kumimoji="1" lang="en-US" altLang="zh-CN" sz="1800" b="1" dirty="0">
                <a:latin typeface="Century Gothic" panose="020B0502020202020204" pitchFamily="34" charset="0"/>
              </a:rPr>
              <a:t>Layout: </a:t>
            </a:r>
            <a:r>
              <a:rPr kumimoji="1" lang="en-US" altLang="zh-CN" sz="1800" dirty="0">
                <a:latin typeface="Century Gothic" panose="020B0502020202020204" pitchFamily="34" charset="0"/>
              </a:rPr>
              <a:t>Multiple choices (25-30) [Scantron 882-E] &amp; Short-answer questions (choose 4-5) [Bluebook] – remember to buy bluebooks, scantrons, #2 pencils at the bookstore</a:t>
            </a:r>
          </a:p>
          <a:p>
            <a:pPr>
              <a:lnSpc>
                <a:spcPct val="100000"/>
              </a:lnSpc>
            </a:pPr>
            <a:r>
              <a:rPr kumimoji="1" lang="en-US" altLang="zh-CN" sz="1800" b="1" dirty="0">
                <a:latin typeface="Century Gothic" panose="020B0502020202020204" pitchFamily="34" charset="0"/>
              </a:rPr>
              <a:t>Remember: </a:t>
            </a:r>
            <a:r>
              <a:rPr kumimoji="1" lang="en-US" altLang="zh-CN" sz="1800" dirty="0">
                <a:latin typeface="Century Gothic" panose="020B0502020202020204" pitchFamily="34" charset="0"/>
              </a:rPr>
              <a:t>This is a CLOSED BOOK exam! Pay attention to integrity requirements!</a:t>
            </a:r>
          </a:p>
          <a:p>
            <a:pPr>
              <a:lnSpc>
                <a:spcPct val="100000"/>
              </a:lnSpc>
            </a:pPr>
            <a:r>
              <a:rPr kumimoji="1" lang="en-US" altLang="zh-CN" sz="1800" b="1" dirty="0">
                <a:latin typeface="Century Gothic" panose="020B0502020202020204" pitchFamily="34" charset="0"/>
              </a:rPr>
              <a:t>What: </a:t>
            </a:r>
            <a:r>
              <a:rPr kumimoji="1" lang="en-US" altLang="zh-CN" sz="1800" dirty="0">
                <a:latin typeface="Century Gothic" panose="020B0502020202020204" pitchFamily="34" charset="0"/>
              </a:rPr>
              <a:t>Civil Rights – Courts, all we learned between two exams (See Review Sheet on </a:t>
            </a:r>
            <a:r>
              <a:rPr kumimoji="1" lang="en-US" altLang="zh-CN" sz="1800" dirty="0" err="1">
                <a:latin typeface="Century Gothic" panose="020B0502020202020204" pitchFamily="34" charset="0"/>
              </a:rPr>
              <a:t>eLC</a:t>
            </a:r>
            <a:r>
              <a:rPr kumimoji="1" lang="en-US" altLang="zh-CN" sz="1800" dirty="0">
                <a:latin typeface="Century Gothic" panose="020B0502020202020204" pitchFamily="34" charset="0"/>
              </a:rPr>
              <a:t>)</a:t>
            </a:r>
          </a:p>
          <a:p>
            <a:pPr>
              <a:lnSpc>
                <a:spcPct val="100000"/>
              </a:lnSpc>
            </a:pPr>
            <a:r>
              <a:rPr kumimoji="1" lang="en-US" altLang="zh-CN" sz="1800" b="1" dirty="0">
                <a:latin typeface="Century Gothic" panose="020B0502020202020204" pitchFamily="34" charset="0"/>
              </a:rPr>
              <a:t>Suggestions</a:t>
            </a:r>
          </a:p>
          <a:p>
            <a:pPr lvl="1">
              <a:lnSpc>
                <a:spcPct val="100000"/>
              </a:lnSpc>
              <a:buFont typeface="Wingdings" pitchFamily="2" charset="2"/>
              <a:buChar char="p"/>
            </a:pPr>
            <a:r>
              <a:rPr kumimoji="1" lang="en-US" altLang="zh-CN" sz="1600" dirty="0">
                <a:latin typeface="Century Gothic" panose="020B0502020202020204" pitchFamily="34" charset="0"/>
              </a:rPr>
              <a:t>Remember </a:t>
            </a:r>
            <a:r>
              <a:rPr kumimoji="1" lang="en-US" altLang="zh-CN" sz="1600" b="1" dirty="0">
                <a:solidFill>
                  <a:srgbClr val="FF0000"/>
                </a:solidFill>
                <a:latin typeface="Century Gothic" panose="020B0502020202020204" pitchFamily="34" charset="0"/>
              </a:rPr>
              <a:t>my name </a:t>
            </a:r>
            <a:r>
              <a:rPr kumimoji="1" lang="en-US" altLang="zh-CN" sz="1600" dirty="0">
                <a:latin typeface="Century Gothic" panose="020B0502020202020204" pitchFamily="34" charset="0"/>
              </a:rPr>
              <a:t>and </a:t>
            </a:r>
            <a:r>
              <a:rPr kumimoji="1" lang="en-US" altLang="zh-CN" sz="1600" b="1" dirty="0">
                <a:latin typeface="Century Gothic" panose="020B0502020202020204" pitchFamily="34" charset="0"/>
              </a:rPr>
              <a:t>time for your </a:t>
            </a:r>
            <a:r>
              <a:rPr kumimoji="1" lang="en-US" altLang="zh-CN" sz="1600" b="1" dirty="0">
                <a:solidFill>
                  <a:srgbClr val="FF0000"/>
                </a:solidFill>
                <a:latin typeface="Century Gothic" panose="020B0502020202020204" pitchFamily="34" charset="0"/>
              </a:rPr>
              <a:t>breakout session </a:t>
            </a:r>
            <a:r>
              <a:rPr kumimoji="1" lang="en-US" altLang="zh-CN" sz="1600" b="1" dirty="0">
                <a:latin typeface="Century Gothic" panose="020B0502020202020204" pitchFamily="34" charset="0"/>
              </a:rPr>
              <a:t>(not time for lecture! But </a:t>
            </a:r>
            <a:r>
              <a:rPr kumimoji="1" lang="en-US" altLang="zh-CN" sz="1600" b="1" dirty="0">
                <a:solidFill>
                  <a:srgbClr val="FF0000"/>
                </a:solidFill>
                <a:latin typeface="Century Gothic" panose="020B0502020202020204" pitchFamily="34" charset="0"/>
              </a:rPr>
              <a:t>12:40-1:30 F, or 1:50-2:40 F</a:t>
            </a:r>
            <a:r>
              <a:rPr kumimoji="1" lang="en-US" altLang="zh-CN" sz="1600" b="1" dirty="0">
                <a:latin typeface="Century Gothic" panose="020B0502020202020204" pitchFamily="34" charset="0"/>
              </a:rPr>
              <a:t>)</a:t>
            </a:r>
            <a:r>
              <a:rPr kumimoji="1" lang="en-US" altLang="zh-CN" sz="1600" dirty="0">
                <a:latin typeface="Century Gothic" panose="020B0502020202020204" pitchFamily="34" charset="0"/>
              </a:rPr>
              <a:t>, since you will need to place them in a pile for me to grade.</a:t>
            </a:r>
          </a:p>
          <a:p>
            <a:pPr lvl="1">
              <a:lnSpc>
                <a:spcPct val="100000"/>
              </a:lnSpc>
              <a:buFont typeface="Wingdings" pitchFamily="2" charset="2"/>
              <a:buChar char="p"/>
            </a:pPr>
            <a:r>
              <a:rPr kumimoji="1" lang="en-US" altLang="zh-CN" sz="1600" b="1" dirty="0">
                <a:latin typeface="Century Gothic" panose="020B0502020202020204" pitchFamily="34" charset="0"/>
              </a:rPr>
              <a:t>Key ideas </a:t>
            </a:r>
            <a:r>
              <a:rPr kumimoji="1" lang="en-US" altLang="zh-CN" sz="1600" dirty="0">
                <a:latin typeface="Century Gothic" panose="020B0502020202020204" pitchFamily="34" charset="0"/>
              </a:rPr>
              <a:t>(theory, concept, professional items, SC cases) + </a:t>
            </a:r>
            <a:r>
              <a:rPr kumimoji="1" lang="en-US" altLang="zh-CN" sz="1600" b="1" dirty="0">
                <a:latin typeface="Century Gothic" panose="020B0502020202020204" pitchFamily="34" charset="0"/>
              </a:rPr>
              <a:t>explanation</a:t>
            </a:r>
            <a:r>
              <a:rPr kumimoji="1" lang="en-US" altLang="zh-CN" sz="1600" dirty="0">
                <a:latin typeface="Century Gothic" panose="020B0502020202020204" pitchFamily="34" charset="0"/>
              </a:rPr>
              <a:t> (when, where, who, what, why, how – not all of them; </a:t>
            </a:r>
            <a:r>
              <a:rPr kumimoji="1" lang="en-US" altLang="zh-CN" sz="1600" b="1" dirty="0">
                <a:solidFill>
                  <a:srgbClr val="FF0000"/>
                </a:solidFill>
                <a:latin typeface="Century Gothic" panose="020B0502020202020204" pitchFamily="34" charset="0"/>
              </a:rPr>
              <a:t>put down what you think necessary</a:t>
            </a:r>
            <a:r>
              <a:rPr kumimoji="1" lang="en-US" altLang="zh-CN" sz="1600" dirty="0">
                <a:latin typeface="Century Gothic" panose="020B0502020202020204" pitchFamily="34" charset="0"/>
              </a:rPr>
              <a:t>)</a:t>
            </a:r>
          </a:p>
          <a:p>
            <a:pPr lvl="1">
              <a:lnSpc>
                <a:spcPct val="100000"/>
              </a:lnSpc>
              <a:buFont typeface="Wingdings" pitchFamily="2" charset="2"/>
              <a:buChar char="p"/>
            </a:pPr>
            <a:r>
              <a:rPr kumimoji="1" lang="en-US" altLang="zh-CN" sz="1600" b="1" dirty="0">
                <a:solidFill>
                  <a:srgbClr val="FF0000"/>
                </a:solidFill>
                <a:latin typeface="Century Gothic" panose="020B0502020202020204" pitchFamily="34" charset="0"/>
              </a:rPr>
              <a:t>If you are not sure, much is better. If you really have no idea, only telling stories is also encouraged</a:t>
            </a:r>
            <a:r>
              <a:rPr kumimoji="1" lang="en-US" altLang="zh-CN" sz="1600" dirty="0">
                <a:latin typeface="Century Gothic" panose="020B0502020202020204" pitchFamily="34" charset="0"/>
              </a:rPr>
              <a:t>.</a:t>
            </a:r>
          </a:p>
          <a:p>
            <a:pPr>
              <a:lnSpc>
                <a:spcPct val="100000"/>
              </a:lnSpc>
            </a:pPr>
            <a:r>
              <a:rPr kumimoji="1" lang="en-US" altLang="zh-CN" sz="1800" dirty="0">
                <a:latin typeface="Century Gothic" panose="020B0502020202020204" pitchFamily="34" charset="0"/>
              </a:rPr>
              <a:t>I’ll be </a:t>
            </a:r>
            <a:r>
              <a:rPr kumimoji="1" lang="en-US" altLang="zh-CN" sz="1800" b="1" dirty="0">
                <a:solidFill>
                  <a:srgbClr val="FF0000"/>
                </a:solidFill>
                <a:latin typeface="Century Gothic" panose="020B0502020202020204" pitchFamily="34" charset="0"/>
              </a:rPr>
              <a:t>less strict in grading</a:t>
            </a:r>
            <a:r>
              <a:rPr kumimoji="1" lang="en-US" altLang="zh-CN" sz="1800" dirty="0">
                <a:latin typeface="Century Gothic" panose="020B0502020202020204" pitchFamily="34" charset="0"/>
              </a:rPr>
              <a:t>, but </a:t>
            </a:r>
            <a:r>
              <a:rPr kumimoji="1" lang="en-US" altLang="zh-CN" sz="1800" b="1" dirty="0">
                <a:latin typeface="Century Gothic" panose="020B0502020202020204" pitchFamily="34" charset="0"/>
              </a:rPr>
              <a:t>still keep my “best judgment” </a:t>
            </a:r>
            <a:r>
              <a:rPr kumimoji="1" lang="en-US" altLang="zh-CN" sz="1800" dirty="0">
                <a:latin typeface="Century Gothic" panose="020B0502020202020204" pitchFamily="34" charset="0"/>
              </a:rPr>
              <a:t>and </a:t>
            </a:r>
            <a:r>
              <a:rPr kumimoji="1" lang="en-US" altLang="zh-CN" sz="1800" b="1" dirty="0">
                <a:latin typeface="Century Gothic" panose="020B0502020202020204" pitchFamily="34" charset="0"/>
              </a:rPr>
              <a:t>make it fair for everyone</a:t>
            </a:r>
            <a:r>
              <a:rPr kumimoji="1" lang="en-US" altLang="zh-CN" sz="1800" dirty="0">
                <a:latin typeface="Century Gothic" panose="020B0502020202020204" pitchFamily="34" charset="0"/>
              </a:rPr>
              <a:t>.</a:t>
            </a:r>
          </a:p>
        </p:txBody>
      </p:sp>
    </p:spTree>
    <p:extLst>
      <p:ext uri="{BB962C8B-B14F-4D97-AF65-F5344CB8AC3E}">
        <p14:creationId xmlns:p14="http://schemas.microsoft.com/office/powerpoint/2010/main" val="1355576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BD609-8535-2B26-7B06-419D435664A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D63FBD6-8B29-3BD6-A33F-9DB758776237}"/>
              </a:ext>
            </a:extLst>
          </p:cNvPr>
          <p:cNvSpPr>
            <a:spLocks noGrp="1"/>
          </p:cNvSpPr>
          <p:nvPr>
            <p:ph type="title"/>
          </p:nvPr>
        </p:nvSpPr>
        <p:spPr>
          <a:xfrm>
            <a:off x="838200" y="0"/>
            <a:ext cx="10515600" cy="1325563"/>
          </a:xfrm>
        </p:spPr>
        <p:txBody>
          <a:bodyPr>
            <a:normAutofit/>
          </a:bodyPr>
          <a:lstStyle/>
          <a:p>
            <a:r>
              <a:rPr kumimoji="1" lang="en-US" altLang="zh-CN" sz="3600" b="1" dirty="0">
                <a:latin typeface="Century Gothic" panose="020B0502020202020204" pitchFamily="34" charset="0"/>
              </a:rPr>
              <a:t>Midterm 2 Review</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B72802DE-79F9-89A9-ED4A-4A864777F177}"/>
              </a:ext>
            </a:extLst>
          </p:cNvPr>
          <p:cNvSpPr>
            <a:spLocks noGrp="1"/>
          </p:cNvSpPr>
          <p:nvPr>
            <p:ph idx="1"/>
          </p:nvPr>
        </p:nvSpPr>
        <p:spPr>
          <a:xfrm>
            <a:off x="838200" y="1606576"/>
            <a:ext cx="10795782" cy="5047441"/>
          </a:xfrm>
        </p:spPr>
        <p:txBody>
          <a:bodyPr>
            <a:normAutofit/>
          </a:bodyPr>
          <a:lstStyle/>
          <a:p>
            <a:pPr>
              <a:lnSpc>
                <a:spcPct val="100000"/>
              </a:lnSpc>
            </a:pPr>
            <a:r>
              <a:rPr kumimoji="1" lang="en-US" altLang="zh-CN" b="1" dirty="0">
                <a:solidFill>
                  <a:srgbClr val="FF0000"/>
                </a:solidFill>
                <a:latin typeface="Century Gothic" panose="020B0502020202020204" pitchFamily="34" charset="0"/>
              </a:rPr>
              <a:t>Review Sheet on </a:t>
            </a:r>
            <a:r>
              <a:rPr kumimoji="1" lang="en-US" altLang="zh-CN" b="1" dirty="0" err="1">
                <a:solidFill>
                  <a:srgbClr val="FF0000"/>
                </a:solidFill>
                <a:latin typeface="Century Gothic" panose="020B0502020202020204" pitchFamily="34" charset="0"/>
              </a:rPr>
              <a:t>eLC</a:t>
            </a:r>
            <a:endParaRPr kumimoji="1" lang="en-US" altLang="zh-CN" b="1" dirty="0">
              <a:solidFill>
                <a:srgbClr val="FF0000"/>
              </a:solidFill>
              <a:latin typeface="Century Gothic" panose="020B0502020202020204" pitchFamily="34" charset="0"/>
            </a:endParaRPr>
          </a:p>
          <a:p>
            <a:pPr lvl="1">
              <a:lnSpc>
                <a:spcPct val="100000"/>
              </a:lnSpc>
            </a:pPr>
            <a:r>
              <a:rPr kumimoji="1" lang="en-US" altLang="zh-CN" dirty="0">
                <a:latin typeface="Century Gothic" panose="020B0502020202020204" pitchFamily="34" charset="0"/>
              </a:rPr>
              <a:t>Combine it with </a:t>
            </a:r>
            <a:r>
              <a:rPr kumimoji="1" lang="en-US" altLang="zh-CN" b="1" dirty="0">
                <a:latin typeface="Century Gothic" panose="020B0502020202020204" pitchFamily="34" charset="0"/>
              </a:rPr>
              <a:t>lecture slides</a:t>
            </a:r>
            <a:r>
              <a:rPr kumimoji="1" lang="en-US" altLang="zh-CN" dirty="0">
                <a:latin typeface="Century Gothic" panose="020B0502020202020204" pitchFamily="34" charset="0"/>
              </a:rPr>
              <a:t>, as well as breakout session slides (if you find it helpful to understand basic concepts &amp; theories)</a:t>
            </a:r>
          </a:p>
          <a:p>
            <a:pPr lvl="1">
              <a:lnSpc>
                <a:spcPct val="100000"/>
              </a:lnSpc>
            </a:pPr>
            <a:endParaRPr kumimoji="1" lang="en-US" altLang="zh-CN" dirty="0">
              <a:latin typeface="Century Gothic" panose="020B0502020202020204" pitchFamily="34" charset="0"/>
            </a:endParaRPr>
          </a:p>
          <a:p>
            <a:pPr>
              <a:lnSpc>
                <a:spcPct val="100000"/>
              </a:lnSpc>
            </a:pPr>
            <a:r>
              <a:rPr kumimoji="1" lang="en-US" altLang="zh-CN" b="1" dirty="0">
                <a:latin typeface="Century Gothic" panose="020B0502020202020204" pitchFamily="34" charset="0"/>
              </a:rPr>
              <a:t>Thanks to our Lead TA, Mckinley Frees!</a:t>
            </a:r>
          </a:p>
          <a:p>
            <a:pPr lvl="1">
              <a:lnSpc>
                <a:spcPct val="100000"/>
              </a:lnSpc>
            </a:pPr>
            <a:r>
              <a:rPr kumimoji="1" lang="en-US" altLang="zh-CN" b="1" dirty="0">
                <a:latin typeface="Century Gothic" panose="020B0502020202020204" pitchFamily="34" charset="0"/>
              </a:rPr>
              <a:t>Key items review</a:t>
            </a:r>
            <a:r>
              <a:rPr kumimoji="1" lang="en-US" altLang="zh-CN" dirty="0">
                <a:latin typeface="Century Gothic" panose="020B0502020202020204" pitchFamily="34" charset="0"/>
              </a:rPr>
              <a:t>: </a:t>
            </a:r>
            <a:r>
              <a:rPr kumimoji="1" lang="en-US" altLang="zh-CN" dirty="0">
                <a:latin typeface="Century Gothic" panose="020B0502020202020204" pitchFamily="34" charset="0"/>
                <a:hlinkClick r:id="rId2"/>
              </a:rPr>
              <a:t>https://quizlet.com/954378427/pols-1101-midterm-2-key-terms-review-flash-cards/?funnelUUID=00accdac-af35-4659-851e-fdf4954236fc</a:t>
            </a:r>
            <a:endParaRPr kumimoji="1" lang="en-US" altLang="zh-CN" dirty="0">
              <a:latin typeface="Century Gothic" panose="020B0502020202020204" pitchFamily="34" charset="0"/>
            </a:endParaRPr>
          </a:p>
          <a:p>
            <a:pPr lvl="1">
              <a:lnSpc>
                <a:spcPct val="100000"/>
              </a:lnSpc>
            </a:pPr>
            <a:r>
              <a:rPr kumimoji="1" lang="en-US" altLang="zh-CN" b="1" dirty="0">
                <a:latin typeface="Century Gothic" panose="020B0502020202020204" pitchFamily="34" charset="0"/>
              </a:rPr>
              <a:t>Study guide</a:t>
            </a:r>
            <a:r>
              <a:rPr kumimoji="1" lang="en-US" altLang="zh-CN" dirty="0">
                <a:latin typeface="Century Gothic" panose="020B0502020202020204" pitchFamily="34" charset="0"/>
              </a:rPr>
              <a:t>: </a:t>
            </a:r>
            <a:r>
              <a:rPr kumimoji="1" lang="en-US" altLang="zh-CN" dirty="0">
                <a:latin typeface="Century Gothic" panose="020B0502020202020204" pitchFamily="34" charset="0"/>
                <a:hlinkClick r:id="rId3"/>
              </a:rPr>
              <a:t>https://quizlet.com/study-guides/pols-1101-midterm-2-key-terms-review-fe50d865-3d53-437b-9b77-70df3462d078?funnelUUID=72497043-5a96-483f-a405-5e9de2876c20</a:t>
            </a:r>
            <a:endParaRPr kumimoji="1" lang="en-US" altLang="zh-CN" dirty="0">
              <a:latin typeface="Century Gothic" panose="020B0502020202020204" pitchFamily="34" charset="0"/>
            </a:endParaRPr>
          </a:p>
        </p:txBody>
      </p:sp>
    </p:spTree>
    <p:extLst>
      <p:ext uri="{BB962C8B-B14F-4D97-AF65-F5344CB8AC3E}">
        <p14:creationId xmlns:p14="http://schemas.microsoft.com/office/powerpoint/2010/main" val="1103276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F266-461F-DFC0-F19B-F4DD64CD0BC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E3B36D4-3E60-4CD4-ECC1-CDF306405FE9}"/>
              </a:ext>
            </a:extLst>
          </p:cNvPr>
          <p:cNvSpPr>
            <a:spLocks noGrp="1"/>
          </p:cNvSpPr>
          <p:nvPr>
            <p:ph type="title"/>
          </p:nvPr>
        </p:nvSpPr>
        <p:spPr>
          <a:xfrm>
            <a:off x="838200" y="0"/>
            <a:ext cx="10515600" cy="1325563"/>
          </a:xfrm>
        </p:spPr>
        <p:txBody>
          <a:bodyPr>
            <a:normAutofit/>
          </a:bodyPr>
          <a:lstStyle/>
          <a:p>
            <a:r>
              <a:rPr kumimoji="1" lang="en-US" altLang="zh-CN" sz="4000" b="1" dirty="0">
                <a:latin typeface="Century Gothic" panose="020B0502020202020204" pitchFamily="34" charset="0"/>
              </a:rPr>
              <a:t>Next week…</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FD0DFA93-F961-8DB9-6735-5EC134B68962}"/>
              </a:ext>
            </a:extLst>
          </p:cNvPr>
          <p:cNvSpPr>
            <a:spLocks noGrp="1"/>
          </p:cNvSpPr>
          <p:nvPr>
            <p:ph idx="1"/>
          </p:nvPr>
        </p:nvSpPr>
        <p:spPr>
          <a:xfrm>
            <a:off x="838200" y="1606577"/>
            <a:ext cx="10515600" cy="4732230"/>
          </a:xfrm>
        </p:spPr>
        <p:txBody>
          <a:bodyPr>
            <a:normAutofit fontScale="92500"/>
          </a:bodyPr>
          <a:lstStyle/>
          <a:p>
            <a:pPr>
              <a:lnSpc>
                <a:spcPct val="110000"/>
              </a:lnSpc>
            </a:pPr>
            <a:r>
              <a:rPr kumimoji="1" lang="en-US" altLang="zh-CN" sz="2400" dirty="0">
                <a:latin typeface="Century Gothic" panose="020B0502020202020204" pitchFamily="34" charset="0"/>
              </a:rPr>
              <a:t>We will</a:t>
            </a:r>
            <a:r>
              <a:rPr kumimoji="1" lang="zh-CN" altLang="en-US" sz="2400" dirty="0">
                <a:latin typeface="Century Gothic" panose="020B0502020202020204" pitchFamily="34" charset="0"/>
              </a:rPr>
              <a:t> </a:t>
            </a:r>
            <a:r>
              <a:rPr kumimoji="1" lang="en-US" altLang="zh-CN" sz="2400" dirty="0">
                <a:latin typeface="Century Gothic" panose="020B0502020202020204" pitchFamily="34" charset="0"/>
              </a:rPr>
              <a:t>NOT check attendance (if permitted - hope that you enjoy the weekend after midterm 2!)</a:t>
            </a:r>
          </a:p>
          <a:p>
            <a:pPr>
              <a:lnSpc>
                <a:spcPct val="110000"/>
              </a:lnSpc>
            </a:pPr>
            <a:r>
              <a:rPr kumimoji="1" lang="en-US" altLang="zh-CN" sz="2400" dirty="0">
                <a:latin typeface="Century Gothic" panose="020B0502020202020204" pitchFamily="34" charset="0"/>
              </a:rPr>
              <a:t>However, we’ll still meet in regular time &amp; location, since it’s my teaching responsibility – focusing on </a:t>
            </a:r>
            <a:r>
              <a:rPr kumimoji="1" lang="en-US" altLang="zh-CN" sz="2400" b="1" dirty="0">
                <a:latin typeface="Century Gothic" panose="020B0502020202020204" pitchFamily="34" charset="0"/>
              </a:rPr>
              <a:t>Courts </a:t>
            </a:r>
            <a:r>
              <a:rPr kumimoji="1" lang="en-US" altLang="zh-CN" sz="2400" dirty="0">
                <a:latin typeface="Century Gothic" panose="020B0502020202020204" pitchFamily="34" charset="0"/>
              </a:rPr>
              <a:t>(Not by reviewing key ideas – since you’ve had your exam by that time, but by watching a </a:t>
            </a:r>
            <a:r>
              <a:rPr kumimoji="1" lang="en-US" altLang="zh-CN" sz="2400" b="1" dirty="0">
                <a:latin typeface="Century Gothic" panose="020B0502020202020204" pitchFamily="34" charset="0"/>
              </a:rPr>
              <a:t>documentary</a:t>
            </a:r>
            <a:r>
              <a:rPr kumimoji="1" lang="en-US" altLang="zh-CN" sz="2400" dirty="0">
                <a:latin typeface="Century Gothic" panose="020B0502020202020204" pitchFamily="34" charset="0"/>
              </a:rPr>
              <a:t>)</a:t>
            </a:r>
          </a:p>
          <a:p>
            <a:pPr>
              <a:lnSpc>
                <a:spcPct val="110000"/>
              </a:lnSpc>
            </a:pPr>
            <a:endParaRPr kumimoji="1" lang="en-US" altLang="zh-CN" dirty="0">
              <a:latin typeface="Century Gothic" panose="020B0502020202020204" pitchFamily="34" charset="0"/>
            </a:endParaRPr>
          </a:p>
          <a:p>
            <a:pPr>
              <a:lnSpc>
                <a:spcPct val="110000"/>
              </a:lnSpc>
            </a:pPr>
            <a:r>
              <a:rPr kumimoji="1" lang="en-US" altLang="zh-CN" dirty="0">
                <a:latin typeface="Century Gothic" panose="020B0502020202020204" pitchFamily="34" charset="0"/>
              </a:rPr>
              <a:t>Feel free to email me if you have any questions!</a:t>
            </a:r>
          </a:p>
          <a:p>
            <a:pPr>
              <a:lnSpc>
                <a:spcPct val="110000"/>
              </a:lnSpc>
            </a:pPr>
            <a:r>
              <a:rPr kumimoji="1" lang="en-US" altLang="zh-CN" dirty="0">
                <a:latin typeface="Century Gothic" panose="020B0502020202020204" pitchFamily="34" charset="0"/>
              </a:rPr>
              <a:t>ENJOY YOUR WEEKEND!</a:t>
            </a:r>
          </a:p>
          <a:p>
            <a:pPr>
              <a:lnSpc>
                <a:spcPct val="110000"/>
              </a:lnSpc>
            </a:pPr>
            <a:r>
              <a:rPr kumimoji="1" lang="en-US" altLang="zh-CN" dirty="0">
                <a:latin typeface="Century Gothic" panose="020B0502020202020204" pitchFamily="34" charset="0"/>
              </a:rPr>
              <a:t>Don’t</a:t>
            </a:r>
            <a:r>
              <a:rPr kumimoji="1" lang="zh-CN" altLang="en-US" dirty="0">
                <a:latin typeface="Century Gothic" panose="020B0502020202020204" pitchFamily="34" charset="0"/>
              </a:rPr>
              <a:t> </a:t>
            </a:r>
            <a:r>
              <a:rPr kumimoji="1" lang="en-US" altLang="zh-CN" dirty="0">
                <a:latin typeface="Century Gothic" panose="020B0502020202020204" pitchFamily="34" charset="0"/>
              </a:rPr>
              <a:t>forget to prepare for Wednesday’s exam! &amp; </a:t>
            </a:r>
            <a:r>
              <a:rPr kumimoji="1" lang="en-US" altLang="zh-CN" b="1" dirty="0">
                <a:latin typeface="Century Gothic" panose="020B0502020202020204" pitchFamily="34" charset="0"/>
              </a:rPr>
              <a:t>Good luck in your Mid-term 2!</a:t>
            </a:r>
          </a:p>
        </p:txBody>
      </p:sp>
    </p:spTree>
    <p:extLst>
      <p:ext uri="{BB962C8B-B14F-4D97-AF65-F5344CB8AC3E}">
        <p14:creationId xmlns:p14="http://schemas.microsoft.com/office/powerpoint/2010/main" val="50742297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6460</TotalTime>
  <Words>1808</Words>
  <Application>Microsoft Macintosh PowerPoint</Application>
  <PresentationFormat>宽屏</PresentationFormat>
  <Paragraphs>150</Paragraphs>
  <Slides>12</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12</vt:i4>
      </vt:variant>
    </vt:vector>
  </HeadingPairs>
  <TitlesOfParts>
    <vt:vector size="19" baseType="lpstr">
      <vt:lpstr>等线</vt:lpstr>
      <vt:lpstr>等线 Light</vt:lpstr>
      <vt:lpstr>Arial</vt:lpstr>
      <vt:lpstr>Century Gothic</vt:lpstr>
      <vt:lpstr>Constantia</vt:lpstr>
      <vt:lpstr>Wingdings</vt:lpstr>
      <vt:lpstr>Office 主题​​</vt:lpstr>
      <vt:lpstr>9. Bureaucracy  &amp; Mid-term 2 Review</vt:lpstr>
      <vt:lpstr>Bureaucracy in a Democracy</vt:lpstr>
      <vt:lpstr>Red Tape</vt:lpstr>
      <vt:lpstr>PowerPoint 演示文稿</vt:lpstr>
      <vt:lpstr>Bureaucratic Decision Making</vt:lpstr>
      <vt:lpstr>Representative Bureaucracy</vt:lpstr>
      <vt:lpstr>PowerPoint 演示文稿</vt:lpstr>
      <vt:lpstr>PowerPoint 演示文稿</vt:lpstr>
      <vt:lpstr>PowerPoint 演示文稿</vt:lpstr>
      <vt:lpstr>Midterm 2</vt:lpstr>
      <vt:lpstr>Midterm 2 Review</vt:lpstr>
      <vt:lpstr>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 Zhao</dc:creator>
  <cp:lastModifiedBy>sy Zhao</cp:lastModifiedBy>
  <cp:revision>151</cp:revision>
  <dcterms:created xsi:type="dcterms:W3CDTF">2025-08-13T18:40:43Z</dcterms:created>
  <dcterms:modified xsi:type="dcterms:W3CDTF">2025-10-10T15:22:19Z</dcterms:modified>
</cp:coreProperties>
</file>