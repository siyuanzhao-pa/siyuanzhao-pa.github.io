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4" r:id="rId7"/>
    <p:sldId id="261" r:id="rId8"/>
    <p:sldId id="262" r:id="rId9"/>
    <p:sldId id="266" r:id="rId10"/>
    <p:sldId id="263"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C2761-774B-F042-9BD3-0C52A688F4FB}" type="datetimeFigureOut">
              <a:rPr kumimoji="1" lang="zh-CN" altLang="en-US" smtClean="0"/>
              <a:t>2025/10/13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92E27-0BA6-464B-8F92-818B943024AB}" type="slidenum">
              <a:rPr kumimoji="1" lang="zh-CN" altLang="en-US" smtClean="0"/>
              <a:t>‹#›</a:t>
            </a:fld>
            <a:endParaRPr kumimoji="1" lang="zh-CN" altLang="en-US"/>
          </a:p>
        </p:txBody>
      </p:sp>
    </p:spTree>
    <p:extLst>
      <p:ext uri="{BB962C8B-B14F-4D97-AF65-F5344CB8AC3E}">
        <p14:creationId xmlns:p14="http://schemas.microsoft.com/office/powerpoint/2010/main" val="593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By the end of next week’s discussion session, anyone who is still not in a small group will be assigned by me.</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9</a:t>
            </a:fld>
            <a:endParaRPr kumimoji="1" lang="zh-CN" altLang="en-US"/>
          </a:p>
        </p:txBody>
      </p:sp>
    </p:spTree>
    <p:extLst>
      <p:ext uri="{BB962C8B-B14F-4D97-AF65-F5344CB8AC3E}">
        <p14:creationId xmlns:p14="http://schemas.microsoft.com/office/powerpoint/2010/main" val="127431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CAC4-5603-9540-4746-DF7D478F111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3E1C22-AA04-379D-70C6-A670FBE5C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2DF2C8-367E-2D45-DF75-FE56AEE427B5}"/>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96EAD1C0-22F7-2B75-E5B6-416C33DEB9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0D5D4F-5543-EF94-7D9E-26E2EB42014E}"/>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54588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83152-C981-6237-7465-0F9D4C52A9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0A163B-9301-5E7F-A6C9-6D50534B07C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7EFE64-6FB4-1927-0FA3-40A1ED4055FA}"/>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B2C80ED6-E235-BE41-6C84-57A9517261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1D644E8-37BB-F946-0182-7EFE141D75BF}"/>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1879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F04-C3CD-2F64-01B3-3226F98B90C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D1D39D8-BB09-E9E1-AE46-BD0402C3C7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B97D90E-E49A-C653-33E4-3399376B1FD5}"/>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82CBD9D7-4579-F439-2979-C756072B3C2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7746B-C90D-95F8-97AA-3FFEA76812E3}"/>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30704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304D9-3BF5-05E6-96B1-4655A1D5D0B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D08483-110C-D43D-A3FD-2BB20209E41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4C839D-DA8C-28CB-E5BA-B4723E5B08B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DFE45B9-76B7-AB04-8094-C8CE369E1FC5}"/>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6" name="页脚占位符 5">
            <a:extLst>
              <a:ext uri="{FF2B5EF4-FFF2-40B4-BE49-F238E27FC236}">
                <a16:creationId xmlns:a16="http://schemas.microsoft.com/office/drawing/2014/main" id="{D4AE34B5-B673-FBFE-4EFF-91DAE128E8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9DB086-FF5A-FE0C-D4BB-2ED5948A4B9D}"/>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594046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83DD5-6BE7-B60B-3830-1C91637238F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58B3FFE-61EA-239B-F19E-01B329548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309DF50-77E9-6A8A-B7FD-52C3A0A2AA2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0CBEA94-5C16-949F-958E-F32A629BA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E3CCEDE-D71C-351E-8E59-1DC6C8EEE59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AD051A4-8FC0-4958-27ED-3FD5D613C09D}"/>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8" name="页脚占位符 7">
            <a:extLst>
              <a:ext uri="{FF2B5EF4-FFF2-40B4-BE49-F238E27FC236}">
                <a16:creationId xmlns:a16="http://schemas.microsoft.com/office/drawing/2014/main" id="{8CB8DCF7-45C3-EA2A-1701-202A609F6A3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C826FD-6CBB-9310-BCE6-0AFD91F0D78C}"/>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9466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7DEE7-0D18-A3AB-6312-227BEE98C67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787988-EB72-BBF2-97A0-18FCAEDE436C}"/>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4" name="页脚占位符 3">
            <a:extLst>
              <a:ext uri="{FF2B5EF4-FFF2-40B4-BE49-F238E27FC236}">
                <a16:creationId xmlns:a16="http://schemas.microsoft.com/office/drawing/2014/main" id="{F71DEEEE-9CED-3233-301C-D61D4952DE6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1FAB2A8-6D82-8150-1ACA-546DA505F5D0}"/>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39539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F89BB-2D98-C933-488B-E600CB0651F0}"/>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3" name="页脚占位符 2">
            <a:extLst>
              <a:ext uri="{FF2B5EF4-FFF2-40B4-BE49-F238E27FC236}">
                <a16:creationId xmlns:a16="http://schemas.microsoft.com/office/drawing/2014/main" id="{427A268E-C4F6-B77D-1351-5DE83C0A386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EF8E4A0-1ACD-7A8E-7C68-98F88D65DBE2}"/>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48318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C987B-49C3-BFCA-7CA6-9ADDA1558D3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0330DC1-52A9-D64F-9566-03B17EB21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77648F5-B097-B233-8517-D224C2405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E39B80-C04B-2C82-D564-BE82DA1191AE}"/>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6" name="页脚占位符 5">
            <a:extLst>
              <a:ext uri="{FF2B5EF4-FFF2-40B4-BE49-F238E27FC236}">
                <a16:creationId xmlns:a16="http://schemas.microsoft.com/office/drawing/2014/main" id="{DAE4910C-3003-45C9-57B8-FCF2A71F59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572AEE-EF5E-7D71-EEBA-B8379AA66BFA}"/>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5191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A6230-C7A5-86BA-5615-904D96A6BC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8371D64-943D-9794-C679-047246E73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4449E2F-39C8-500F-46E0-0C78B03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3EA0B88-6CC1-DD08-915A-A518D5E2FECC}"/>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6" name="页脚占位符 5">
            <a:extLst>
              <a:ext uri="{FF2B5EF4-FFF2-40B4-BE49-F238E27FC236}">
                <a16:creationId xmlns:a16="http://schemas.microsoft.com/office/drawing/2014/main" id="{E51EC198-B676-0D20-89AE-543DC463373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C72265-ADC9-100E-D5B9-3493AC71CEB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66534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69B29-53BC-8508-9E8C-83082E837C4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6C1E39E-2C6E-E37C-2D42-EA3A825182C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32F3AD-94BB-4CB2-C858-7F07E36DE0C5}"/>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45B73678-DBC5-35FE-7720-4954170E71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3E6E86-AEF4-9E51-11FF-DBEEDF93F677}"/>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9316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3943D8-D242-3E2F-C24F-4E005E76AE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629DC73-6886-F0DB-9DA5-9ED96CE8253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2B799C-9E0E-429F-C629-2A18626668DB}"/>
              </a:ext>
            </a:extLst>
          </p:cNvPr>
          <p:cNvSpPr>
            <a:spLocks noGrp="1"/>
          </p:cNvSpPr>
          <p:nvPr>
            <p:ph type="dt" sz="half" idx="10"/>
          </p:nvPr>
        </p:nvSpPr>
        <p:spPr/>
        <p:txBody>
          <a:body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8794BFC4-5811-57DC-FF5C-4868DB2AC9C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24A7796-940B-415F-C832-E381105EE3E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44912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E35921-9950-2FB0-6355-6B06F016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D1B157-D31D-54B9-7D6A-F6D4AD6AC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F31D3-1A38-6B87-4306-66D57169E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2FA171-DF96-1B41-A089-FAB6FE9A340F}" type="datetimeFigureOut">
              <a:rPr kumimoji="1" lang="zh-CN" altLang="en-US" smtClean="0"/>
              <a:t>2025/10/13</a:t>
            </a:fld>
            <a:endParaRPr kumimoji="1" lang="zh-CN" altLang="en-US"/>
          </a:p>
        </p:txBody>
      </p:sp>
      <p:sp>
        <p:nvSpPr>
          <p:cNvPr id="5" name="页脚占位符 4">
            <a:extLst>
              <a:ext uri="{FF2B5EF4-FFF2-40B4-BE49-F238E27FC236}">
                <a16:creationId xmlns:a16="http://schemas.microsoft.com/office/drawing/2014/main" id="{FBC11102-B856-C277-A8F6-8D6AF8F93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9D88C62-D975-E146-FD0A-E318C5405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23223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Siri.Zhao@uga.edu"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3808E2-45E4-161E-FF98-8D45F12B9996}"/>
              </a:ext>
            </a:extLst>
          </p:cNvPr>
          <p:cNvSpPr>
            <a:spLocks noGrp="1"/>
          </p:cNvSpPr>
          <p:nvPr>
            <p:ph idx="1"/>
          </p:nvPr>
        </p:nvSpPr>
        <p:spPr>
          <a:xfrm>
            <a:off x="922283" y="536028"/>
            <a:ext cx="10515600" cy="6001406"/>
          </a:xfrm>
        </p:spPr>
        <p:txBody>
          <a:bodyPr>
            <a:normAutofit/>
          </a:bodyPr>
          <a:lstStyle/>
          <a:p>
            <a:pPr marL="0" indent="0">
              <a:buNone/>
            </a:pPr>
            <a:r>
              <a:rPr kumimoji="1" lang="en-US" altLang="zh-CN" dirty="0">
                <a:latin typeface="Constantia" panose="02030602050306030303" pitchFamily="18" charset="0"/>
              </a:rPr>
              <a:t>Here are </a:t>
            </a:r>
            <a:r>
              <a:rPr kumimoji="1" lang="en-US" altLang="zh-CN" b="1" dirty="0">
                <a:latin typeface="Constantia" panose="02030602050306030303" pitchFamily="18" charset="0"/>
              </a:rPr>
              <a:t>five</a:t>
            </a:r>
            <a:r>
              <a:rPr kumimoji="1" lang="en-US" altLang="zh-CN" dirty="0">
                <a:latin typeface="Constantia" panose="02030602050306030303" pitchFamily="18" charset="0"/>
              </a:rPr>
              <a:t> </a:t>
            </a:r>
            <a:r>
              <a:rPr lang="en-US" altLang="zh-CN" dirty="0">
                <a:latin typeface="Constantia" panose="02030602050306030303" pitchFamily="18" charset="0"/>
              </a:rPr>
              <a:t>different colors of card stock for you to use in making your name tags.</a:t>
            </a:r>
          </a:p>
          <a:p>
            <a:pPr marL="0" indent="0">
              <a:buNone/>
            </a:pPr>
            <a:endParaRPr kumimoji="1" lang="en-US" altLang="zh-CN" dirty="0">
              <a:latin typeface="Constantia" panose="02030602050306030303" pitchFamily="18" charset="0"/>
            </a:endParaRPr>
          </a:p>
          <a:p>
            <a:pPr marL="0" indent="0">
              <a:buNone/>
            </a:pPr>
            <a:r>
              <a:rPr lang="en-US" altLang="zh-CN" b="1" dirty="0">
                <a:latin typeface="Constantia" panose="02030602050306030303" pitchFamily="18" charset="0"/>
              </a:rPr>
              <a:t>Our group division will be based on the color you choose.</a:t>
            </a:r>
          </a:p>
          <a:p>
            <a:pPr marL="0" indent="0">
              <a:buNone/>
            </a:pPr>
            <a:br>
              <a:rPr lang="en-US" altLang="zh-CN" dirty="0">
                <a:latin typeface="Constantia" panose="02030602050306030303" pitchFamily="18" charset="0"/>
              </a:rPr>
            </a:br>
            <a:r>
              <a:rPr lang="en-US" altLang="zh-CN" dirty="0">
                <a:latin typeface="Constantia" panose="02030602050306030303" pitchFamily="18" charset="0"/>
              </a:rPr>
              <a:t>Within each group, 2–3 students will form a discussion unit and will take turns serving as the </a:t>
            </a:r>
            <a:r>
              <a:rPr lang="en-US" altLang="zh-CN" b="1" dirty="0">
                <a:solidFill>
                  <a:srgbClr val="FF0000"/>
                </a:solidFill>
                <a:latin typeface="Constantia" panose="02030602050306030303" pitchFamily="18" charset="0"/>
              </a:rPr>
              <a:t>small-group discussion leader</a:t>
            </a:r>
            <a:r>
              <a:rPr lang="en-US" altLang="zh-CN" dirty="0">
                <a:solidFill>
                  <a:srgbClr val="FF0000"/>
                </a:solidFill>
                <a:latin typeface="Constantia" panose="02030602050306030303" pitchFamily="18" charset="0"/>
              </a:rPr>
              <a:t> </a:t>
            </a:r>
            <a:r>
              <a:rPr lang="en-US" altLang="zh-CN" dirty="0">
                <a:latin typeface="Constantia" panose="02030602050306030303" pitchFamily="18" charset="0"/>
              </a:rPr>
              <a:t>in each discussion session</a:t>
            </a:r>
            <a:r>
              <a:rPr lang="zh-CN" altLang="en-US" dirty="0">
                <a:latin typeface="Constantia" panose="02030602050306030303" pitchFamily="18" charset="0"/>
              </a:rPr>
              <a:t> </a:t>
            </a:r>
            <a:r>
              <a:rPr lang="en-US" altLang="zh-CN" dirty="0">
                <a:latin typeface="Constantia" panose="02030602050306030303" pitchFamily="18" charset="0"/>
              </a:rPr>
              <a:t>(Starting</a:t>
            </a:r>
            <a:r>
              <a:rPr lang="zh-CN" altLang="en-US" dirty="0">
                <a:latin typeface="Constantia" panose="02030602050306030303" pitchFamily="18" charset="0"/>
              </a:rPr>
              <a:t> </a:t>
            </a:r>
            <a:r>
              <a:rPr lang="en-US" altLang="zh-CN" dirty="0">
                <a:latin typeface="Constantia" panose="02030602050306030303" pitchFamily="18" charset="0"/>
              </a:rPr>
              <a:t>from</a:t>
            </a:r>
            <a:r>
              <a:rPr lang="zh-CN" altLang="en-US" dirty="0">
                <a:latin typeface="Constantia" panose="02030602050306030303" pitchFamily="18" charset="0"/>
              </a:rPr>
              <a:t> </a:t>
            </a:r>
            <a:r>
              <a:rPr lang="en-US" altLang="zh-CN" b="1" dirty="0">
                <a:latin typeface="Constantia" panose="02030602050306030303" pitchFamily="18" charset="0"/>
              </a:rPr>
              <a:t>Week 3</a:t>
            </a:r>
            <a:r>
              <a:rPr lang="zh-CN" altLang="en-US" dirty="0">
                <a:latin typeface="Constantia" panose="02030602050306030303" pitchFamily="18" charset="0"/>
              </a:rPr>
              <a:t>）</a:t>
            </a:r>
            <a:r>
              <a:rPr lang="en-US" altLang="zh-CN" dirty="0">
                <a:latin typeface="Constantia" panose="02030602050306030303" pitchFamily="18" charset="0"/>
              </a:rPr>
              <a:t>.</a:t>
            </a:r>
          </a:p>
          <a:p>
            <a:pPr marL="0" indent="0">
              <a:buNone/>
            </a:pPr>
            <a:endParaRPr lang="en-US" altLang="zh-CN" dirty="0">
              <a:latin typeface="Constantia" panose="02030602050306030303" pitchFamily="18" charset="0"/>
            </a:endParaRPr>
          </a:p>
          <a:p>
            <a:pPr marL="0" indent="0">
              <a:buNone/>
            </a:pPr>
            <a:r>
              <a:rPr lang="en-US" altLang="zh-CN" dirty="0">
                <a:latin typeface="Constantia" panose="02030602050306030303" pitchFamily="18" charset="0"/>
              </a:rPr>
              <a:t>When we need to do some </a:t>
            </a:r>
            <a:r>
              <a:rPr lang="en-US" altLang="zh-CN" b="1" dirty="0">
                <a:latin typeface="Constantia" panose="02030602050306030303" pitchFamily="18" charset="0"/>
              </a:rPr>
              <a:t>in-class group discussion activities</a:t>
            </a:r>
            <a:r>
              <a:rPr lang="en-US" altLang="zh-CN" dirty="0">
                <a:latin typeface="Constantia" panose="02030602050306030303" pitchFamily="18" charset="0"/>
              </a:rPr>
              <a:t>, they will happen with in the </a:t>
            </a:r>
            <a:r>
              <a:rPr lang="en-US" altLang="zh-CN" b="1" dirty="0">
                <a:solidFill>
                  <a:srgbClr val="FF0000"/>
                </a:solidFill>
                <a:latin typeface="Constantia" panose="02030602050306030303" pitchFamily="18" charset="0"/>
              </a:rPr>
              <a:t>five large groups</a:t>
            </a:r>
            <a:r>
              <a:rPr lang="en-US" altLang="zh-CN" dirty="0">
                <a:latin typeface="Constantia" panose="02030602050306030303" pitchFamily="18" charset="0"/>
              </a:rPr>
              <a:t>. </a:t>
            </a:r>
          </a:p>
          <a:p>
            <a:pPr marL="0" indent="0">
              <a:buNone/>
            </a:pPr>
            <a:endParaRPr lang="en-US" altLang="zh-CN" dirty="0">
              <a:latin typeface="Constantia" panose="02030602050306030303" pitchFamily="18" charset="0"/>
            </a:endParaRPr>
          </a:p>
          <a:p>
            <a:pPr marL="0" indent="0">
              <a:buNone/>
            </a:pPr>
            <a:r>
              <a:rPr lang="en-US" altLang="zh-CN" dirty="0">
                <a:latin typeface="Constantia" panose="02030602050306030303" pitchFamily="18" charset="0"/>
              </a:rPr>
              <a:t>So… go ahead and pick your card stock!</a:t>
            </a:r>
          </a:p>
          <a:p>
            <a:pPr marL="0" indent="0">
              <a:buNone/>
            </a:pPr>
            <a:endParaRPr kumimoji="1" lang="zh-CN" altLang="en-US" dirty="0">
              <a:latin typeface="Constantia" panose="02030602050306030303" pitchFamily="18" charset="0"/>
            </a:endParaRPr>
          </a:p>
        </p:txBody>
      </p:sp>
    </p:spTree>
    <p:extLst>
      <p:ext uri="{BB962C8B-B14F-4D97-AF65-F5344CB8AC3E}">
        <p14:creationId xmlns:p14="http://schemas.microsoft.com/office/powerpoint/2010/main" val="3807706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E6EF4-2BC6-E096-750F-ECCBB9D42F48}"/>
              </a:ext>
            </a:extLst>
          </p:cNvPr>
          <p:cNvSpPr>
            <a:spLocks noGrp="1"/>
          </p:cNvSpPr>
          <p:nvPr>
            <p:ph type="ctrTitle"/>
          </p:nvPr>
        </p:nvSpPr>
        <p:spPr>
          <a:xfrm>
            <a:off x="1524000" y="903888"/>
            <a:ext cx="9144000" cy="1439425"/>
          </a:xfrm>
        </p:spPr>
        <p:txBody>
          <a:bodyPr>
            <a:normAutofit fontScale="90000"/>
          </a:bodyPr>
          <a:lstStyle/>
          <a:p>
            <a:r>
              <a:rPr kumimoji="1" lang="en-US" altLang="zh-CN" sz="5400" b="1" dirty="0">
                <a:latin typeface="Century Gothic" panose="020B0502020202020204" pitchFamily="34" charset="0"/>
              </a:rPr>
              <a:t>1. Introduction &amp; Ice breakers</a:t>
            </a:r>
            <a:endParaRPr kumimoji="1" lang="zh-CN" altLang="en-US" sz="5400" dirty="0">
              <a:latin typeface="Century Gothic" panose="020B0502020202020204" pitchFamily="34" charset="0"/>
            </a:endParaRPr>
          </a:p>
        </p:txBody>
      </p:sp>
      <p:sp>
        <p:nvSpPr>
          <p:cNvPr id="3" name="副标题 2">
            <a:extLst>
              <a:ext uri="{FF2B5EF4-FFF2-40B4-BE49-F238E27FC236}">
                <a16:creationId xmlns:a16="http://schemas.microsoft.com/office/drawing/2014/main" id="{BD47D000-FF03-80F2-FC6B-25D1B58BDF12}"/>
              </a:ext>
            </a:extLst>
          </p:cNvPr>
          <p:cNvSpPr>
            <a:spLocks noGrp="1"/>
          </p:cNvSpPr>
          <p:nvPr>
            <p:ph type="subTitle" idx="1"/>
          </p:nvPr>
        </p:nvSpPr>
        <p:spPr>
          <a:xfrm>
            <a:off x="1524000" y="3428998"/>
            <a:ext cx="9144000" cy="2982311"/>
          </a:xfrm>
        </p:spPr>
        <p:txBody>
          <a:bodyPr>
            <a:normAutofit lnSpcReduction="10000"/>
          </a:bodyPr>
          <a:lstStyle/>
          <a:p>
            <a:r>
              <a:rPr kumimoji="1" lang="en-US" altLang="zh-CN" b="1" dirty="0">
                <a:latin typeface="Century Gothic" panose="020B0502020202020204" pitchFamily="34" charset="0"/>
              </a:rPr>
              <a:t>Breakout Sessions</a:t>
            </a:r>
          </a:p>
          <a:p>
            <a:r>
              <a:rPr kumimoji="1" lang="en-US" altLang="zh-CN" b="1" dirty="0">
                <a:latin typeface="Century Gothic" panose="020B0502020202020204" pitchFamily="34" charset="0"/>
              </a:rPr>
              <a:t>POLS 1101</a:t>
            </a:r>
          </a:p>
          <a:p>
            <a:r>
              <a:rPr kumimoji="1" lang="en-US" altLang="zh-CN" b="1" dirty="0">
                <a:latin typeface="Century Gothic" panose="020B0502020202020204" pitchFamily="34" charset="0"/>
              </a:rPr>
              <a:t>12:40pm-1:30pm</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Park</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Hall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145</a:t>
            </a:r>
            <a:r>
              <a:rPr kumimoji="1" lang="zh-CN" altLang="en-US" b="1" dirty="0">
                <a:latin typeface="Century Gothic" panose="020B0502020202020204" pitchFamily="34" charset="0"/>
              </a:rPr>
              <a:t> </a:t>
            </a:r>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&amp;</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1:50pm-2:40pm Leconte Hall 135</a:t>
            </a:r>
          </a:p>
          <a:p>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SIYUAN (Siri) ZHAO</a:t>
            </a:r>
          </a:p>
          <a:p>
            <a:r>
              <a:rPr kumimoji="1" lang="en-US" altLang="zh-CN" b="1" dirty="0" err="1">
                <a:latin typeface="Century Gothic" panose="020B0502020202020204" pitchFamily="34" charset="0"/>
              </a:rPr>
              <a:t>Siri.Zhao@uga.edu</a:t>
            </a:r>
            <a:endParaRPr kumimoji="1" lang="zh-CN" altLang="en-US" b="1" dirty="0">
              <a:latin typeface="Century Gothic" panose="020B0502020202020204" pitchFamily="34" charset="0"/>
            </a:endParaRPr>
          </a:p>
        </p:txBody>
      </p:sp>
    </p:spTree>
    <p:extLst>
      <p:ext uri="{BB962C8B-B14F-4D97-AF65-F5344CB8AC3E}">
        <p14:creationId xmlns:p14="http://schemas.microsoft.com/office/powerpoint/2010/main" val="33967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78BB4-4865-3E7B-0D4E-C002FE68D6EB}"/>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About</a:t>
            </a:r>
            <a:r>
              <a:rPr kumimoji="1" lang="zh-CN" altLang="en-US" sz="4000" b="1" dirty="0">
                <a:latin typeface="Century Gothic" panose="020B0502020202020204" pitchFamily="34" charset="0"/>
              </a:rPr>
              <a:t> </a:t>
            </a:r>
            <a:r>
              <a:rPr kumimoji="1" lang="en-US" altLang="zh-CN" sz="4000" b="1" dirty="0">
                <a:latin typeface="Century Gothic" panose="020B0502020202020204" pitchFamily="34" charset="0"/>
              </a:rPr>
              <a:t>me</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C1E27992-FA10-911D-8961-FB5AE68C2E5D}"/>
              </a:ext>
            </a:extLst>
          </p:cNvPr>
          <p:cNvSpPr>
            <a:spLocks noGrp="1"/>
          </p:cNvSpPr>
          <p:nvPr>
            <p:ph idx="1"/>
          </p:nvPr>
        </p:nvSpPr>
        <p:spPr>
          <a:xfrm>
            <a:off x="838200" y="1585555"/>
            <a:ext cx="10515600" cy="4899328"/>
          </a:xfrm>
        </p:spPr>
        <p:txBody>
          <a:bodyPr>
            <a:normAutofit/>
          </a:bodyPr>
          <a:lstStyle/>
          <a:p>
            <a:pPr>
              <a:lnSpc>
                <a:spcPct val="100000"/>
              </a:lnSpc>
            </a:pPr>
            <a:r>
              <a:rPr kumimoji="1" lang="en-US" altLang="zh-CN" sz="2600" dirty="0">
                <a:latin typeface="Century Gothic" panose="020B0502020202020204" pitchFamily="34" charset="0"/>
              </a:rPr>
              <a:t>Siyuan (Siri) Zhao, first-year PhD student</a:t>
            </a:r>
            <a:r>
              <a:rPr kumimoji="1" lang="zh-CN" altLang="en-US" sz="2600" dirty="0">
                <a:latin typeface="Century Gothic" panose="020B0502020202020204" pitchFamily="34" charset="0"/>
              </a:rPr>
              <a:t> </a:t>
            </a:r>
            <a:r>
              <a:rPr kumimoji="1" lang="en-US" altLang="zh-CN" sz="2600" dirty="0">
                <a:latin typeface="Century Gothic" panose="020B0502020202020204" pitchFamily="34" charset="0"/>
              </a:rPr>
              <a:t>of PADP</a:t>
            </a:r>
          </a:p>
          <a:p>
            <a:pPr lvl="1">
              <a:lnSpc>
                <a:spcPct val="100000"/>
              </a:lnSpc>
            </a:pPr>
            <a:r>
              <a:rPr kumimoji="1" lang="en-US" altLang="zh-CN" sz="2200" dirty="0">
                <a:latin typeface="Century Gothic" panose="020B0502020202020204" pitchFamily="34" charset="0"/>
              </a:rPr>
              <a:t>You are my first group of students!</a:t>
            </a:r>
          </a:p>
          <a:p>
            <a:pPr>
              <a:lnSpc>
                <a:spcPct val="100000"/>
              </a:lnSpc>
            </a:pPr>
            <a:r>
              <a:rPr kumimoji="1" lang="en-US" altLang="zh-CN" sz="2600" dirty="0">
                <a:latin typeface="Century Gothic" panose="020B0502020202020204" pitchFamily="34" charset="0"/>
              </a:rPr>
              <a:t>Research Interests: Citizen-state interactions, Public Personnel Management, Organizational Behavior</a:t>
            </a:r>
          </a:p>
          <a:p>
            <a:pPr>
              <a:lnSpc>
                <a:spcPct val="100000"/>
              </a:lnSpc>
            </a:pPr>
            <a:r>
              <a:rPr kumimoji="1" lang="en-US" altLang="zh-CN" sz="2600" dirty="0">
                <a:latin typeface="Century Gothic" panose="020B0502020202020204" pitchFamily="34" charset="0"/>
              </a:rPr>
              <a:t>Got BA &amp; MA at Peking University (PKU), China</a:t>
            </a:r>
          </a:p>
          <a:p>
            <a:pPr>
              <a:lnSpc>
                <a:spcPct val="100000"/>
              </a:lnSpc>
            </a:pPr>
            <a:r>
              <a:rPr kumimoji="1" lang="en-US" altLang="zh-CN" sz="2600" dirty="0">
                <a:latin typeface="Century Gothic" panose="020B0502020202020204" pitchFamily="34" charset="0"/>
              </a:rPr>
              <a:t>Learn with you, Learn from you</a:t>
            </a:r>
          </a:p>
          <a:p>
            <a:pPr lvl="1">
              <a:lnSpc>
                <a:spcPct val="100000"/>
              </a:lnSpc>
            </a:pPr>
            <a:r>
              <a:rPr kumimoji="1" lang="en-US" altLang="zh-CN" sz="2200" dirty="0">
                <a:latin typeface="Century Gothic" panose="020B0502020202020204" pitchFamily="34" charset="0"/>
              </a:rPr>
              <a:t>Leader: Professional </a:t>
            </a:r>
          </a:p>
          <a:p>
            <a:pPr lvl="1">
              <a:lnSpc>
                <a:spcPct val="100000"/>
              </a:lnSpc>
            </a:pPr>
            <a:r>
              <a:rPr kumimoji="1" lang="en-US" altLang="zh-CN" sz="2200" dirty="0">
                <a:latin typeface="Century Gothic" panose="020B0502020202020204" pitchFamily="34" charset="0"/>
              </a:rPr>
              <a:t>Companion: New in America!</a:t>
            </a:r>
          </a:p>
        </p:txBody>
      </p:sp>
    </p:spTree>
    <p:extLst>
      <p:ext uri="{BB962C8B-B14F-4D97-AF65-F5344CB8AC3E}">
        <p14:creationId xmlns:p14="http://schemas.microsoft.com/office/powerpoint/2010/main" val="3961837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7F7F8-3711-0854-B6E9-DADB5037EA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D66509-DF99-0BEB-5B8F-14777A2BE1D4}"/>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Course Overview</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1299B1EA-6B34-CA7C-034C-EE15E1349199}"/>
              </a:ext>
            </a:extLst>
          </p:cNvPr>
          <p:cNvSpPr>
            <a:spLocks noGrp="1"/>
          </p:cNvSpPr>
          <p:nvPr>
            <p:ph idx="1"/>
          </p:nvPr>
        </p:nvSpPr>
        <p:spPr>
          <a:xfrm>
            <a:off x="838200" y="1244603"/>
            <a:ext cx="10515600" cy="5734266"/>
          </a:xfrm>
        </p:spPr>
        <p:txBody>
          <a:bodyPr>
            <a:normAutofit/>
          </a:bodyPr>
          <a:lstStyle/>
          <a:p>
            <a:pPr marL="0" indent="0">
              <a:buNone/>
            </a:pPr>
            <a:r>
              <a:rPr kumimoji="1" lang="en-US" altLang="zh-CN" sz="2400" i="1" dirty="0">
                <a:latin typeface="Constantia" panose="02030602050306030303" pitchFamily="18" charset="0"/>
              </a:rPr>
              <a:t>This</a:t>
            </a:r>
            <a:r>
              <a:rPr kumimoji="1" lang="zh-CN" altLang="en-US" sz="2400" i="1" dirty="0">
                <a:latin typeface="Constantia" panose="02030602050306030303" pitchFamily="18" charset="0"/>
              </a:rPr>
              <a:t> </a:t>
            </a:r>
            <a:r>
              <a:rPr kumimoji="1" lang="en-US" altLang="zh-CN" sz="2400" i="1" dirty="0">
                <a:latin typeface="Constantia" panose="02030602050306030303" pitchFamily="18" charset="0"/>
              </a:rPr>
              <a:t>course</a:t>
            </a:r>
            <a:r>
              <a:rPr kumimoji="1" lang="zh-CN" altLang="en-US" sz="2400" i="1" dirty="0">
                <a:latin typeface="Constantia" panose="02030602050306030303" pitchFamily="18" charset="0"/>
              </a:rPr>
              <a:t> </a:t>
            </a:r>
            <a:r>
              <a:rPr kumimoji="1" lang="en-US" altLang="zh-CN" sz="2400" i="1" dirty="0">
                <a:latin typeface="Constantia" panose="02030602050306030303" pitchFamily="18" charset="0"/>
              </a:rPr>
              <a:t>is designed to introduce students to the institutions and processes of  American national government and Georgia.</a:t>
            </a: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endParaRPr kumimoji="1" lang="en-US" altLang="zh-CN" sz="2400" i="1" dirty="0">
              <a:latin typeface="Constantia" panose="02030602050306030303" pitchFamily="18" charset="0"/>
            </a:endParaRPr>
          </a:p>
          <a:p>
            <a:pPr marL="0" indent="0">
              <a:buNone/>
            </a:pPr>
            <a:r>
              <a:rPr kumimoji="1" lang="en-US" altLang="zh-CN" sz="2200" dirty="0">
                <a:latin typeface="Constantia" panose="02030602050306030303" pitchFamily="18" charset="0"/>
              </a:rPr>
              <a:t>Breakout sessions account for </a:t>
            </a:r>
            <a:r>
              <a:rPr kumimoji="1" lang="en-US" altLang="zh-CN" sz="2200" b="1" dirty="0">
                <a:solidFill>
                  <a:srgbClr val="FF0000"/>
                </a:solidFill>
                <a:latin typeface="Constantia" panose="02030602050306030303" pitchFamily="18" charset="0"/>
              </a:rPr>
              <a:t>10% </a:t>
            </a:r>
            <a:r>
              <a:rPr kumimoji="1" lang="en-US" altLang="zh-CN" sz="2200" dirty="0">
                <a:latin typeface="Constantia" panose="02030602050306030303" pitchFamily="18" charset="0"/>
              </a:rPr>
              <a:t>of your overall grade in the class.</a:t>
            </a:r>
          </a:p>
          <a:p>
            <a:pPr marL="0" indent="0">
              <a:buNone/>
            </a:pPr>
            <a:r>
              <a:rPr kumimoji="1" lang="en-US" altLang="zh-CN" sz="2200" dirty="0">
                <a:latin typeface="Constantia" panose="02030602050306030303" pitchFamily="18" charset="0"/>
              </a:rPr>
              <a:t>Your</a:t>
            </a:r>
            <a:r>
              <a:rPr kumimoji="1" lang="zh-CN" altLang="en-US" sz="2200" dirty="0">
                <a:latin typeface="Constantia" panose="02030602050306030303" pitchFamily="18" charset="0"/>
              </a:rPr>
              <a:t> </a:t>
            </a:r>
            <a:r>
              <a:rPr kumimoji="1" lang="en-US" altLang="zh-CN" sz="2200" dirty="0">
                <a:latin typeface="Constantia" panose="02030602050306030303" pitchFamily="18" charset="0"/>
              </a:rPr>
              <a:t>grade for breakout sessions will depend on you </a:t>
            </a:r>
            <a:r>
              <a:rPr kumimoji="1" lang="en-US" altLang="zh-CN" sz="2200" b="1" dirty="0">
                <a:solidFill>
                  <a:srgbClr val="FF0000"/>
                </a:solidFill>
                <a:latin typeface="Constantia" panose="02030602050306030303" pitchFamily="18" charset="0"/>
              </a:rPr>
              <a:t>showing up and participating </a:t>
            </a:r>
            <a:r>
              <a:rPr kumimoji="1" lang="en-US" altLang="zh-CN" sz="2200" dirty="0">
                <a:latin typeface="Constantia" panose="02030602050306030303" pitchFamily="18" charset="0"/>
              </a:rPr>
              <a:t>in discussions and activities.</a:t>
            </a:r>
          </a:p>
          <a:p>
            <a:endParaRPr kumimoji="1" lang="en-US" altLang="zh-CN" sz="2400" i="1" dirty="0">
              <a:latin typeface="Constantia" panose="02030602050306030303" pitchFamily="18" charset="0"/>
            </a:endParaRPr>
          </a:p>
          <a:p>
            <a:endParaRPr kumimoji="1" lang="zh-CN" altLang="en-US" sz="2400" i="1" dirty="0">
              <a:latin typeface="Constantia" panose="02030602050306030303" pitchFamily="18" charset="0"/>
            </a:endParaRPr>
          </a:p>
        </p:txBody>
      </p:sp>
      <p:sp>
        <p:nvSpPr>
          <p:cNvPr id="4" name="文本框 3">
            <a:extLst>
              <a:ext uri="{FF2B5EF4-FFF2-40B4-BE49-F238E27FC236}">
                <a16:creationId xmlns:a16="http://schemas.microsoft.com/office/drawing/2014/main" id="{6D8C0096-4D25-2F4D-0799-286A0BC119A2}"/>
              </a:ext>
            </a:extLst>
          </p:cNvPr>
          <p:cNvSpPr txBox="1"/>
          <p:nvPr/>
        </p:nvSpPr>
        <p:spPr>
          <a:xfrm>
            <a:off x="838200" y="2269591"/>
            <a:ext cx="3702270" cy="1754326"/>
          </a:xfrm>
          <a:prstGeom prst="rect">
            <a:avLst/>
          </a:prstGeom>
          <a:noFill/>
        </p:spPr>
        <p:txBody>
          <a:bodyPr wrap="square" rtlCol="0">
            <a:spAutoFit/>
          </a:bodyPr>
          <a:lstStyle/>
          <a:p>
            <a:r>
              <a:rPr kumimoji="1" lang="en-US" altLang="zh-CN" b="1" dirty="0">
                <a:latin typeface="Century Gothic" panose="020B0502020202020204" pitchFamily="34" charset="0"/>
              </a:rPr>
              <a:t>Part 1: </a:t>
            </a:r>
            <a:r>
              <a:rPr lang="en-US" altLang="zh-CN" b="1" dirty="0">
                <a:latin typeface="Century Gothic" panose="020B0502020202020204" pitchFamily="34" charset="0"/>
              </a:rPr>
              <a:t>Ideas and Values as the Foundation of Politics</a:t>
            </a:r>
          </a:p>
          <a:p>
            <a:pPr marL="285750" indent="-285750">
              <a:buFont typeface="Arial" panose="020B0604020202020204" pitchFamily="34" charset="0"/>
              <a:buChar char="•"/>
            </a:pPr>
            <a:r>
              <a:rPr kumimoji="1" lang="en-US" altLang="zh-CN" dirty="0">
                <a:latin typeface="Century Gothic" panose="020B0502020202020204" pitchFamily="34" charset="0"/>
              </a:rPr>
              <a:t>Political Values</a:t>
            </a:r>
          </a:p>
          <a:p>
            <a:pPr marL="285750" indent="-285750">
              <a:buFont typeface="Arial" panose="020B0604020202020204" pitchFamily="34" charset="0"/>
              <a:buChar char="•"/>
            </a:pPr>
            <a:r>
              <a:rPr kumimoji="1" lang="en-US" altLang="zh-CN" dirty="0">
                <a:latin typeface="Century Gothic" panose="020B0502020202020204" pitchFamily="34" charset="0"/>
              </a:rPr>
              <a:t>Democracy</a:t>
            </a:r>
          </a:p>
          <a:p>
            <a:pPr marL="285750" indent="-285750">
              <a:buFont typeface="Arial" panose="020B0604020202020204" pitchFamily="34" charset="0"/>
              <a:buChar char="•"/>
            </a:pPr>
            <a:r>
              <a:rPr kumimoji="1" lang="en-US" altLang="zh-CN" dirty="0">
                <a:latin typeface="Century Gothic" panose="020B0502020202020204" pitchFamily="34" charset="0"/>
              </a:rPr>
              <a:t>Constitutional Foundations</a:t>
            </a:r>
          </a:p>
          <a:p>
            <a:pPr marL="285750" indent="-285750">
              <a:buFont typeface="Arial" panose="020B0604020202020204" pitchFamily="34" charset="0"/>
              <a:buChar char="•"/>
            </a:pPr>
            <a:r>
              <a:rPr kumimoji="1" lang="en-US" altLang="zh-CN" dirty="0">
                <a:latin typeface="Century Gothic" panose="020B0502020202020204" pitchFamily="34" charset="0"/>
              </a:rPr>
              <a:t>Federalism &amp; Georgia politics</a:t>
            </a:r>
            <a:endParaRPr kumimoji="1" lang="zh-CN" altLang="en-US" dirty="0">
              <a:latin typeface="Century Gothic" panose="020B0502020202020204" pitchFamily="34" charset="0"/>
            </a:endParaRPr>
          </a:p>
        </p:txBody>
      </p:sp>
      <p:sp>
        <p:nvSpPr>
          <p:cNvPr id="5" name="文本框 4">
            <a:extLst>
              <a:ext uri="{FF2B5EF4-FFF2-40B4-BE49-F238E27FC236}">
                <a16:creationId xmlns:a16="http://schemas.microsoft.com/office/drawing/2014/main" id="{4FC0F05A-502B-2B52-0B5A-CABD818E5C95}"/>
              </a:ext>
            </a:extLst>
          </p:cNvPr>
          <p:cNvSpPr txBox="1"/>
          <p:nvPr/>
        </p:nvSpPr>
        <p:spPr>
          <a:xfrm>
            <a:off x="838200" y="4313853"/>
            <a:ext cx="3702270" cy="1200329"/>
          </a:xfrm>
          <a:prstGeom prst="rect">
            <a:avLst/>
          </a:prstGeom>
          <a:noFill/>
        </p:spPr>
        <p:txBody>
          <a:bodyPr wrap="square" rtlCol="0">
            <a:spAutoFit/>
          </a:bodyPr>
          <a:lstStyle/>
          <a:p>
            <a:r>
              <a:rPr kumimoji="1" lang="en-US" altLang="zh-CN" b="1" dirty="0">
                <a:latin typeface="Century Gothic" panose="020B0502020202020204" pitchFamily="34" charset="0"/>
              </a:rPr>
              <a:t>Part 3: </a:t>
            </a:r>
            <a:r>
              <a:rPr lang="en-US" altLang="zh-CN" b="1" dirty="0">
                <a:latin typeface="Century Gothic" panose="020B0502020202020204" pitchFamily="34" charset="0"/>
              </a:rPr>
              <a:t>Political Behavior</a:t>
            </a:r>
          </a:p>
          <a:p>
            <a:pPr marL="285750" indent="-285750">
              <a:buFont typeface="Arial" panose="020B0604020202020204" pitchFamily="34" charset="0"/>
              <a:buChar char="•"/>
            </a:pPr>
            <a:r>
              <a:rPr kumimoji="1" lang="en-US" altLang="zh-CN" dirty="0">
                <a:latin typeface="Century Gothic" panose="020B0502020202020204" pitchFamily="34" charset="0"/>
              </a:rPr>
              <a:t>Public Opinion</a:t>
            </a:r>
          </a:p>
          <a:p>
            <a:pPr marL="285750" indent="-285750">
              <a:buFont typeface="Arial" panose="020B0604020202020204" pitchFamily="34" charset="0"/>
              <a:buChar char="•"/>
            </a:pPr>
            <a:r>
              <a:rPr kumimoji="1" lang="en-US" altLang="zh-CN" dirty="0">
                <a:latin typeface="Century Gothic" panose="020B0502020202020204" pitchFamily="34" charset="0"/>
              </a:rPr>
              <a:t>Participation &amp; Voting</a:t>
            </a:r>
          </a:p>
          <a:p>
            <a:pPr marL="285750" indent="-285750">
              <a:buFont typeface="Arial" panose="020B0604020202020204" pitchFamily="34" charset="0"/>
              <a:buChar char="•"/>
            </a:pPr>
            <a:r>
              <a:rPr kumimoji="1" lang="en-US" altLang="zh-CN" dirty="0">
                <a:latin typeface="Century Gothic" panose="020B0502020202020204" pitchFamily="34" charset="0"/>
              </a:rPr>
              <a:t>Campaigns &amp; Elections</a:t>
            </a:r>
            <a:endParaRPr kumimoji="1" lang="zh-CN" altLang="en-US" dirty="0">
              <a:latin typeface="Century Gothic" panose="020B0502020202020204" pitchFamily="34" charset="0"/>
            </a:endParaRPr>
          </a:p>
        </p:txBody>
      </p:sp>
      <p:sp>
        <p:nvSpPr>
          <p:cNvPr id="6" name="文本框 5">
            <a:extLst>
              <a:ext uri="{FF2B5EF4-FFF2-40B4-BE49-F238E27FC236}">
                <a16:creationId xmlns:a16="http://schemas.microsoft.com/office/drawing/2014/main" id="{213DF2A7-46AA-51B0-B4B5-FC40EAC05FE1}"/>
              </a:ext>
            </a:extLst>
          </p:cNvPr>
          <p:cNvSpPr txBox="1"/>
          <p:nvPr/>
        </p:nvSpPr>
        <p:spPr>
          <a:xfrm>
            <a:off x="5312981" y="2269591"/>
            <a:ext cx="6818587" cy="2585323"/>
          </a:xfrm>
          <a:prstGeom prst="rect">
            <a:avLst/>
          </a:prstGeom>
          <a:noFill/>
        </p:spPr>
        <p:txBody>
          <a:bodyPr wrap="square" rtlCol="0">
            <a:spAutoFit/>
          </a:bodyPr>
          <a:lstStyle/>
          <a:p>
            <a:r>
              <a:rPr kumimoji="1" lang="en-US" altLang="zh-CN" b="1" dirty="0">
                <a:latin typeface="Century Gothic" panose="020B0502020202020204" pitchFamily="34" charset="0"/>
              </a:rPr>
              <a:t>Part 2: </a:t>
            </a:r>
            <a:r>
              <a:rPr lang="en-US" altLang="zh-CN" b="1" dirty="0">
                <a:latin typeface="Century Gothic" panose="020B0502020202020204" pitchFamily="34" charset="0"/>
              </a:rPr>
              <a:t>Political Actors &amp; Processes</a:t>
            </a:r>
          </a:p>
          <a:p>
            <a:pPr marL="285750" indent="-285750">
              <a:buFont typeface="Arial" panose="020B0604020202020204" pitchFamily="34" charset="0"/>
              <a:buChar char="•"/>
            </a:pPr>
            <a:r>
              <a:rPr kumimoji="1" lang="en-US" altLang="zh-CN" dirty="0">
                <a:latin typeface="Century Gothic" panose="020B0502020202020204" pitchFamily="34" charset="0"/>
              </a:rPr>
              <a:t>Civil Liberties, Civil Rights</a:t>
            </a:r>
          </a:p>
          <a:p>
            <a:pPr marL="285750" indent="-285750">
              <a:buFont typeface="Arial" panose="020B0604020202020204" pitchFamily="34" charset="0"/>
              <a:buChar char="•"/>
            </a:pPr>
            <a:r>
              <a:rPr kumimoji="1" lang="en-US" altLang="zh-CN" dirty="0">
                <a:latin typeface="Century Gothic" panose="020B0502020202020204" pitchFamily="34" charset="0"/>
              </a:rPr>
              <a:t>Congress</a:t>
            </a:r>
          </a:p>
          <a:p>
            <a:pPr marL="285750" indent="-285750">
              <a:buFont typeface="Arial" panose="020B0604020202020204" pitchFamily="34" charset="0"/>
              <a:buChar char="•"/>
            </a:pPr>
            <a:r>
              <a:rPr kumimoji="1" lang="en-US" altLang="zh-CN" dirty="0">
                <a:latin typeface="Century Gothic" panose="020B0502020202020204" pitchFamily="34" charset="0"/>
              </a:rPr>
              <a:t>Presidency</a:t>
            </a:r>
          </a:p>
          <a:p>
            <a:pPr marL="285750" indent="-285750">
              <a:buFont typeface="Arial" panose="020B0604020202020204" pitchFamily="34" charset="0"/>
              <a:buChar char="•"/>
            </a:pPr>
            <a:r>
              <a:rPr kumimoji="1" lang="en-US" altLang="zh-CN" dirty="0">
                <a:latin typeface="Century Gothic" panose="020B0502020202020204" pitchFamily="34" charset="0"/>
              </a:rPr>
              <a:t>Bureaucracy</a:t>
            </a:r>
          </a:p>
          <a:p>
            <a:pPr marL="285750" indent="-285750">
              <a:buFont typeface="Arial" panose="020B0604020202020204" pitchFamily="34" charset="0"/>
              <a:buChar char="•"/>
            </a:pPr>
            <a:r>
              <a:rPr kumimoji="1" lang="en-US" altLang="zh-CN" dirty="0">
                <a:latin typeface="Century Gothic" panose="020B0502020202020204" pitchFamily="34" charset="0"/>
              </a:rPr>
              <a:t>Courts</a:t>
            </a:r>
          </a:p>
          <a:p>
            <a:pPr marL="285750" indent="-285750">
              <a:buFont typeface="Arial" panose="020B0604020202020204" pitchFamily="34" charset="0"/>
              <a:buChar char="•"/>
            </a:pPr>
            <a:r>
              <a:rPr kumimoji="1" lang="en-US" altLang="zh-CN" dirty="0">
                <a:latin typeface="Century Gothic" panose="020B0502020202020204" pitchFamily="34" charset="0"/>
              </a:rPr>
              <a:t>Interest Groups and Pluralism</a:t>
            </a:r>
          </a:p>
          <a:p>
            <a:pPr marL="285750" indent="-285750">
              <a:buFont typeface="Arial" panose="020B0604020202020204" pitchFamily="34" charset="0"/>
              <a:buChar char="•"/>
            </a:pPr>
            <a:r>
              <a:rPr kumimoji="1" lang="en-US" altLang="zh-CN" dirty="0">
                <a:latin typeface="Century Gothic" panose="020B0502020202020204" pitchFamily="34" charset="0"/>
              </a:rPr>
              <a:t>Political Parties</a:t>
            </a:r>
          </a:p>
          <a:p>
            <a:pPr marL="285750" indent="-285750">
              <a:buFont typeface="Arial" panose="020B0604020202020204" pitchFamily="34" charset="0"/>
              <a:buChar char="•"/>
            </a:pPr>
            <a:r>
              <a:rPr kumimoji="1" lang="en-US" altLang="zh-CN" dirty="0">
                <a:latin typeface="Century Gothic" panose="020B0502020202020204" pitchFamily="34" charset="0"/>
              </a:rPr>
              <a:t>Mass Media</a:t>
            </a:r>
            <a:endParaRPr kumimoji="1" lang="zh-CN" altLang="en-US" dirty="0">
              <a:latin typeface="Century Gothic" panose="020B0502020202020204" pitchFamily="34" charset="0"/>
            </a:endParaRPr>
          </a:p>
        </p:txBody>
      </p:sp>
    </p:spTree>
    <p:extLst>
      <p:ext uri="{BB962C8B-B14F-4D97-AF65-F5344CB8AC3E}">
        <p14:creationId xmlns:p14="http://schemas.microsoft.com/office/powerpoint/2010/main" val="3479765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0BB0-6315-2CEB-19B2-6048725334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AAAEE7-07AF-A0D3-72E5-C0E2E93BFE2F}"/>
              </a:ext>
            </a:extLst>
          </p:cNvPr>
          <p:cNvSpPr>
            <a:spLocks noGrp="1"/>
          </p:cNvSpPr>
          <p:nvPr>
            <p:ph type="title"/>
          </p:nvPr>
        </p:nvSpPr>
        <p:spPr>
          <a:xfrm>
            <a:off x="493986" y="37766"/>
            <a:ext cx="10515600" cy="1325563"/>
          </a:xfrm>
        </p:spPr>
        <p:txBody>
          <a:bodyPr>
            <a:normAutofit/>
          </a:bodyPr>
          <a:lstStyle/>
          <a:p>
            <a:r>
              <a:rPr kumimoji="1" lang="en-US" altLang="zh-CN" sz="4000" b="1" dirty="0">
                <a:latin typeface="Century Gothic" panose="020B0502020202020204" pitchFamily="34" charset="0"/>
              </a:rPr>
              <a:t>Classroom Policies &amp; Expectations</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FB13650-B531-6B1F-CF8A-EC5E4EE624BF}"/>
              </a:ext>
            </a:extLst>
          </p:cNvPr>
          <p:cNvSpPr>
            <a:spLocks noGrp="1"/>
          </p:cNvSpPr>
          <p:nvPr>
            <p:ph idx="1"/>
          </p:nvPr>
        </p:nvSpPr>
        <p:spPr>
          <a:xfrm>
            <a:off x="493986" y="1343816"/>
            <a:ext cx="11098924" cy="5698115"/>
          </a:xfrm>
        </p:spPr>
        <p:txBody>
          <a:bodyPr>
            <a:normAutofit fontScale="85000" lnSpcReduction="20000"/>
          </a:bodyPr>
          <a:lstStyle/>
          <a:p>
            <a:pPr>
              <a:lnSpc>
                <a:spcPct val="120000"/>
              </a:lnSpc>
            </a:pPr>
            <a:r>
              <a:rPr kumimoji="1" lang="en-US" altLang="zh-CN" sz="2400" dirty="0">
                <a:latin typeface="Century Gothic" panose="020B0502020202020204" pitchFamily="34" charset="0"/>
              </a:rPr>
              <a:t>Attendance is </a:t>
            </a:r>
            <a:r>
              <a:rPr kumimoji="1" lang="en-US" altLang="zh-CN" sz="2400" b="1" dirty="0">
                <a:latin typeface="Century Gothic" panose="020B0502020202020204" pitchFamily="34" charset="0"/>
              </a:rPr>
              <a:t>REQUIRED</a:t>
            </a:r>
          </a:p>
          <a:p>
            <a:pPr lvl="1">
              <a:lnSpc>
                <a:spcPct val="120000"/>
              </a:lnSpc>
            </a:pPr>
            <a:r>
              <a:rPr kumimoji="1" lang="en-US" altLang="zh-CN" sz="2000" b="1" dirty="0">
                <a:latin typeface="Century Gothic" panose="020B0502020202020204" pitchFamily="34" charset="0"/>
              </a:rPr>
              <a:t>2 Opportunities for valid absence </a:t>
            </a:r>
            <a:r>
              <a:rPr kumimoji="1" lang="en-US" altLang="zh-CN" sz="2000" dirty="0">
                <a:latin typeface="Century Gothic" panose="020B0502020202020204" pitchFamily="34" charset="0"/>
              </a:rPr>
              <a:t>(No reason needed)</a:t>
            </a:r>
          </a:p>
          <a:p>
            <a:pPr lvl="1">
              <a:lnSpc>
                <a:spcPct val="120000"/>
              </a:lnSpc>
            </a:pPr>
            <a:r>
              <a:rPr kumimoji="1" lang="en-US" altLang="zh-CN" sz="2000" dirty="0">
                <a:latin typeface="Century Gothic" panose="020B0502020202020204" pitchFamily="34" charset="0"/>
              </a:rPr>
              <a:t>After that, you should contact me via email in advance (at least 1 hour before class), showing me a </a:t>
            </a:r>
            <a:r>
              <a:rPr kumimoji="1" lang="en-US" altLang="zh-CN" sz="2000" b="1" dirty="0">
                <a:latin typeface="Century Gothic" panose="020B0502020202020204" pitchFamily="34" charset="0"/>
              </a:rPr>
              <a:t>formal document</a:t>
            </a:r>
            <a:r>
              <a:rPr kumimoji="1" lang="en-US" altLang="zh-CN" sz="2000" dirty="0">
                <a:latin typeface="Century Gothic" panose="020B0502020202020204" pitchFamily="34" charset="0"/>
              </a:rPr>
              <a:t>, such as a medical certificate or a letter from the relevant authority</a:t>
            </a:r>
          </a:p>
          <a:p>
            <a:pPr lvl="1">
              <a:lnSpc>
                <a:spcPct val="120000"/>
              </a:lnSpc>
            </a:pPr>
            <a:r>
              <a:rPr lang="en-US" altLang="zh-CN" sz="2000" dirty="0">
                <a:latin typeface="Century Gothic" panose="020B0502020202020204" pitchFamily="34" charset="0"/>
              </a:rPr>
              <a:t>In case of an emergency, documentation may be submitted afterwards.</a:t>
            </a:r>
          </a:p>
          <a:p>
            <a:pPr lvl="1">
              <a:lnSpc>
                <a:spcPct val="120000"/>
              </a:lnSpc>
            </a:pPr>
            <a:r>
              <a:rPr kumimoji="1" lang="en-US" altLang="zh-CN" sz="2000" dirty="0">
                <a:latin typeface="Century Gothic" panose="020B0502020202020204" pitchFamily="34" charset="0"/>
              </a:rPr>
              <a:t>Attendance will be recorded starting </a:t>
            </a:r>
            <a:r>
              <a:rPr kumimoji="1" lang="en-US" altLang="zh-CN" sz="2000" b="1" dirty="0">
                <a:latin typeface="Century Gothic" panose="020B0502020202020204" pitchFamily="34" charset="0"/>
              </a:rPr>
              <a:t>NEXT WEEK</a:t>
            </a:r>
            <a:r>
              <a:rPr kumimoji="1" lang="en-US" altLang="zh-CN" sz="2000" dirty="0">
                <a:latin typeface="Century Gothic" panose="020B0502020202020204" pitchFamily="34" charset="0"/>
              </a:rPr>
              <a:t>!</a:t>
            </a:r>
          </a:p>
          <a:p>
            <a:pPr>
              <a:lnSpc>
                <a:spcPct val="120000"/>
              </a:lnSpc>
            </a:pPr>
            <a:r>
              <a:rPr lang="en-US" altLang="zh-CN" sz="2400" b="1" dirty="0">
                <a:latin typeface="Century Gothic" panose="020B0502020202020204" pitchFamily="34" charset="0"/>
              </a:rPr>
              <a:t>Class Participation Expectations</a:t>
            </a:r>
          </a:p>
          <a:p>
            <a:pPr lvl="1">
              <a:lnSpc>
                <a:spcPct val="120000"/>
              </a:lnSpc>
            </a:pPr>
            <a:r>
              <a:rPr lang="en-US" altLang="zh-CN" sz="2000" b="1" dirty="0">
                <a:latin typeface="Century Gothic" panose="020B0502020202020204" pitchFamily="34" charset="0"/>
              </a:rPr>
              <a:t>Be Prepared</a:t>
            </a:r>
            <a:r>
              <a:rPr lang="en-US" altLang="zh-CN" sz="2000" dirty="0">
                <a:latin typeface="Century Gothic" panose="020B0502020202020204" pitchFamily="34" charset="0"/>
              </a:rPr>
              <a:t> – Complete all assigned readings or materials before class.</a:t>
            </a:r>
          </a:p>
          <a:p>
            <a:pPr lvl="1">
              <a:lnSpc>
                <a:spcPct val="120000"/>
              </a:lnSpc>
            </a:pPr>
            <a:r>
              <a:rPr lang="en-US" altLang="zh-CN" sz="2000" b="1" dirty="0">
                <a:latin typeface="Century Gothic" panose="020B0502020202020204" pitchFamily="34" charset="0"/>
              </a:rPr>
              <a:t>Contribute Actively</a:t>
            </a:r>
            <a:r>
              <a:rPr lang="en-US" altLang="zh-CN" sz="2000" dirty="0">
                <a:latin typeface="Century Gothic" panose="020B0502020202020204" pitchFamily="34" charset="0"/>
              </a:rPr>
              <a:t> – Share your thoughts, ask questions, and respond to others in a respectful and constructive manner</a:t>
            </a:r>
          </a:p>
          <a:p>
            <a:pPr lvl="1">
              <a:lnSpc>
                <a:spcPct val="120000"/>
              </a:lnSpc>
            </a:pPr>
            <a:r>
              <a:rPr lang="en-US" altLang="zh-CN" sz="2000" b="1" dirty="0">
                <a:latin typeface="Century Gothic" panose="020B0502020202020204" pitchFamily="34" charset="0"/>
              </a:rPr>
              <a:t>Listen Respectfully</a:t>
            </a:r>
            <a:r>
              <a:rPr lang="en-US" altLang="zh-CN" sz="2000" dirty="0">
                <a:latin typeface="Century Gothic" panose="020B0502020202020204" pitchFamily="34" charset="0"/>
              </a:rPr>
              <a:t> – Give full attention to the speaker, and acknowledge others’ ideas. </a:t>
            </a:r>
            <a:r>
              <a:rPr kumimoji="1" lang="en-US" altLang="zh-CN" sz="2000" dirty="0">
                <a:latin typeface="Century Gothic" panose="020B0502020202020204" pitchFamily="34" charset="0"/>
              </a:rPr>
              <a:t>Be mindful of those who have another kind of life and hold a different viewpoint from you!</a:t>
            </a:r>
          </a:p>
          <a:p>
            <a:pPr lvl="2">
              <a:lnSpc>
                <a:spcPct val="120000"/>
              </a:lnSpc>
            </a:pPr>
            <a:r>
              <a:rPr lang="en-US" altLang="zh-CN" sz="1600" dirty="0">
                <a:latin typeface="Century Gothic" panose="020B0502020202020204" pitchFamily="34" charset="0"/>
              </a:rPr>
              <a:t>I am open to interruptions, while you should consider whether the group discussion leader (seen later) welcomes it.</a:t>
            </a:r>
          </a:p>
          <a:p>
            <a:pPr lvl="1">
              <a:lnSpc>
                <a:spcPct val="120000"/>
              </a:lnSpc>
            </a:pPr>
            <a:r>
              <a:rPr lang="en-US" altLang="zh-CN" sz="2000" b="1" dirty="0">
                <a:latin typeface="Century Gothic" panose="020B0502020202020204" pitchFamily="34" charset="0"/>
              </a:rPr>
              <a:t>Express freely</a:t>
            </a:r>
            <a:r>
              <a:rPr lang="en-US" altLang="zh-CN" sz="2000" dirty="0">
                <a:latin typeface="Century Gothic" panose="020B0502020202020204" pitchFamily="34" charset="0"/>
              </a:rPr>
              <a:t> – This is a time where we will be openly discussing sometimes controversial topics. </a:t>
            </a:r>
            <a:r>
              <a:rPr kumimoji="1" lang="en-US" altLang="zh-CN" sz="2000" dirty="0">
                <a:latin typeface="Century Gothic" panose="020B0502020202020204" pitchFamily="34" charset="0"/>
              </a:rPr>
              <a:t>Facing the “politics outside the classroom”, you‘re allowed to freely express your opinions and thoughts</a:t>
            </a:r>
            <a:r>
              <a:rPr lang="en-US" altLang="zh-CN" sz="2000" dirty="0">
                <a:latin typeface="Century Gothic" panose="020B0502020202020204" pitchFamily="34" charset="0"/>
              </a:rPr>
              <a:t>, </a:t>
            </a:r>
            <a:r>
              <a:rPr kumimoji="1" lang="en-US" altLang="zh-CN" sz="2000" b="1" dirty="0">
                <a:latin typeface="Century Gothic" panose="020B0502020202020204" pitchFamily="34" charset="0"/>
              </a:rPr>
              <a:t>based on what you’ve learned in this course (lecture &amp; discussion sessions)</a:t>
            </a:r>
            <a:endParaRPr lang="en-US" altLang="zh-CN" sz="2000" dirty="0">
              <a:latin typeface="Century Gothic" panose="020B0502020202020204" pitchFamily="34" charset="0"/>
            </a:endParaRPr>
          </a:p>
          <a:p>
            <a:pPr lvl="1">
              <a:lnSpc>
                <a:spcPct val="120000"/>
              </a:lnSpc>
            </a:pPr>
            <a:r>
              <a:rPr lang="en-US" altLang="zh-CN" sz="2000" b="1" dirty="0">
                <a:latin typeface="Century Gothic" panose="020B0502020202020204" pitchFamily="34" charset="0"/>
              </a:rPr>
              <a:t>Stay Relevant</a:t>
            </a:r>
            <a:r>
              <a:rPr lang="en-US" altLang="zh-CN" sz="2000" dirty="0">
                <a:latin typeface="Century Gothic" panose="020B0502020202020204" pitchFamily="34" charset="0"/>
              </a:rPr>
              <a:t> – Keep comments and questions focused on the topic under discussion.</a:t>
            </a:r>
          </a:p>
        </p:txBody>
      </p:sp>
    </p:spTree>
    <p:extLst>
      <p:ext uri="{BB962C8B-B14F-4D97-AF65-F5344CB8AC3E}">
        <p14:creationId xmlns:p14="http://schemas.microsoft.com/office/powerpoint/2010/main" val="418277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A8D03-E7CB-FA15-DE4A-C8DBFC10F9D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797A47-EB4C-1150-27F0-9C6E13F491BE}"/>
              </a:ext>
            </a:extLst>
          </p:cNvPr>
          <p:cNvSpPr>
            <a:spLocks noGrp="1"/>
          </p:cNvSpPr>
          <p:nvPr>
            <p:ph type="title"/>
          </p:nvPr>
        </p:nvSpPr>
        <p:spPr>
          <a:xfrm>
            <a:off x="838200" y="18255"/>
            <a:ext cx="10681138" cy="1325563"/>
          </a:xfrm>
        </p:spPr>
        <p:txBody>
          <a:bodyPr>
            <a:normAutofit/>
          </a:bodyPr>
          <a:lstStyle/>
          <a:p>
            <a:r>
              <a:rPr kumimoji="1" lang="en-US" altLang="zh-CN" sz="4000" b="1" dirty="0">
                <a:latin typeface="Century Gothic" panose="020B0502020202020204" pitchFamily="34" charset="0"/>
              </a:rPr>
              <a:t>Classroom Policies &amp; Expectations (cont`d)</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B3BAADC4-790A-5790-14B2-D9A9F3C67CB4}"/>
              </a:ext>
            </a:extLst>
          </p:cNvPr>
          <p:cNvSpPr>
            <a:spLocks noGrp="1"/>
          </p:cNvSpPr>
          <p:nvPr>
            <p:ph idx="1"/>
          </p:nvPr>
        </p:nvSpPr>
        <p:spPr>
          <a:xfrm>
            <a:off x="838199" y="1343817"/>
            <a:ext cx="10859815" cy="5495928"/>
          </a:xfrm>
        </p:spPr>
        <p:txBody>
          <a:bodyPr>
            <a:normAutofit/>
          </a:bodyPr>
          <a:lstStyle/>
          <a:p>
            <a:r>
              <a:rPr lang="en-US" altLang="zh-CN" sz="2200" b="1" dirty="0">
                <a:latin typeface="Century Gothic" panose="020B0502020202020204" pitchFamily="34" charset="0"/>
              </a:rPr>
              <a:t>Use of Electronic Devices</a:t>
            </a:r>
          </a:p>
          <a:p>
            <a:pPr lvl="1"/>
            <a:r>
              <a:rPr lang="en-US" altLang="zh-CN" sz="2000" dirty="0">
                <a:latin typeface="Century Gothic" panose="020B0502020202020204" pitchFamily="34" charset="0"/>
              </a:rPr>
              <a:t>Laptops, tablets, and mobile phones are permitted in class only for purposes directly related to the course, such as taking notes, accessing course materials, or participating in class activities.</a:t>
            </a:r>
          </a:p>
          <a:p>
            <a:pPr lvl="1"/>
            <a:r>
              <a:rPr kumimoji="1" lang="en-US" altLang="zh-CN" sz="2000" dirty="0">
                <a:latin typeface="Century Gothic" panose="020B0502020202020204" pitchFamily="34" charset="0"/>
              </a:rPr>
              <a:t>For a</a:t>
            </a:r>
            <a:r>
              <a:rPr lang="en-US" altLang="zh-CN" sz="2000" dirty="0">
                <a:latin typeface="Century Gothic" panose="020B0502020202020204" pitchFamily="34" charset="0"/>
              </a:rPr>
              <a:t>ny non-class use, including messaging, browsing social media, or unrelated web surfing: </a:t>
            </a:r>
            <a:r>
              <a:rPr lang="en-US" altLang="zh-CN" sz="2000" b="1" dirty="0">
                <a:latin typeface="Century Gothic" panose="020B0502020202020204" pitchFamily="34" charset="0"/>
              </a:rPr>
              <a:t>Not allowed UNLESS </a:t>
            </a:r>
            <a:r>
              <a:rPr lang="en-US" altLang="zh-CN" sz="2000" dirty="0">
                <a:latin typeface="Century Gothic" panose="020B0502020202020204" pitchFamily="34" charset="0"/>
              </a:rPr>
              <a:t>you persuade me how it is connected to class </a:t>
            </a:r>
            <a:r>
              <a:rPr lang="en-US" altLang="zh-CN" sz="2000" dirty="0">
                <a:latin typeface="Century Gothic" panose="020B0502020202020204" pitchFamily="34" charset="0"/>
                <a:sym typeface="Wingdings" pitchFamily="2" charset="2"/>
              </a:rPr>
              <a:t></a:t>
            </a:r>
            <a:endParaRPr lang="en-US" altLang="zh-CN" sz="2000" dirty="0">
              <a:latin typeface="Century Gothic" panose="020B0502020202020204" pitchFamily="34" charset="0"/>
            </a:endParaRPr>
          </a:p>
          <a:p>
            <a:r>
              <a:rPr lang="en-US" altLang="zh-CN" sz="2200" b="1" dirty="0">
                <a:latin typeface="Century Gothic" panose="020B0502020202020204" pitchFamily="34" charset="0"/>
              </a:rPr>
              <a:t>Academic Integrity</a:t>
            </a:r>
          </a:p>
          <a:p>
            <a:pPr lvl="1"/>
            <a:r>
              <a:rPr lang="en-US" altLang="zh-CN" sz="2000" dirty="0">
                <a:latin typeface="Century Gothic" panose="020B0502020202020204" pitchFamily="34" charset="0"/>
              </a:rPr>
              <a:t>Completing your own group</a:t>
            </a:r>
            <a:r>
              <a:rPr lang="zh-CN" altLang="en-US" sz="2000" dirty="0">
                <a:latin typeface="Century Gothic" panose="020B0502020202020204" pitchFamily="34" charset="0"/>
              </a:rPr>
              <a:t> </a:t>
            </a:r>
            <a:r>
              <a:rPr lang="en-US" altLang="zh-CN" sz="2000" dirty="0">
                <a:latin typeface="Century Gothic" panose="020B0502020202020204" pitchFamily="34" charset="0"/>
              </a:rPr>
              <a:t>work, properly citing all sources, and refraining from any form of plagiarism, cheating, or unauthorized collaboration</a:t>
            </a:r>
          </a:p>
          <a:p>
            <a:r>
              <a:rPr lang="en-US" altLang="zh-CN" sz="2200" b="1" dirty="0">
                <a:latin typeface="Century Gothic" panose="020B0502020202020204" pitchFamily="34" charset="0"/>
              </a:rPr>
              <a:t>Communication &amp; Feedback</a:t>
            </a:r>
          </a:p>
          <a:p>
            <a:pPr lvl="1"/>
            <a:r>
              <a:rPr kumimoji="1" lang="en-US" altLang="zh-CN" sz="2000" dirty="0">
                <a:latin typeface="Century Gothic" panose="020B0502020202020204" pitchFamily="34" charset="0"/>
              </a:rPr>
              <a:t>Contact: </a:t>
            </a:r>
            <a:r>
              <a:rPr kumimoji="1" lang="en-US" altLang="zh-CN" sz="2000" dirty="0">
                <a:latin typeface="Century Gothic" panose="020B0502020202020204" pitchFamily="34" charset="0"/>
                <a:hlinkClick r:id="rId2"/>
              </a:rPr>
              <a:t>Siri.Zhao@uga.edu</a:t>
            </a:r>
            <a:endParaRPr kumimoji="1" lang="en-US" altLang="zh-CN" sz="2000" dirty="0">
              <a:latin typeface="Century Gothic" panose="020B0502020202020204" pitchFamily="34" charset="0"/>
            </a:endParaRPr>
          </a:p>
          <a:p>
            <a:pPr lvl="1"/>
            <a:r>
              <a:rPr lang="en-US" altLang="zh-CN" sz="2000" dirty="0">
                <a:latin typeface="Century Gothic" panose="020B0502020202020204" pitchFamily="34" charset="0"/>
              </a:rPr>
              <a:t>Students are encouraged to communicate openly with the instructor regarding course content,</a:t>
            </a:r>
            <a:r>
              <a:rPr lang="zh-CN" altLang="en-US" sz="2000" dirty="0">
                <a:latin typeface="Century Gothic" panose="020B0502020202020204" pitchFamily="34" charset="0"/>
              </a:rPr>
              <a:t> </a:t>
            </a:r>
            <a:r>
              <a:rPr lang="en-US" altLang="zh-CN" sz="2000" dirty="0">
                <a:latin typeface="Century Gothic" panose="020B0502020202020204" pitchFamily="34" charset="0"/>
              </a:rPr>
              <a:t>assignments, or any concerns. I will do my best to respond to emails within 24–48 hours on weekdays.</a:t>
            </a:r>
          </a:p>
          <a:p>
            <a:pPr lvl="1"/>
            <a:r>
              <a:rPr lang="en-US" altLang="zh-CN" sz="2000" dirty="0">
                <a:latin typeface="Century Gothic" panose="020B0502020202020204" pitchFamily="34" charset="0"/>
              </a:rPr>
              <a:t>Constructive feedback on the course is always welcome, and opportunities will be provided throughout the semester for you to share your suggestions, making the discussion session as well as my teaching better!</a:t>
            </a:r>
            <a:endParaRPr kumimoji="1" lang="zh-CN" altLang="en-US" sz="2000" dirty="0">
              <a:latin typeface="Century Gothic" panose="020B0502020202020204" pitchFamily="34" charset="0"/>
            </a:endParaRPr>
          </a:p>
        </p:txBody>
      </p:sp>
    </p:spTree>
    <p:extLst>
      <p:ext uri="{BB962C8B-B14F-4D97-AF65-F5344CB8AC3E}">
        <p14:creationId xmlns:p14="http://schemas.microsoft.com/office/powerpoint/2010/main" val="87989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4FCC-02F0-DA15-1E67-F2822FE735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1BEF76-2499-E2FF-C08C-2927754F3F5A}"/>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Self Introduction</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AFACD72B-CEF6-4EDD-ED9C-A9B5BAC01067}"/>
              </a:ext>
            </a:extLst>
          </p:cNvPr>
          <p:cNvSpPr>
            <a:spLocks noGrp="1"/>
          </p:cNvSpPr>
          <p:nvPr>
            <p:ph idx="1"/>
          </p:nvPr>
        </p:nvSpPr>
        <p:spPr>
          <a:xfrm>
            <a:off x="935421" y="1343818"/>
            <a:ext cx="10636469" cy="5319741"/>
          </a:xfrm>
        </p:spPr>
        <p:txBody>
          <a:bodyPr>
            <a:normAutofit/>
          </a:bodyPr>
          <a:lstStyle/>
          <a:p>
            <a:pPr marL="0" indent="0">
              <a:buNone/>
            </a:pPr>
            <a:r>
              <a:rPr lang="en-US" altLang="zh-CN" sz="2400" b="1" dirty="0">
                <a:latin typeface="Century Gothic" panose="020B0502020202020204" pitchFamily="34" charset="0"/>
              </a:rPr>
              <a:t>1 minute for each one – you can choose some of these questions to answer, or express anything letting us know more about “who you are”</a:t>
            </a:r>
          </a:p>
          <a:p>
            <a:pPr marL="0" indent="0">
              <a:buNone/>
            </a:pPr>
            <a:endParaRPr lang="en-US" altLang="zh-CN" sz="2400" b="1" dirty="0">
              <a:latin typeface="Century Gothic" panose="020B0502020202020204" pitchFamily="34" charset="0"/>
            </a:endParaRPr>
          </a:p>
          <a:p>
            <a:pPr marL="0" indent="0">
              <a:buNone/>
            </a:pPr>
            <a:r>
              <a:rPr lang="en-US" altLang="zh-CN" sz="2400" b="1" dirty="0">
                <a:latin typeface="Century Gothic" panose="020B0502020202020204" pitchFamily="34" charset="0"/>
              </a:rPr>
              <a:t>General</a:t>
            </a:r>
            <a:r>
              <a:rPr lang="zh-CN" altLang="en-US" sz="2400" b="1" dirty="0">
                <a:latin typeface="Century Gothic" panose="020B0502020202020204" pitchFamily="34" charset="0"/>
              </a:rPr>
              <a:t> </a:t>
            </a:r>
            <a:r>
              <a:rPr lang="en-US" altLang="zh-CN" sz="2400" b="1" dirty="0">
                <a:latin typeface="Century Gothic" panose="020B0502020202020204" pitchFamily="34" charset="0"/>
              </a:rPr>
              <a:t>Info</a:t>
            </a:r>
          </a:p>
          <a:p>
            <a:r>
              <a:rPr lang="en-US" altLang="zh-CN" sz="2000" dirty="0">
                <a:latin typeface="Century Gothic" panose="020B0502020202020204" pitchFamily="34" charset="0"/>
              </a:rPr>
              <a:t>Name (Preferred names and pronouns), year, major</a:t>
            </a:r>
          </a:p>
          <a:p>
            <a:r>
              <a:rPr lang="en-US" altLang="zh-CN" sz="2000" dirty="0">
                <a:latin typeface="Century Gothic" panose="020B0502020202020204" pitchFamily="34" charset="0"/>
              </a:rPr>
              <a:t>Have you taken any related courses before?</a:t>
            </a:r>
          </a:p>
          <a:p>
            <a:r>
              <a:rPr lang="en-US" altLang="zh-CN" sz="2000" dirty="0">
                <a:latin typeface="Century Gothic" panose="020B0502020202020204" pitchFamily="34" charset="0"/>
              </a:rPr>
              <a:t>Is there a political or social issue you care about most?</a:t>
            </a:r>
          </a:p>
          <a:p>
            <a:pPr marL="0" indent="0">
              <a:buNone/>
            </a:pPr>
            <a:endParaRPr kumimoji="1" lang="en-US" altLang="zh-CN" sz="2000" dirty="0">
              <a:latin typeface="Century Gothic" panose="020B0502020202020204" pitchFamily="34" charset="0"/>
            </a:endParaRPr>
          </a:p>
          <a:p>
            <a:pPr marL="0" indent="0">
              <a:buNone/>
            </a:pPr>
            <a:r>
              <a:rPr lang="en-US" altLang="zh-CN" sz="2400" b="1" dirty="0">
                <a:latin typeface="Century Gothic" panose="020B0502020202020204" pitchFamily="34" charset="0"/>
              </a:rPr>
              <a:t>Expectations</a:t>
            </a:r>
            <a:r>
              <a:rPr lang="zh-CN" altLang="en-US" sz="2400" b="1" dirty="0">
                <a:latin typeface="Century Gothic" panose="020B0502020202020204" pitchFamily="34" charset="0"/>
              </a:rPr>
              <a:t> </a:t>
            </a:r>
            <a:r>
              <a:rPr lang="en-US" altLang="zh-CN" sz="2400" b="1" dirty="0">
                <a:latin typeface="Century Gothic" panose="020B0502020202020204" pitchFamily="34" charset="0"/>
              </a:rPr>
              <a:t>for</a:t>
            </a:r>
            <a:r>
              <a:rPr lang="zh-CN" altLang="en-US" sz="2400" b="1" dirty="0">
                <a:latin typeface="Century Gothic" panose="020B0502020202020204" pitchFamily="34" charset="0"/>
              </a:rPr>
              <a:t> </a:t>
            </a:r>
            <a:r>
              <a:rPr lang="en-US" altLang="zh-CN" sz="2400" b="1" dirty="0">
                <a:latin typeface="Century Gothic" panose="020B0502020202020204" pitchFamily="34" charset="0"/>
              </a:rPr>
              <a:t>this</a:t>
            </a:r>
            <a:r>
              <a:rPr lang="zh-CN" altLang="en-US" sz="2400" b="1" dirty="0">
                <a:latin typeface="Century Gothic" panose="020B0502020202020204" pitchFamily="34" charset="0"/>
              </a:rPr>
              <a:t> </a:t>
            </a:r>
            <a:r>
              <a:rPr lang="en-US" altLang="zh-CN" sz="2400" b="1" dirty="0">
                <a:latin typeface="Century Gothic" panose="020B0502020202020204" pitchFamily="34" charset="0"/>
              </a:rPr>
              <a:t>course</a:t>
            </a:r>
          </a:p>
          <a:p>
            <a:r>
              <a:rPr lang="en-US" altLang="zh-CN" sz="2000" dirty="0">
                <a:latin typeface="Century Gothic" panose="020B0502020202020204" pitchFamily="34" charset="0"/>
              </a:rPr>
              <a:t>What do you hope to learn or achieve in this course?</a:t>
            </a:r>
          </a:p>
          <a:p>
            <a:r>
              <a:rPr lang="en-US" altLang="zh-CN" sz="2000" dirty="0">
                <a:latin typeface="Century Gothic" panose="020B0502020202020204" pitchFamily="34" charset="0"/>
              </a:rPr>
              <a:t>Are there any particular topics you’re looking forward to discussing?</a:t>
            </a:r>
          </a:p>
          <a:p>
            <a:r>
              <a:rPr lang="en-US" altLang="zh-CN" sz="2000" dirty="0">
                <a:latin typeface="Century Gothic" panose="020B0502020202020204" pitchFamily="34" charset="0"/>
              </a:rPr>
              <a:t>What skills do you hope to develop through our discussion sessions?</a:t>
            </a:r>
          </a:p>
        </p:txBody>
      </p:sp>
    </p:spTree>
    <p:extLst>
      <p:ext uri="{BB962C8B-B14F-4D97-AF65-F5344CB8AC3E}">
        <p14:creationId xmlns:p14="http://schemas.microsoft.com/office/powerpoint/2010/main" val="2769434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397F-FD58-5EB4-BE44-3A339EA1AC5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8816F3-EE1A-7572-68E7-4D8BC0059EFE}"/>
              </a:ext>
            </a:extLst>
          </p:cNvPr>
          <p:cNvSpPr>
            <a:spLocks noGrp="1"/>
          </p:cNvSpPr>
          <p:nvPr>
            <p:ph type="title"/>
          </p:nvPr>
        </p:nvSpPr>
        <p:spPr>
          <a:xfrm>
            <a:off x="588579" y="18254"/>
            <a:ext cx="10515600" cy="1325563"/>
          </a:xfrm>
        </p:spPr>
        <p:txBody>
          <a:bodyPr>
            <a:normAutofit/>
          </a:bodyPr>
          <a:lstStyle/>
          <a:p>
            <a:r>
              <a:rPr lang="en-US" altLang="zh-CN" sz="4000" b="1" dirty="0">
                <a:latin typeface="Century Gothic" panose="020B0502020202020204" pitchFamily="34" charset="0"/>
              </a:rPr>
              <a:t>Structure of Future Breakout Sessions</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529244BD-C8BA-8493-A987-6B357D9C6031}"/>
              </a:ext>
            </a:extLst>
          </p:cNvPr>
          <p:cNvSpPr>
            <a:spLocks noGrp="1"/>
          </p:cNvSpPr>
          <p:nvPr>
            <p:ph idx="1"/>
          </p:nvPr>
        </p:nvSpPr>
        <p:spPr>
          <a:xfrm>
            <a:off x="588579" y="1343817"/>
            <a:ext cx="11414235" cy="5514183"/>
          </a:xfrm>
        </p:spPr>
        <p:txBody>
          <a:bodyPr>
            <a:normAutofit/>
          </a:bodyPr>
          <a:lstStyle/>
          <a:p>
            <a:pPr>
              <a:lnSpc>
                <a:spcPct val="100000"/>
              </a:lnSpc>
            </a:pPr>
            <a:r>
              <a:rPr kumimoji="1" lang="en-US" altLang="zh-CN" sz="2400" dirty="0">
                <a:latin typeface="Century Gothic" panose="020B0502020202020204" pitchFamily="34" charset="0"/>
              </a:rPr>
              <a:t>Presentation</a:t>
            </a:r>
            <a:r>
              <a:rPr kumimoji="1" lang="zh-CN" altLang="en-US" sz="2400" dirty="0">
                <a:latin typeface="Century Gothic" panose="020B0502020202020204" pitchFamily="34" charset="0"/>
              </a:rPr>
              <a:t> </a:t>
            </a:r>
            <a:r>
              <a:rPr kumimoji="1" lang="en-US" altLang="zh-CN" sz="2400" dirty="0">
                <a:latin typeface="Century Gothic" panose="020B0502020202020204" pitchFamily="34" charset="0"/>
              </a:rPr>
              <a:t>given</a:t>
            </a:r>
            <a:r>
              <a:rPr kumimoji="1" lang="zh-CN" altLang="en-US" sz="2400" dirty="0">
                <a:latin typeface="Century Gothic" panose="020B0502020202020204" pitchFamily="34" charset="0"/>
              </a:rPr>
              <a:t> </a:t>
            </a:r>
            <a:r>
              <a:rPr kumimoji="1" lang="en-US" altLang="zh-CN" sz="2400" dirty="0">
                <a:latin typeface="Century Gothic" panose="020B0502020202020204" pitchFamily="34" charset="0"/>
              </a:rPr>
              <a:t>by</a:t>
            </a:r>
            <a:r>
              <a:rPr kumimoji="1" lang="zh-CN" altLang="en-US" sz="2400" dirty="0">
                <a:latin typeface="Century Gothic" panose="020B0502020202020204" pitchFamily="34" charset="0"/>
              </a:rPr>
              <a:t> </a:t>
            </a:r>
            <a:r>
              <a:rPr kumimoji="1" lang="en-US" altLang="zh-CN" sz="2400" dirty="0">
                <a:latin typeface="Century Gothic" panose="020B0502020202020204" pitchFamily="34" charset="0"/>
              </a:rPr>
              <a:t>small-group discussion leaders </a:t>
            </a:r>
            <a:r>
              <a:rPr kumimoji="1" lang="en-US" altLang="zh-CN" sz="2400" b="1" dirty="0">
                <a:latin typeface="Century Gothic" panose="020B0502020202020204" pitchFamily="34" charset="0"/>
              </a:rPr>
              <a:t>(10-15 minutes)</a:t>
            </a:r>
          </a:p>
          <a:p>
            <a:pPr lvl="1">
              <a:lnSpc>
                <a:spcPct val="100000"/>
              </a:lnSpc>
            </a:pPr>
            <a:r>
              <a:rPr kumimoji="1" lang="en-US" altLang="zh-CN" sz="2000" b="1" dirty="0">
                <a:latin typeface="Century Gothic" panose="020B0502020202020204" pitchFamily="34" charset="0"/>
              </a:rPr>
              <a:t>12 Weeks in total. A 2-student and a 3-student small group for those with 5 students; three 2-student groups for those with 6 students (2*3+3*2=12)</a:t>
            </a:r>
          </a:p>
          <a:p>
            <a:pPr lvl="1">
              <a:lnSpc>
                <a:spcPct val="100000"/>
              </a:lnSpc>
            </a:pPr>
            <a:r>
              <a:rPr lang="en-US" altLang="zh-CN" sz="2000" dirty="0">
                <a:latin typeface="Century Gothic" panose="020B0502020202020204" pitchFamily="34" charset="0"/>
              </a:rPr>
              <a:t>Summarize, comment on, and critique the assigned readings</a:t>
            </a:r>
          </a:p>
          <a:p>
            <a:pPr lvl="1">
              <a:lnSpc>
                <a:spcPct val="100000"/>
              </a:lnSpc>
            </a:pPr>
            <a:r>
              <a:rPr lang="en-US" altLang="zh-CN" sz="2000" dirty="0">
                <a:latin typeface="Century Gothic" panose="020B0502020202020204" pitchFamily="34" charset="0"/>
              </a:rPr>
              <a:t>Propose 1–3 question(s) worth discussing with the whole class</a:t>
            </a:r>
          </a:p>
          <a:p>
            <a:pPr>
              <a:lnSpc>
                <a:spcPct val="100000"/>
              </a:lnSpc>
            </a:pPr>
            <a:r>
              <a:rPr lang="en-US" altLang="zh-CN" sz="2400" dirty="0">
                <a:latin typeface="Century Gothic" panose="020B0502020202020204" pitchFamily="34" charset="0"/>
              </a:rPr>
              <a:t>Class discussion (in large groups)</a:t>
            </a:r>
          </a:p>
          <a:p>
            <a:pPr lvl="1">
              <a:lnSpc>
                <a:spcPct val="100000"/>
              </a:lnSpc>
            </a:pPr>
            <a:r>
              <a:rPr lang="en-US" altLang="zh-CN" sz="2000" dirty="0">
                <a:latin typeface="Century Gothic" panose="020B0502020202020204" pitchFamily="34" charset="0"/>
              </a:rPr>
              <a:t>Discuss</a:t>
            </a:r>
            <a:r>
              <a:rPr lang="zh-CN" altLang="en-US" sz="2000" dirty="0">
                <a:latin typeface="Century Gothic" panose="020B0502020202020204" pitchFamily="34" charset="0"/>
              </a:rPr>
              <a:t> </a:t>
            </a:r>
            <a:r>
              <a:rPr lang="en-US" altLang="zh-CN" sz="2000" dirty="0">
                <a:latin typeface="Century Gothic" panose="020B0502020202020204" pitchFamily="34" charset="0"/>
              </a:rPr>
              <a:t>the above questions (or any other questions you believe important and relevant to what we learn/read that week) within your group. </a:t>
            </a:r>
            <a:r>
              <a:rPr lang="en-US" altLang="zh-CN" sz="2000" b="1" dirty="0">
                <a:latin typeface="Century Gothic" panose="020B0502020202020204" pitchFamily="34" charset="0"/>
              </a:rPr>
              <a:t>(5-10 minutes)</a:t>
            </a:r>
          </a:p>
          <a:p>
            <a:pPr lvl="1">
              <a:lnSpc>
                <a:spcPct val="100000"/>
              </a:lnSpc>
            </a:pPr>
            <a:r>
              <a:rPr lang="en-US" altLang="zh-CN" sz="2000" dirty="0">
                <a:latin typeface="Century Gothic" panose="020B0502020202020204" pitchFamily="34" charset="0"/>
              </a:rPr>
              <a:t>Each group selects </a:t>
            </a:r>
            <a:r>
              <a:rPr lang="en-US" altLang="zh-CN" sz="2000" b="1" dirty="0">
                <a:latin typeface="Century Gothic" panose="020B0502020202020204" pitchFamily="34" charset="0"/>
              </a:rPr>
              <a:t>one member</a:t>
            </a:r>
            <a:r>
              <a:rPr lang="en-US" altLang="zh-CN" sz="2000" dirty="0">
                <a:latin typeface="Century Gothic" panose="020B0502020202020204" pitchFamily="34" charset="0"/>
              </a:rPr>
              <a:t> to present in turn. While a group is presenting, members of other groups may raise questions or challenge their points. </a:t>
            </a:r>
            <a:r>
              <a:rPr lang="en-US" altLang="zh-CN" sz="2000" b="1" dirty="0">
                <a:latin typeface="Century Gothic" panose="020B0502020202020204" pitchFamily="34" charset="0"/>
              </a:rPr>
              <a:t>(15-20 minutes)</a:t>
            </a:r>
          </a:p>
          <a:p>
            <a:pPr lvl="1">
              <a:lnSpc>
                <a:spcPct val="100000"/>
              </a:lnSpc>
            </a:pPr>
            <a:r>
              <a:rPr lang="en-US" altLang="zh-CN" sz="2000" dirty="0">
                <a:latin typeface="Century Gothic" panose="020B0502020202020204" pitchFamily="34" charset="0"/>
              </a:rPr>
              <a:t>Try to rotate the presenting member each session, though this is not mandatory.</a:t>
            </a:r>
            <a:endParaRPr kumimoji="1" lang="en-US" altLang="zh-CN" sz="2000" dirty="0">
              <a:latin typeface="Century Gothic" panose="020B0502020202020204" pitchFamily="34" charset="0"/>
            </a:endParaRPr>
          </a:p>
          <a:p>
            <a:pPr>
              <a:lnSpc>
                <a:spcPct val="100000"/>
              </a:lnSpc>
            </a:pPr>
            <a:r>
              <a:rPr kumimoji="1" lang="en-US" altLang="zh-CN" sz="2400" dirty="0">
                <a:latin typeface="Century Gothic" panose="020B0502020202020204" pitchFamily="34" charset="0"/>
              </a:rPr>
              <a:t>A short review given by TA </a:t>
            </a:r>
            <a:r>
              <a:rPr kumimoji="1" lang="en-US" altLang="zh-CN" sz="2400" b="1" dirty="0">
                <a:latin typeface="Century Gothic" panose="020B0502020202020204" pitchFamily="34" charset="0"/>
              </a:rPr>
              <a:t>(5-15 minutes)</a:t>
            </a:r>
          </a:p>
          <a:p>
            <a:pPr lvl="1">
              <a:lnSpc>
                <a:spcPct val="100000"/>
              </a:lnSpc>
            </a:pPr>
            <a:r>
              <a:rPr lang="en-US" altLang="zh-CN" sz="2000" dirty="0">
                <a:latin typeface="Century Gothic" panose="020B0502020202020204" pitchFamily="34" charset="0"/>
              </a:rPr>
              <a:t>In the discussion session before each exam,</a:t>
            </a:r>
            <a:r>
              <a:rPr lang="zh-CN" altLang="en-US" sz="2000" dirty="0">
                <a:latin typeface="Century Gothic" panose="020B0502020202020204" pitchFamily="34" charset="0"/>
              </a:rPr>
              <a:t> </a:t>
            </a:r>
            <a:r>
              <a:rPr lang="en-US" altLang="zh-CN" sz="2000" dirty="0">
                <a:latin typeface="Century Gothic" panose="020B0502020202020204" pitchFamily="34" charset="0"/>
              </a:rPr>
              <a:t>we will devote more time to review and a Q&amp;A session, and shorten the earlier activities accordingly.</a:t>
            </a:r>
            <a:endParaRPr kumimoji="1" lang="zh-CN" altLang="en-US" sz="2000" dirty="0">
              <a:latin typeface="Century Gothic" panose="020B0502020202020204" pitchFamily="34" charset="0"/>
            </a:endParaRPr>
          </a:p>
        </p:txBody>
      </p:sp>
    </p:spTree>
    <p:extLst>
      <p:ext uri="{BB962C8B-B14F-4D97-AF65-F5344CB8AC3E}">
        <p14:creationId xmlns:p14="http://schemas.microsoft.com/office/powerpoint/2010/main" val="3840342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QR 代码&#10;&#10;AI 生成的内容可能不正确。">
            <a:extLst>
              <a:ext uri="{FF2B5EF4-FFF2-40B4-BE49-F238E27FC236}">
                <a16:creationId xmlns:a16="http://schemas.microsoft.com/office/drawing/2014/main" id="{58F71AEE-8F81-9F0D-A42E-99C319AB7441}"/>
              </a:ext>
            </a:extLst>
          </p:cNvPr>
          <p:cNvPicPr>
            <a:picLocks noChangeAspect="1"/>
          </p:cNvPicPr>
          <p:nvPr/>
        </p:nvPicPr>
        <p:blipFill>
          <a:blip r:embed="rId3"/>
          <a:stretch>
            <a:fillRect/>
          </a:stretch>
        </p:blipFill>
        <p:spPr>
          <a:xfrm>
            <a:off x="1513858" y="346658"/>
            <a:ext cx="2658750" cy="2713010"/>
          </a:xfrm>
          <a:prstGeom prst="rect">
            <a:avLst/>
          </a:prstGeom>
        </p:spPr>
      </p:pic>
      <p:sp>
        <p:nvSpPr>
          <p:cNvPr id="6" name="文本框 5">
            <a:extLst>
              <a:ext uri="{FF2B5EF4-FFF2-40B4-BE49-F238E27FC236}">
                <a16:creationId xmlns:a16="http://schemas.microsoft.com/office/drawing/2014/main" id="{A2493E49-697F-8520-5830-10A126B5952C}"/>
              </a:ext>
            </a:extLst>
          </p:cNvPr>
          <p:cNvSpPr txBox="1"/>
          <p:nvPr/>
        </p:nvSpPr>
        <p:spPr>
          <a:xfrm>
            <a:off x="1381269" y="3059668"/>
            <a:ext cx="2791339" cy="369332"/>
          </a:xfrm>
          <a:prstGeom prst="rect">
            <a:avLst/>
          </a:prstGeom>
          <a:noFill/>
        </p:spPr>
        <p:txBody>
          <a:bodyPr wrap="square" rtlCol="0">
            <a:spAutoFit/>
          </a:bodyPr>
          <a:lstStyle/>
          <a:p>
            <a:pPr algn="ctr"/>
            <a:r>
              <a:rPr kumimoji="1" lang="en-US" altLang="zh-CN" b="1" dirty="0">
                <a:latin typeface="Constantia" panose="02030602050306030303" pitchFamily="18" charset="0"/>
              </a:rPr>
              <a:t>12:40 Park Hall</a:t>
            </a:r>
            <a:endParaRPr kumimoji="1" lang="zh-CN" altLang="en-US" b="1" dirty="0">
              <a:latin typeface="Constantia" panose="02030602050306030303" pitchFamily="18" charset="0"/>
            </a:endParaRPr>
          </a:p>
        </p:txBody>
      </p:sp>
      <p:pic>
        <p:nvPicPr>
          <p:cNvPr id="8" name="图片 7" descr="QR 代码&#10;&#10;AI 生成的内容可能不正确。">
            <a:extLst>
              <a:ext uri="{FF2B5EF4-FFF2-40B4-BE49-F238E27FC236}">
                <a16:creationId xmlns:a16="http://schemas.microsoft.com/office/drawing/2014/main" id="{74230BF5-EDC2-3E1D-10F3-FC4B09C854A0}"/>
              </a:ext>
            </a:extLst>
          </p:cNvPr>
          <p:cNvPicPr>
            <a:picLocks noChangeAspect="1"/>
          </p:cNvPicPr>
          <p:nvPr/>
        </p:nvPicPr>
        <p:blipFill>
          <a:blip r:embed="rId4"/>
          <a:stretch>
            <a:fillRect/>
          </a:stretch>
        </p:blipFill>
        <p:spPr>
          <a:xfrm>
            <a:off x="7241995" y="346658"/>
            <a:ext cx="2597129" cy="2650131"/>
          </a:xfrm>
          <a:prstGeom prst="rect">
            <a:avLst/>
          </a:prstGeom>
        </p:spPr>
      </p:pic>
      <p:sp>
        <p:nvSpPr>
          <p:cNvPr id="9" name="文本框 8">
            <a:extLst>
              <a:ext uri="{FF2B5EF4-FFF2-40B4-BE49-F238E27FC236}">
                <a16:creationId xmlns:a16="http://schemas.microsoft.com/office/drawing/2014/main" id="{47120180-7BEB-3C47-F5CA-0FBA2AEC1F62}"/>
              </a:ext>
            </a:extLst>
          </p:cNvPr>
          <p:cNvSpPr txBox="1"/>
          <p:nvPr/>
        </p:nvSpPr>
        <p:spPr>
          <a:xfrm>
            <a:off x="7144889" y="2996789"/>
            <a:ext cx="2791339" cy="369332"/>
          </a:xfrm>
          <a:prstGeom prst="rect">
            <a:avLst/>
          </a:prstGeom>
          <a:noFill/>
        </p:spPr>
        <p:txBody>
          <a:bodyPr wrap="square" rtlCol="0">
            <a:spAutoFit/>
          </a:bodyPr>
          <a:lstStyle/>
          <a:p>
            <a:pPr algn="ctr"/>
            <a:r>
              <a:rPr kumimoji="1" lang="en-US" altLang="zh-CN" b="1" dirty="0">
                <a:latin typeface="Constantia" panose="02030602050306030303" pitchFamily="18" charset="0"/>
              </a:rPr>
              <a:t>1:50 LeConte Hall</a:t>
            </a:r>
            <a:endParaRPr kumimoji="1" lang="zh-CN" altLang="en-US" b="1" dirty="0">
              <a:latin typeface="Constantia" panose="02030602050306030303" pitchFamily="18" charset="0"/>
            </a:endParaRPr>
          </a:p>
        </p:txBody>
      </p:sp>
      <p:sp>
        <p:nvSpPr>
          <p:cNvPr id="11" name="文本框 10">
            <a:extLst>
              <a:ext uri="{FF2B5EF4-FFF2-40B4-BE49-F238E27FC236}">
                <a16:creationId xmlns:a16="http://schemas.microsoft.com/office/drawing/2014/main" id="{F983636E-D9DC-6F00-04AF-A2643359F5C2}"/>
              </a:ext>
            </a:extLst>
          </p:cNvPr>
          <p:cNvSpPr txBox="1"/>
          <p:nvPr/>
        </p:nvSpPr>
        <p:spPr>
          <a:xfrm>
            <a:off x="1513858" y="3798333"/>
            <a:ext cx="8849343" cy="2800767"/>
          </a:xfrm>
          <a:prstGeom prst="rect">
            <a:avLst/>
          </a:prstGeom>
          <a:noFill/>
        </p:spPr>
        <p:txBody>
          <a:bodyPr wrap="square">
            <a:spAutoFit/>
          </a:bodyPr>
          <a:lstStyle/>
          <a:p>
            <a:pPr marL="342900" indent="-342900">
              <a:buFont typeface="Arial" panose="020B0604020202020204" pitchFamily="34" charset="0"/>
              <a:buChar char="•"/>
            </a:pPr>
            <a:r>
              <a:rPr lang="en-US" altLang="zh-CN" sz="2200" dirty="0">
                <a:latin typeface="Constantia" panose="02030602050306030303" pitchFamily="18" charset="0"/>
              </a:rPr>
              <a:t>In accordance with FERPA, participation in shared documents is voluntary. You may use an alias or request to remain anonymous in public materials. </a:t>
            </a:r>
          </a:p>
          <a:p>
            <a:endParaRPr lang="en-US" altLang="zh-CN" sz="2200" dirty="0">
              <a:latin typeface="Constantia" panose="02030602050306030303" pitchFamily="18" charset="0"/>
            </a:endParaRPr>
          </a:p>
          <a:p>
            <a:pPr marL="342900" indent="-342900">
              <a:buFont typeface="Arial" panose="020B0604020202020204" pitchFamily="34" charset="0"/>
              <a:buChar char="•"/>
            </a:pPr>
            <a:r>
              <a:rPr lang="en-US" altLang="zh-CN" sz="2200" dirty="0">
                <a:latin typeface="Constantia" panose="02030602050306030303" pitchFamily="18" charset="0"/>
              </a:rPr>
              <a:t>But </a:t>
            </a:r>
            <a:r>
              <a:rPr lang="en-US" altLang="zh-CN" sz="2200" b="1" dirty="0">
                <a:latin typeface="Constantia" panose="02030602050306030303" pitchFamily="18" charset="0"/>
              </a:rPr>
              <a:t>REMEMBER</a:t>
            </a:r>
            <a:r>
              <a:rPr lang="en-US" altLang="zh-CN" sz="2200" dirty="0">
                <a:latin typeface="Constantia" panose="02030602050306030303" pitchFamily="18" charset="0"/>
              </a:rPr>
              <a:t>: Put something (e.g. a code name, a number, …) into the e-form, or the time you prefer to give a presentation will be occupied by others. If you do not use your real name, please let me know who you are via email.</a:t>
            </a:r>
            <a:endParaRPr lang="zh-CN" altLang="en-US" sz="2200" dirty="0">
              <a:latin typeface="Constantia" panose="02030602050306030303" pitchFamily="18" charset="0"/>
            </a:endParaRPr>
          </a:p>
        </p:txBody>
      </p:sp>
      <p:sp>
        <p:nvSpPr>
          <p:cNvPr id="2" name="文本框 1">
            <a:extLst>
              <a:ext uri="{FF2B5EF4-FFF2-40B4-BE49-F238E27FC236}">
                <a16:creationId xmlns:a16="http://schemas.microsoft.com/office/drawing/2014/main" id="{2C481070-DECB-4DC9-8116-A5A8CCE3B4BE}"/>
              </a:ext>
            </a:extLst>
          </p:cNvPr>
          <p:cNvSpPr txBox="1"/>
          <p:nvPr/>
        </p:nvSpPr>
        <p:spPr>
          <a:xfrm>
            <a:off x="4408737" y="1210058"/>
            <a:ext cx="2658750" cy="923330"/>
          </a:xfrm>
          <a:prstGeom prst="rect">
            <a:avLst/>
          </a:prstGeom>
          <a:noFill/>
        </p:spPr>
        <p:txBody>
          <a:bodyPr wrap="square" rtlCol="0">
            <a:spAutoFit/>
          </a:bodyPr>
          <a:lstStyle/>
          <a:p>
            <a:r>
              <a:rPr kumimoji="1" lang="en-US" altLang="zh-CN" b="1" dirty="0">
                <a:latin typeface="Constantia" panose="02030602050306030303" pitchFamily="18" charset="0"/>
              </a:rPr>
              <a:t>Due:</a:t>
            </a:r>
          </a:p>
          <a:p>
            <a:r>
              <a:rPr kumimoji="1" lang="en-US" altLang="zh-CN" b="1" dirty="0">
                <a:solidFill>
                  <a:srgbClr val="FF0000"/>
                </a:solidFill>
                <a:latin typeface="Century Gothic" panose="020B0502020202020204" pitchFamily="34" charset="0"/>
              </a:rPr>
              <a:t>Next Friday (Aug 22th),</a:t>
            </a:r>
          </a:p>
          <a:p>
            <a:r>
              <a:rPr kumimoji="1" lang="en-US" altLang="zh-CN" b="1" dirty="0">
                <a:solidFill>
                  <a:srgbClr val="FF0000"/>
                </a:solidFill>
                <a:latin typeface="Century Gothic" panose="020B0502020202020204" pitchFamily="34" charset="0"/>
              </a:rPr>
              <a:t>23:59</a:t>
            </a:r>
            <a:endParaRPr kumimoji="1" lang="zh-CN" altLang="en-US" b="1"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3607936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F266-461F-DFC0-F19B-F4DD64CD0B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3B36D4-3E60-4CD4-ECC1-CDF306405FE9}"/>
              </a:ext>
            </a:extLst>
          </p:cNvPr>
          <p:cNvSpPr>
            <a:spLocks noGrp="1"/>
          </p:cNvSpPr>
          <p:nvPr>
            <p:ph type="title"/>
          </p:nvPr>
        </p:nvSpPr>
        <p:spPr>
          <a:xfrm>
            <a:off x="838200" y="0"/>
            <a:ext cx="10515600" cy="1325563"/>
          </a:xfrm>
        </p:spPr>
        <p:txBody>
          <a:bodyPr>
            <a:normAutofit/>
          </a:bodyPr>
          <a:lstStyle/>
          <a:p>
            <a:r>
              <a:rPr kumimoji="1" lang="en-US" altLang="zh-CN" sz="4000" b="1" dirty="0">
                <a:latin typeface="Century Gothic" panose="020B0502020202020204" pitchFamily="34" charset="0"/>
              </a:rPr>
              <a:t>Next week…</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D0DFA93-F961-8DB9-6735-5EC134B68962}"/>
              </a:ext>
            </a:extLst>
          </p:cNvPr>
          <p:cNvSpPr>
            <a:spLocks noGrp="1"/>
          </p:cNvSpPr>
          <p:nvPr>
            <p:ph idx="1"/>
          </p:nvPr>
        </p:nvSpPr>
        <p:spPr>
          <a:xfrm>
            <a:off x="838200" y="1606577"/>
            <a:ext cx="10515600" cy="4351338"/>
          </a:xfrm>
        </p:spPr>
        <p:txBody>
          <a:bodyPr/>
          <a:lstStyle/>
          <a:p>
            <a:r>
              <a:rPr kumimoji="1" lang="en-US" altLang="zh-CN" dirty="0">
                <a:latin typeface="Century Gothic" panose="020B0502020202020204" pitchFamily="34" charset="0"/>
              </a:rPr>
              <a:t>We’ll have no group discussion leaders!</a:t>
            </a:r>
          </a:p>
          <a:p>
            <a:r>
              <a:rPr kumimoji="1" lang="en-US" altLang="zh-CN" dirty="0">
                <a:latin typeface="Century Gothic" panose="020B0502020202020204" pitchFamily="34" charset="0"/>
              </a:rPr>
              <a:t>Read materials on </a:t>
            </a:r>
            <a:r>
              <a:rPr kumimoji="1" lang="en-US" altLang="zh-CN" b="1" dirty="0">
                <a:latin typeface="Century Gothic" panose="020B0502020202020204" pitchFamily="34" charset="0"/>
              </a:rPr>
              <a:t>Political Values and Democracy </a:t>
            </a:r>
            <a:r>
              <a:rPr kumimoji="1" lang="en-US" altLang="zh-CN" dirty="0">
                <a:latin typeface="Century Gothic" panose="020B0502020202020204" pitchFamily="34" charset="0"/>
              </a:rPr>
              <a:t>before class, and we will discuss in large groups</a:t>
            </a:r>
          </a:p>
          <a:p>
            <a:r>
              <a:rPr kumimoji="1" lang="en-US" altLang="zh-CN" dirty="0">
                <a:latin typeface="Century Gothic" panose="020B0502020202020204" pitchFamily="34" charset="0"/>
              </a:rPr>
              <a:t>If anyone wishes to alter your group, please find someone who agrees to switch with you, and both of you should contact me at the same time.</a:t>
            </a:r>
          </a:p>
          <a:p>
            <a:r>
              <a:rPr kumimoji="1" lang="en-US" altLang="zh-CN" dirty="0">
                <a:latin typeface="Century Gothic" panose="020B0502020202020204" pitchFamily="34" charset="0"/>
              </a:rPr>
              <a:t>ENJOY YOUR WEEKEND!</a:t>
            </a:r>
          </a:p>
          <a:p>
            <a:endParaRPr kumimoji="1" lang="zh-CN" altLang="en-US" dirty="0">
              <a:latin typeface="Century Gothic" panose="020B0502020202020204" pitchFamily="34" charset="0"/>
            </a:endParaRPr>
          </a:p>
        </p:txBody>
      </p:sp>
    </p:spTree>
    <p:extLst>
      <p:ext uri="{BB962C8B-B14F-4D97-AF65-F5344CB8AC3E}">
        <p14:creationId xmlns:p14="http://schemas.microsoft.com/office/powerpoint/2010/main" val="5074229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1568</TotalTime>
  <Words>1185</Words>
  <Application>Microsoft Macintosh PowerPoint</Application>
  <PresentationFormat>宽屏</PresentationFormat>
  <Paragraphs>115</Paragraphs>
  <Slides>10</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等线</vt:lpstr>
      <vt:lpstr>等线 Light</vt:lpstr>
      <vt:lpstr>Arial</vt:lpstr>
      <vt:lpstr>Century Gothic</vt:lpstr>
      <vt:lpstr>Constantia</vt:lpstr>
      <vt:lpstr>Office 主题​​</vt:lpstr>
      <vt:lpstr>PowerPoint 演示文稿</vt:lpstr>
      <vt:lpstr>1. Introduction &amp; Ice breakers</vt:lpstr>
      <vt:lpstr>About me</vt:lpstr>
      <vt:lpstr>Course Overview</vt:lpstr>
      <vt:lpstr>Classroom Policies &amp; Expectations</vt:lpstr>
      <vt:lpstr>Classroom Policies &amp; Expectations (cont`d)</vt:lpstr>
      <vt:lpstr>Self Introduction</vt:lpstr>
      <vt:lpstr>Structure of Future Breakout Sessions</vt:lpstr>
      <vt:lpstr>PowerPoint 演示文稿</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 Zhao</dc:creator>
  <cp:lastModifiedBy>sy Zhao</cp:lastModifiedBy>
  <cp:revision>16</cp:revision>
  <dcterms:created xsi:type="dcterms:W3CDTF">2025-08-13T18:40:43Z</dcterms:created>
  <dcterms:modified xsi:type="dcterms:W3CDTF">2025-10-14T02:31:16Z</dcterms:modified>
</cp:coreProperties>
</file>